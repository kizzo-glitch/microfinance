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4" r:id="rId4"/>
    <p:sldId id="266" r:id="rId5"/>
    <p:sldId id="268" r:id="rId6"/>
    <p:sldId id="263" r:id="rId7"/>
    <p:sldId id="270" r:id="rId8"/>
    <p:sldId id="272" r:id="rId9"/>
    <p:sldId id="271" r:id="rId10"/>
    <p:sldId id="273" r:id="rId11"/>
    <p:sldId id="274" r:id="rId12"/>
    <p:sldId id="275" r:id="rId13"/>
    <p:sldId id="276" r:id="rId14"/>
    <p:sldId id="277" r:id="rId15"/>
    <p:sldId id="278" r:id="rId16"/>
    <p:sldId id="27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96B02"/>
    <a:srgbClr val="1C1C2E"/>
    <a:srgbClr val="BFC5C1"/>
    <a:srgbClr val="2AB6ED"/>
    <a:srgbClr val="9FEA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50" d="100"/>
          <a:sy n="50" d="100"/>
        </p:scale>
        <p:origin x="36" y="4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01DD4-934A-2D08-964E-2F11E98428C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E4EDB995-8264-14E6-491B-0CE2A72BDFA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C8810D26-8E0A-9D4D-14EC-EE6230276D9B}"/>
              </a:ext>
            </a:extLst>
          </p:cNvPr>
          <p:cNvSpPr>
            <a:spLocks noGrp="1"/>
          </p:cNvSpPr>
          <p:nvPr>
            <p:ph type="dt" sz="half" idx="10"/>
          </p:nvPr>
        </p:nvSpPr>
        <p:spPr/>
        <p:txBody>
          <a:bodyPr/>
          <a:lstStyle/>
          <a:p>
            <a:fld id="{B3C09406-291E-499E-A54D-2A09A7E001D1}" type="datetimeFigureOut">
              <a:rPr lang="en-ZA" smtClean="0"/>
              <a:t>2025/04/16</a:t>
            </a:fld>
            <a:endParaRPr lang="en-ZA"/>
          </a:p>
        </p:txBody>
      </p:sp>
      <p:sp>
        <p:nvSpPr>
          <p:cNvPr id="5" name="Footer Placeholder 4">
            <a:extLst>
              <a:ext uri="{FF2B5EF4-FFF2-40B4-BE49-F238E27FC236}">
                <a16:creationId xmlns:a16="http://schemas.microsoft.com/office/drawing/2014/main" id="{3E8DEBD8-31D3-4AF3-4450-B9924F044918}"/>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AFF7D305-7060-5125-EFBE-53258557783D}"/>
              </a:ext>
            </a:extLst>
          </p:cNvPr>
          <p:cNvSpPr>
            <a:spLocks noGrp="1"/>
          </p:cNvSpPr>
          <p:nvPr>
            <p:ph type="sldNum" sz="quarter" idx="12"/>
          </p:nvPr>
        </p:nvSpPr>
        <p:spPr/>
        <p:txBody>
          <a:bodyPr/>
          <a:lstStyle/>
          <a:p>
            <a:fld id="{D95F89F8-C650-4AF7-ABFF-7E5FEF00D54B}" type="slidenum">
              <a:rPr lang="en-ZA" smtClean="0"/>
              <a:t>‹#›</a:t>
            </a:fld>
            <a:endParaRPr lang="en-ZA"/>
          </a:p>
        </p:txBody>
      </p:sp>
    </p:spTree>
    <p:extLst>
      <p:ext uri="{BB962C8B-B14F-4D97-AF65-F5344CB8AC3E}">
        <p14:creationId xmlns:p14="http://schemas.microsoft.com/office/powerpoint/2010/main" val="29590075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5A07C-EABE-D017-2441-9DCE4322561F}"/>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0661935D-08C6-FD68-762A-ECBA82C272B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63B11CA6-D9F5-18ED-416D-8EAC45042F34}"/>
              </a:ext>
            </a:extLst>
          </p:cNvPr>
          <p:cNvSpPr>
            <a:spLocks noGrp="1"/>
          </p:cNvSpPr>
          <p:nvPr>
            <p:ph type="dt" sz="half" idx="10"/>
          </p:nvPr>
        </p:nvSpPr>
        <p:spPr/>
        <p:txBody>
          <a:bodyPr/>
          <a:lstStyle/>
          <a:p>
            <a:fld id="{B3C09406-291E-499E-A54D-2A09A7E001D1}" type="datetimeFigureOut">
              <a:rPr lang="en-ZA" smtClean="0"/>
              <a:t>2025/04/16</a:t>
            </a:fld>
            <a:endParaRPr lang="en-ZA"/>
          </a:p>
        </p:txBody>
      </p:sp>
      <p:sp>
        <p:nvSpPr>
          <p:cNvPr id="5" name="Footer Placeholder 4">
            <a:extLst>
              <a:ext uri="{FF2B5EF4-FFF2-40B4-BE49-F238E27FC236}">
                <a16:creationId xmlns:a16="http://schemas.microsoft.com/office/drawing/2014/main" id="{F9ADF5D6-760F-61CB-26CF-912A534F7F84}"/>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A933CBEB-99B1-164A-2FBF-8C7649B5D27D}"/>
              </a:ext>
            </a:extLst>
          </p:cNvPr>
          <p:cNvSpPr>
            <a:spLocks noGrp="1"/>
          </p:cNvSpPr>
          <p:nvPr>
            <p:ph type="sldNum" sz="quarter" idx="12"/>
          </p:nvPr>
        </p:nvSpPr>
        <p:spPr/>
        <p:txBody>
          <a:bodyPr/>
          <a:lstStyle/>
          <a:p>
            <a:fld id="{D95F89F8-C650-4AF7-ABFF-7E5FEF00D54B}" type="slidenum">
              <a:rPr lang="en-ZA" smtClean="0"/>
              <a:t>‹#›</a:t>
            </a:fld>
            <a:endParaRPr lang="en-ZA"/>
          </a:p>
        </p:txBody>
      </p:sp>
    </p:spTree>
    <p:extLst>
      <p:ext uri="{BB962C8B-B14F-4D97-AF65-F5344CB8AC3E}">
        <p14:creationId xmlns:p14="http://schemas.microsoft.com/office/powerpoint/2010/main" val="42009487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8A475-4D55-20C3-7DD7-1CE3897B77A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6B86FE36-59D7-AE6F-A4E0-09AF3F72FD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9A5B4C2-18C4-9C18-8C3D-F2155CA14E1D}"/>
              </a:ext>
            </a:extLst>
          </p:cNvPr>
          <p:cNvSpPr>
            <a:spLocks noGrp="1"/>
          </p:cNvSpPr>
          <p:nvPr>
            <p:ph type="dt" sz="half" idx="10"/>
          </p:nvPr>
        </p:nvSpPr>
        <p:spPr/>
        <p:txBody>
          <a:bodyPr/>
          <a:lstStyle/>
          <a:p>
            <a:fld id="{B3C09406-291E-499E-A54D-2A09A7E001D1}" type="datetimeFigureOut">
              <a:rPr lang="en-ZA" smtClean="0"/>
              <a:t>2025/04/16</a:t>
            </a:fld>
            <a:endParaRPr lang="en-ZA"/>
          </a:p>
        </p:txBody>
      </p:sp>
      <p:sp>
        <p:nvSpPr>
          <p:cNvPr id="5" name="Footer Placeholder 4">
            <a:extLst>
              <a:ext uri="{FF2B5EF4-FFF2-40B4-BE49-F238E27FC236}">
                <a16:creationId xmlns:a16="http://schemas.microsoft.com/office/drawing/2014/main" id="{4140D5AB-9998-9ED3-09D5-7F567259635B}"/>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C7CD638A-86E9-2B38-1BF3-3A630E933912}"/>
              </a:ext>
            </a:extLst>
          </p:cNvPr>
          <p:cNvSpPr>
            <a:spLocks noGrp="1"/>
          </p:cNvSpPr>
          <p:nvPr>
            <p:ph type="sldNum" sz="quarter" idx="12"/>
          </p:nvPr>
        </p:nvSpPr>
        <p:spPr/>
        <p:txBody>
          <a:bodyPr/>
          <a:lstStyle/>
          <a:p>
            <a:fld id="{D95F89F8-C650-4AF7-ABFF-7E5FEF00D54B}" type="slidenum">
              <a:rPr lang="en-ZA" smtClean="0"/>
              <a:t>‹#›</a:t>
            </a:fld>
            <a:endParaRPr lang="en-ZA"/>
          </a:p>
        </p:txBody>
      </p:sp>
    </p:spTree>
    <p:extLst>
      <p:ext uri="{BB962C8B-B14F-4D97-AF65-F5344CB8AC3E}">
        <p14:creationId xmlns:p14="http://schemas.microsoft.com/office/powerpoint/2010/main" val="41965460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26F15-CA61-2314-B0B7-C0B37F308C3E}"/>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2D1F88F0-2F57-D535-1AB5-E1F6227879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4E2FEA9F-E5A7-A432-DC7F-C5EADE8BE0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BE1F1F23-18FF-F1F4-4F40-EA9B104E5E5B}"/>
              </a:ext>
            </a:extLst>
          </p:cNvPr>
          <p:cNvSpPr>
            <a:spLocks noGrp="1"/>
          </p:cNvSpPr>
          <p:nvPr>
            <p:ph type="dt" sz="half" idx="10"/>
          </p:nvPr>
        </p:nvSpPr>
        <p:spPr/>
        <p:txBody>
          <a:bodyPr/>
          <a:lstStyle/>
          <a:p>
            <a:fld id="{B3C09406-291E-499E-A54D-2A09A7E001D1}" type="datetimeFigureOut">
              <a:rPr lang="en-ZA" smtClean="0"/>
              <a:t>2025/04/16</a:t>
            </a:fld>
            <a:endParaRPr lang="en-ZA"/>
          </a:p>
        </p:txBody>
      </p:sp>
      <p:sp>
        <p:nvSpPr>
          <p:cNvPr id="6" name="Footer Placeholder 5">
            <a:extLst>
              <a:ext uri="{FF2B5EF4-FFF2-40B4-BE49-F238E27FC236}">
                <a16:creationId xmlns:a16="http://schemas.microsoft.com/office/drawing/2014/main" id="{7B99A13C-8051-774E-069C-9D9958615CA5}"/>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69E6B1C1-7F30-D012-F68B-4383CBB4CD40}"/>
              </a:ext>
            </a:extLst>
          </p:cNvPr>
          <p:cNvSpPr>
            <a:spLocks noGrp="1"/>
          </p:cNvSpPr>
          <p:nvPr>
            <p:ph type="sldNum" sz="quarter" idx="12"/>
          </p:nvPr>
        </p:nvSpPr>
        <p:spPr/>
        <p:txBody>
          <a:bodyPr/>
          <a:lstStyle/>
          <a:p>
            <a:fld id="{D95F89F8-C650-4AF7-ABFF-7E5FEF00D54B}" type="slidenum">
              <a:rPr lang="en-ZA" smtClean="0"/>
              <a:t>‹#›</a:t>
            </a:fld>
            <a:endParaRPr lang="en-ZA"/>
          </a:p>
        </p:txBody>
      </p:sp>
    </p:spTree>
    <p:extLst>
      <p:ext uri="{BB962C8B-B14F-4D97-AF65-F5344CB8AC3E}">
        <p14:creationId xmlns:p14="http://schemas.microsoft.com/office/powerpoint/2010/main" val="31387025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9025C-751F-93B8-105D-80EBA899F25C}"/>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68A05978-8720-1CB0-65A2-74D9E5216E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40FBB1-F9A9-E3F1-C9FE-DEB07FDA503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63E2B2FF-716D-5475-C5AC-420A832AFED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0340F8-3A9C-42B9-AFBC-B1AF674780C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A49CC846-E2D0-E063-5009-7C24CACCCE34}"/>
              </a:ext>
            </a:extLst>
          </p:cNvPr>
          <p:cNvSpPr>
            <a:spLocks noGrp="1"/>
          </p:cNvSpPr>
          <p:nvPr>
            <p:ph type="dt" sz="half" idx="10"/>
          </p:nvPr>
        </p:nvSpPr>
        <p:spPr/>
        <p:txBody>
          <a:bodyPr/>
          <a:lstStyle/>
          <a:p>
            <a:fld id="{B3C09406-291E-499E-A54D-2A09A7E001D1}" type="datetimeFigureOut">
              <a:rPr lang="en-ZA" smtClean="0"/>
              <a:t>2025/04/16</a:t>
            </a:fld>
            <a:endParaRPr lang="en-ZA"/>
          </a:p>
        </p:txBody>
      </p:sp>
      <p:sp>
        <p:nvSpPr>
          <p:cNvPr id="8" name="Footer Placeholder 7">
            <a:extLst>
              <a:ext uri="{FF2B5EF4-FFF2-40B4-BE49-F238E27FC236}">
                <a16:creationId xmlns:a16="http://schemas.microsoft.com/office/drawing/2014/main" id="{39DBC0D1-369A-110D-9251-F146138BDDD8}"/>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67E6C442-2232-8D3B-5D83-D921224929D3}"/>
              </a:ext>
            </a:extLst>
          </p:cNvPr>
          <p:cNvSpPr>
            <a:spLocks noGrp="1"/>
          </p:cNvSpPr>
          <p:nvPr>
            <p:ph type="sldNum" sz="quarter" idx="12"/>
          </p:nvPr>
        </p:nvSpPr>
        <p:spPr/>
        <p:txBody>
          <a:bodyPr/>
          <a:lstStyle/>
          <a:p>
            <a:fld id="{D95F89F8-C650-4AF7-ABFF-7E5FEF00D54B}" type="slidenum">
              <a:rPr lang="en-ZA" smtClean="0"/>
              <a:t>‹#›</a:t>
            </a:fld>
            <a:endParaRPr lang="en-ZA"/>
          </a:p>
        </p:txBody>
      </p:sp>
    </p:spTree>
    <p:extLst>
      <p:ext uri="{BB962C8B-B14F-4D97-AF65-F5344CB8AC3E}">
        <p14:creationId xmlns:p14="http://schemas.microsoft.com/office/powerpoint/2010/main" val="29733586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734A7-0889-97B8-B15D-EA4E588BD79B}"/>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96DB6EEA-1316-2C10-66EF-BEB193BDE770}"/>
              </a:ext>
            </a:extLst>
          </p:cNvPr>
          <p:cNvSpPr>
            <a:spLocks noGrp="1"/>
          </p:cNvSpPr>
          <p:nvPr>
            <p:ph type="dt" sz="half" idx="10"/>
          </p:nvPr>
        </p:nvSpPr>
        <p:spPr/>
        <p:txBody>
          <a:bodyPr/>
          <a:lstStyle/>
          <a:p>
            <a:fld id="{B3C09406-291E-499E-A54D-2A09A7E001D1}" type="datetimeFigureOut">
              <a:rPr lang="en-ZA" smtClean="0"/>
              <a:t>2025/04/16</a:t>
            </a:fld>
            <a:endParaRPr lang="en-ZA"/>
          </a:p>
        </p:txBody>
      </p:sp>
      <p:sp>
        <p:nvSpPr>
          <p:cNvPr id="4" name="Footer Placeholder 3">
            <a:extLst>
              <a:ext uri="{FF2B5EF4-FFF2-40B4-BE49-F238E27FC236}">
                <a16:creationId xmlns:a16="http://schemas.microsoft.com/office/drawing/2014/main" id="{298F9A8A-1418-D698-CC4A-085792C659A4}"/>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CB0EB316-3558-F578-7EB5-47C7F116B209}"/>
              </a:ext>
            </a:extLst>
          </p:cNvPr>
          <p:cNvSpPr>
            <a:spLocks noGrp="1"/>
          </p:cNvSpPr>
          <p:nvPr>
            <p:ph type="sldNum" sz="quarter" idx="12"/>
          </p:nvPr>
        </p:nvSpPr>
        <p:spPr/>
        <p:txBody>
          <a:bodyPr/>
          <a:lstStyle/>
          <a:p>
            <a:fld id="{D95F89F8-C650-4AF7-ABFF-7E5FEF00D54B}" type="slidenum">
              <a:rPr lang="en-ZA" smtClean="0"/>
              <a:t>‹#›</a:t>
            </a:fld>
            <a:endParaRPr lang="en-ZA"/>
          </a:p>
        </p:txBody>
      </p:sp>
    </p:spTree>
    <p:extLst>
      <p:ext uri="{BB962C8B-B14F-4D97-AF65-F5344CB8AC3E}">
        <p14:creationId xmlns:p14="http://schemas.microsoft.com/office/powerpoint/2010/main" val="5888098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95AD86-A2AB-7AF4-2E1C-D3588863F155}"/>
              </a:ext>
            </a:extLst>
          </p:cNvPr>
          <p:cNvSpPr>
            <a:spLocks noGrp="1"/>
          </p:cNvSpPr>
          <p:nvPr>
            <p:ph type="dt" sz="half" idx="10"/>
          </p:nvPr>
        </p:nvSpPr>
        <p:spPr/>
        <p:txBody>
          <a:bodyPr/>
          <a:lstStyle/>
          <a:p>
            <a:fld id="{B3C09406-291E-499E-A54D-2A09A7E001D1}" type="datetimeFigureOut">
              <a:rPr lang="en-ZA" smtClean="0"/>
              <a:t>2025/04/16</a:t>
            </a:fld>
            <a:endParaRPr lang="en-ZA"/>
          </a:p>
        </p:txBody>
      </p:sp>
      <p:sp>
        <p:nvSpPr>
          <p:cNvPr id="3" name="Footer Placeholder 2">
            <a:extLst>
              <a:ext uri="{FF2B5EF4-FFF2-40B4-BE49-F238E27FC236}">
                <a16:creationId xmlns:a16="http://schemas.microsoft.com/office/drawing/2014/main" id="{1560B0C3-A7D1-B7C8-74D4-DCCB277557B3}"/>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F43722E4-3373-F44E-8313-267ADC0D6172}"/>
              </a:ext>
            </a:extLst>
          </p:cNvPr>
          <p:cNvSpPr>
            <a:spLocks noGrp="1"/>
          </p:cNvSpPr>
          <p:nvPr>
            <p:ph type="sldNum" sz="quarter" idx="12"/>
          </p:nvPr>
        </p:nvSpPr>
        <p:spPr/>
        <p:txBody>
          <a:bodyPr/>
          <a:lstStyle/>
          <a:p>
            <a:fld id="{D95F89F8-C650-4AF7-ABFF-7E5FEF00D54B}" type="slidenum">
              <a:rPr lang="en-ZA" smtClean="0"/>
              <a:t>‹#›</a:t>
            </a:fld>
            <a:endParaRPr lang="en-ZA"/>
          </a:p>
        </p:txBody>
      </p:sp>
    </p:spTree>
    <p:extLst>
      <p:ext uri="{BB962C8B-B14F-4D97-AF65-F5344CB8AC3E}">
        <p14:creationId xmlns:p14="http://schemas.microsoft.com/office/powerpoint/2010/main" val="42427344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B471C-C834-92F6-C993-17F995146B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CED80672-D659-F341-9FA1-577358D847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59D2B310-3DB9-CECF-CEC6-419D287719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22AFC8-D7AF-307A-5C9D-51A190D04646}"/>
              </a:ext>
            </a:extLst>
          </p:cNvPr>
          <p:cNvSpPr>
            <a:spLocks noGrp="1"/>
          </p:cNvSpPr>
          <p:nvPr>
            <p:ph type="dt" sz="half" idx="10"/>
          </p:nvPr>
        </p:nvSpPr>
        <p:spPr/>
        <p:txBody>
          <a:bodyPr/>
          <a:lstStyle/>
          <a:p>
            <a:fld id="{B3C09406-291E-499E-A54D-2A09A7E001D1}" type="datetimeFigureOut">
              <a:rPr lang="en-ZA" smtClean="0"/>
              <a:t>2025/04/16</a:t>
            </a:fld>
            <a:endParaRPr lang="en-ZA"/>
          </a:p>
        </p:txBody>
      </p:sp>
      <p:sp>
        <p:nvSpPr>
          <p:cNvPr id="6" name="Footer Placeholder 5">
            <a:extLst>
              <a:ext uri="{FF2B5EF4-FFF2-40B4-BE49-F238E27FC236}">
                <a16:creationId xmlns:a16="http://schemas.microsoft.com/office/drawing/2014/main" id="{934155CB-5938-884A-4087-01D655AFEC6A}"/>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93C18305-B84A-9762-76CA-2D15C58ECCC2}"/>
              </a:ext>
            </a:extLst>
          </p:cNvPr>
          <p:cNvSpPr>
            <a:spLocks noGrp="1"/>
          </p:cNvSpPr>
          <p:nvPr>
            <p:ph type="sldNum" sz="quarter" idx="12"/>
          </p:nvPr>
        </p:nvSpPr>
        <p:spPr/>
        <p:txBody>
          <a:bodyPr/>
          <a:lstStyle/>
          <a:p>
            <a:fld id="{D95F89F8-C650-4AF7-ABFF-7E5FEF00D54B}" type="slidenum">
              <a:rPr lang="en-ZA" smtClean="0"/>
              <a:t>‹#›</a:t>
            </a:fld>
            <a:endParaRPr lang="en-ZA"/>
          </a:p>
        </p:txBody>
      </p:sp>
    </p:spTree>
    <p:extLst>
      <p:ext uri="{BB962C8B-B14F-4D97-AF65-F5344CB8AC3E}">
        <p14:creationId xmlns:p14="http://schemas.microsoft.com/office/powerpoint/2010/main" val="40202538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C0C2E-1969-B66C-8265-7735D783C4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28ADD8A9-0683-3995-D8D9-A036BC48347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3B384B65-4EF7-B675-AEA4-381B58532B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2420CC-6BD3-F619-6DDB-8D06DA922862}"/>
              </a:ext>
            </a:extLst>
          </p:cNvPr>
          <p:cNvSpPr>
            <a:spLocks noGrp="1"/>
          </p:cNvSpPr>
          <p:nvPr>
            <p:ph type="dt" sz="half" idx="10"/>
          </p:nvPr>
        </p:nvSpPr>
        <p:spPr/>
        <p:txBody>
          <a:bodyPr/>
          <a:lstStyle/>
          <a:p>
            <a:fld id="{B3C09406-291E-499E-A54D-2A09A7E001D1}" type="datetimeFigureOut">
              <a:rPr lang="en-ZA" smtClean="0"/>
              <a:t>2025/04/16</a:t>
            </a:fld>
            <a:endParaRPr lang="en-ZA"/>
          </a:p>
        </p:txBody>
      </p:sp>
      <p:sp>
        <p:nvSpPr>
          <p:cNvPr id="6" name="Footer Placeholder 5">
            <a:extLst>
              <a:ext uri="{FF2B5EF4-FFF2-40B4-BE49-F238E27FC236}">
                <a16:creationId xmlns:a16="http://schemas.microsoft.com/office/drawing/2014/main" id="{5629A8D2-D242-7A24-693E-84DDA0180229}"/>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D09AC217-9343-BDC3-BC0E-43F09771E3E9}"/>
              </a:ext>
            </a:extLst>
          </p:cNvPr>
          <p:cNvSpPr>
            <a:spLocks noGrp="1"/>
          </p:cNvSpPr>
          <p:nvPr>
            <p:ph type="sldNum" sz="quarter" idx="12"/>
          </p:nvPr>
        </p:nvSpPr>
        <p:spPr/>
        <p:txBody>
          <a:bodyPr/>
          <a:lstStyle/>
          <a:p>
            <a:fld id="{D95F89F8-C650-4AF7-ABFF-7E5FEF00D54B}" type="slidenum">
              <a:rPr lang="en-ZA" smtClean="0"/>
              <a:t>‹#›</a:t>
            </a:fld>
            <a:endParaRPr lang="en-ZA"/>
          </a:p>
        </p:txBody>
      </p:sp>
    </p:spTree>
    <p:extLst>
      <p:ext uri="{BB962C8B-B14F-4D97-AF65-F5344CB8AC3E}">
        <p14:creationId xmlns:p14="http://schemas.microsoft.com/office/powerpoint/2010/main" val="16009512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B81CD-3BCD-EDB2-41A4-778E698541A9}"/>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1C68FCB6-4CBF-9A8E-1871-2FBDD505C0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5A6F6E58-F6BD-1723-BFD5-064E89A00B5D}"/>
              </a:ext>
            </a:extLst>
          </p:cNvPr>
          <p:cNvSpPr>
            <a:spLocks noGrp="1"/>
          </p:cNvSpPr>
          <p:nvPr>
            <p:ph type="dt" sz="half" idx="10"/>
          </p:nvPr>
        </p:nvSpPr>
        <p:spPr/>
        <p:txBody>
          <a:bodyPr/>
          <a:lstStyle/>
          <a:p>
            <a:fld id="{B3C09406-291E-499E-A54D-2A09A7E001D1}" type="datetimeFigureOut">
              <a:rPr lang="en-ZA" smtClean="0"/>
              <a:t>2025/04/16</a:t>
            </a:fld>
            <a:endParaRPr lang="en-ZA"/>
          </a:p>
        </p:txBody>
      </p:sp>
      <p:sp>
        <p:nvSpPr>
          <p:cNvPr id="5" name="Footer Placeholder 4">
            <a:extLst>
              <a:ext uri="{FF2B5EF4-FFF2-40B4-BE49-F238E27FC236}">
                <a16:creationId xmlns:a16="http://schemas.microsoft.com/office/drawing/2014/main" id="{F63854C8-30FD-A5F2-15E4-CB34F3C0C332}"/>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5E83E19B-4F08-55CD-492E-71E256B43E63}"/>
              </a:ext>
            </a:extLst>
          </p:cNvPr>
          <p:cNvSpPr>
            <a:spLocks noGrp="1"/>
          </p:cNvSpPr>
          <p:nvPr>
            <p:ph type="sldNum" sz="quarter" idx="12"/>
          </p:nvPr>
        </p:nvSpPr>
        <p:spPr/>
        <p:txBody>
          <a:bodyPr/>
          <a:lstStyle/>
          <a:p>
            <a:fld id="{D95F89F8-C650-4AF7-ABFF-7E5FEF00D54B}" type="slidenum">
              <a:rPr lang="en-ZA" smtClean="0"/>
              <a:t>‹#›</a:t>
            </a:fld>
            <a:endParaRPr lang="en-ZA"/>
          </a:p>
        </p:txBody>
      </p:sp>
    </p:spTree>
    <p:extLst>
      <p:ext uri="{BB962C8B-B14F-4D97-AF65-F5344CB8AC3E}">
        <p14:creationId xmlns:p14="http://schemas.microsoft.com/office/powerpoint/2010/main" val="20384875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6255888-C69E-C56D-021F-A93BC49B47E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AA4AEF56-3253-3501-F730-25280E6E31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91B4986E-6058-D581-5996-E8C823AA74E4}"/>
              </a:ext>
            </a:extLst>
          </p:cNvPr>
          <p:cNvSpPr>
            <a:spLocks noGrp="1"/>
          </p:cNvSpPr>
          <p:nvPr>
            <p:ph type="dt" sz="half" idx="10"/>
          </p:nvPr>
        </p:nvSpPr>
        <p:spPr/>
        <p:txBody>
          <a:bodyPr/>
          <a:lstStyle/>
          <a:p>
            <a:fld id="{B3C09406-291E-499E-A54D-2A09A7E001D1}" type="datetimeFigureOut">
              <a:rPr lang="en-ZA" smtClean="0"/>
              <a:t>2025/04/16</a:t>
            </a:fld>
            <a:endParaRPr lang="en-ZA"/>
          </a:p>
        </p:txBody>
      </p:sp>
      <p:sp>
        <p:nvSpPr>
          <p:cNvPr id="5" name="Footer Placeholder 4">
            <a:extLst>
              <a:ext uri="{FF2B5EF4-FFF2-40B4-BE49-F238E27FC236}">
                <a16:creationId xmlns:a16="http://schemas.microsoft.com/office/drawing/2014/main" id="{ABE792EA-3EF0-CFD8-1519-B2BBC914B673}"/>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FD1351EC-9A59-ED3E-A992-1732B2F4C042}"/>
              </a:ext>
            </a:extLst>
          </p:cNvPr>
          <p:cNvSpPr>
            <a:spLocks noGrp="1"/>
          </p:cNvSpPr>
          <p:nvPr>
            <p:ph type="sldNum" sz="quarter" idx="12"/>
          </p:nvPr>
        </p:nvSpPr>
        <p:spPr/>
        <p:txBody>
          <a:bodyPr/>
          <a:lstStyle/>
          <a:p>
            <a:fld id="{D95F89F8-C650-4AF7-ABFF-7E5FEF00D54B}" type="slidenum">
              <a:rPr lang="en-ZA" smtClean="0"/>
              <a:t>‹#›</a:t>
            </a:fld>
            <a:endParaRPr lang="en-ZA"/>
          </a:p>
        </p:txBody>
      </p:sp>
    </p:spTree>
    <p:extLst>
      <p:ext uri="{BB962C8B-B14F-4D97-AF65-F5344CB8AC3E}">
        <p14:creationId xmlns:p14="http://schemas.microsoft.com/office/powerpoint/2010/main" val="22797922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77C9728-B2C5-ACCA-F45D-1CCA860FCF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E2FB6BFC-DFBA-7A57-3B44-3E5E8DDAC2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401C9499-760F-53A2-B150-3FE8A24687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C09406-291E-499E-A54D-2A09A7E001D1}" type="datetimeFigureOut">
              <a:rPr lang="en-ZA" smtClean="0"/>
              <a:t>2025/04/16</a:t>
            </a:fld>
            <a:endParaRPr lang="en-ZA"/>
          </a:p>
        </p:txBody>
      </p:sp>
      <p:sp>
        <p:nvSpPr>
          <p:cNvPr id="5" name="Footer Placeholder 4">
            <a:extLst>
              <a:ext uri="{FF2B5EF4-FFF2-40B4-BE49-F238E27FC236}">
                <a16:creationId xmlns:a16="http://schemas.microsoft.com/office/drawing/2014/main" id="{465C6D31-DD06-39F1-9AF9-5747480BDE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ZA"/>
          </a:p>
        </p:txBody>
      </p:sp>
      <p:sp>
        <p:nvSpPr>
          <p:cNvPr id="6" name="Slide Number Placeholder 5">
            <a:extLst>
              <a:ext uri="{FF2B5EF4-FFF2-40B4-BE49-F238E27FC236}">
                <a16:creationId xmlns:a16="http://schemas.microsoft.com/office/drawing/2014/main" id="{938C0FC4-6369-6110-96D8-2CB421D4259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5F89F8-C650-4AF7-ABFF-7E5FEF00D54B}" type="slidenum">
              <a:rPr lang="en-ZA" smtClean="0"/>
              <a:t>‹#›</a:t>
            </a:fld>
            <a:endParaRPr lang="en-ZA"/>
          </a:p>
        </p:txBody>
      </p:sp>
    </p:spTree>
    <p:extLst>
      <p:ext uri="{BB962C8B-B14F-4D97-AF65-F5344CB8AC3E}">
        <p14:creationId xmlns:p14="http://schemas.microsoft.com/office/powerpoint/2010/main" val="33835241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fineartamerica.com/featured/normal-brain-vs-alzheimers-disease-anatomical-travelogue.html" TargetMode="External"/><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fineartamerica.com/featured/normal-brain-vs-alzheimers-disease-anatomical-travelogue.html" TargetMode="External"/><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fineartamerica.com/featured/normal-brain-vs-alzheimers-disease-anatomical-travelogue.html" TargetMode="External"/><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fineartamerica.com/featured/normal-brain-vs-alzheimers-disease-anatomical-travelogue.html" TargetMode="External"/><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brand-world-academy.blogspot.com/2024/10/schizophrenia-symptoms-causes-and.html" TargetMode="External"/><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brand-world-academy.blogspot.com/2024/10/schizophrenia-symptoms-causes-and.html" TargetMode="External"/><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brand-world-academy.blogspot.com/2024/10/schizophrenia-symptoms-causes-and.html" TargetMode="External"/><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brand-world-academy.blogspot.com/2024/10/schizophrenia-symptoms-causes-and.html" TargetMode="External"/><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brand-world-academy.blogspot.com/2024/10/schizophrenia-symptoms-causes-and.html" TargetMode="External"/><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pubchem.ncbi.nlm.nih.gov/compound/Memantine" TargetMode="External"/><Relationship Id="rId2" Type="http://schemas.openxmlformats.org/officeDocument/2006/relationships/hyperlink" Target="https://www.alz.org/alzheimers-dementia/diagnosis#:~:text=To%20diagnose%20Alzheimer's%2C%20physicians%20may,diagnostic%20tests%20and%20brain%20imaging"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3" name="Rectangle 1032">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028" name="Picture 4" descr="Medicine Tablets Images – Browse 2,148,740 Stock Photos, Vectors, and Video  | Adobe Stock">
            <a:extLst>
              <a:ext uri="{FF2B5EF4-FFF2-40B4-BE49-F238E27FC236}">
                <a16:creationId xmlns:a16="http://schemas.microsoft.com/office/drawing/2014/main" id="{FB1A8983-AB45-CF3F-C6CD-8DF301945D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9326" b="6420"/>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47324B5-B302-109E-6993-CE701EAD2343}"/>
              </a:ext>
            </a:extLst>
          </p:cNvPr>
          <p:cNvSpPr txBox="1"/>
          <p:nvPr/>
        </p:nvSpPr>
        <p:spPr>
          <a:xfrm>
            <a:off x="1212733" y="1782395"/>
            <a:ext cx="6743912" cy="3539430"/>
          </a:xfrm>
          <a:prstGeom prst="rect">
            <a:avLst/>
          </a:prstGeom>
          <a:noFill/>
        </p:spPr>
        <p:txBody>
          <a:bodyPr wrap="square" rtlCol="0">
            <a:spAutoFit/>
          </a:bodyPr>
          <a:lstStyle/>
          <a:p>
            <a:pPr algn="ctr"/>
            <a:r>
              <a:rPr lang="en-ZA" sz="2800" dirty="0">
                <a:solidFill>
                  <a:srgbClr val="2AB6ED"/>
                </a:solidFill>
                <a:latin typeface="Times New Roman" panose="02020603050405020304" pitchFamily="18" charset="0"/>
                <a:cs typeface="Times New Roman" panose="02020603050405020304" pitchFamily="18" charset="0"/>
              </a:rPr>
              <a:t>DRUGS USED IN THE TREATMENT OF </a:t>
            </a:r>
            <a:r>
              <a:rPr lang="en-ZA" sz="4500" dirty="0">
                <a:solidFill>
                  <a:srgbClr val="F96B02"/>
                </a:solidFill>
                <a:latin typeface="Times New Roman" panose="02020603050405020304" pitchFamily="18" charset="0"/>
                <a:cs typeface="Times New Roman" panose="02020603050405020304" pitchFamily="18" charset="0"/>
              </a:rPr>
              <a:t>NEURODEGENERATIVE DISORDERS AND PSYCHIATRIC DISORDERS</a:t>
            </a:r>
          </a:p>
          <a:p>
            <a:pPr algn="ctr"/>
            <a:r>
              <a:rPr lang="en-ZA" sz="1600" b="1" dirty="0">
                <a:solidFill>
                  <a:srgbClr val="1C1C2E"/>
                </a:solidFill>
                <a:latin typeface="Times New Roman" panose="02020603050405020304" pitchFamily="18" charset="0"/>
                <a:cs typeface="Times New Roman" panose="02020603050405020304" pitchFamily="18" charset="0"/>
              </a:rPr>
              <a:t>BY:NN LEDWABA(222918430) </a:t>
            </a:r>
          </a:p>
        </p:txBody>
      </p:sp>
    </p:spTree>
    <p:extLst>
      <p:ext uri="{BB962C8B-B14F-4D97-AF65-F5344CB8AC3E}">
        <p14:creationId xmlns:p14="http://schemas.microsoft.com/office/powerpoint/2010/main" val="37962419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2" name="Rectangle 14">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DD316F7-30F5-C255-E81B-C64872F00178}"/>
              </a:ext>
            </a:extLst>
          </p:cNvPr>
          <p:cNvPicPr>
            <a:picLocks noChangeAspect="1"/>
          </p:cNvPicPr>
          <p:nvPr/>
        </p:nvPicPr>
        <p:blipFill>
          <a:blip r:embed="rId2">
            <a:alphaModFix amt="50000"/>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p:blipFill>
        <p:spPr>
          <a:xfrm>
            <a:off x="20" y="1282"/>
            <a:ext cx="12191980" cy="6856718"/>
          </a:xfrm>
          <a:prstGeom prst="rect">
            <a:avLst/>
          </a:prstGeom>
        </p:spPr>
      </p:pic>
      <p:sp>
        <p:nvSpPr>
          <p:cNvPr id="6" name="TextBox 5">
            <a:extLst>
              <a:ext uri="{FF2B5EF4-FFF2-40B4-BE49-F238E27FC236}">
                <a16:creationId xmlns:a16="http://schemas.microsoft.com/office/drawing/2014/main" id="{E8E0E165-A7E1-E549-A4DD-3B633F859B1D}"/>
              </a:ext>
            </a:extLst>
          </p:cNvPr>
          <p:cNvSpPr txBox="1"/>
          <p:nvPr/>
        </p:nvSpPr>
        <p:spPr>
          <a:xfrm>
            <a:off x="1524000" y="1122362"/>
            <a:ext cx="9144000" cy="2900518"/>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6000" b="1" dirty="0">
                <a:solidFill>
                  <a:srgbClr val="FFFFFF"/>
                </a:solidFill>
                <a:latin typeface="Times New Roman" panose="02020603050405020304" pitchFamily="18" charset="0"/>
                <a:ea typeface="+mj-ea"/>
                <a:cs typeface="Times New Roman" panose="02020603050405020304" pitchFamily="18" charset="0"/>
              </a:rPr>
              <a:t>ALZHEIMER’S DISEASE</a:t>
            </a:r>
          </a:p>
        </p:txBody>
      </p:sp>
    </p:spTree>
    <p:extLst>
      <p:ext uri="{BB962C8B-B14F-4D97-AF65-F5344CB8AC3E}">
        <p14:creationId xmlns:p14="http://schemas.microsoft.com/office/powerpoint/2010/main" val="3198547324"/>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1A9F7B4E-B03D-4F64-BE33-00D074458D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DD316F7-30F5-C255-E81B-C64872F00178}"/>
              </a:ext>
            </a:extLst>
          </p:cNvPr>
          <p:cNvPicPr>
            <a:picLocks noChangeAspect="1"/>
          </p:cNvPicPr>
          <p:nvPr/>
        </p:nvPicPr>
        <p:blipFill rotWithShape="1">
          <a:blip r:embed="rId2">
            <a:alphaModFix amt="40000"/>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16821"/>
          <a:stretch/>
        </p:blipFill>
        <p:spPr>
          <a:xfrm>
            <a:off x="21" y="576775"/>
            <a:ext cx="12191979" cy="5704449"/>
          </a:xfrm>
          <a:prstGeom prst="rect">
            <a:avLst/>
          </a:prstGeom>
        </p:spPr>
      </p:pic>
      <p:sp>
        <p:nvSpPr>
          <p:cNvPr id="6" name="TextBox 5">
            <a:extLst>
              <a:ext uri="{FF2B5EF4-FFF2-40B4-BE49-F238E27FC236}">
                <a16:creationId xmlns:a16="http://schemas.microsoft.com/office/drawing/2014/main" id="{E8E0E165-A7E1-E549-A4DD-3B633F859B1D}"/>
              </a:ext>
            </a:extLst>
          </p:cNvPr>
          <p:cNvSpPr txBox="1"/>
          <p:nvPr/>
        </p:nvSpPr>
        <p:spPr>
          <a:xfrm>
            <a:off x="838200" y="365125"/>
            <a:ext cx="10515600" cy="93865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5400" b="1" dirty="0">
                <a:solidFill>
                  <a:schemeClr val="bg1"/>
                </a:solidFill>
                <a:latin typeface="Times New Roman" panose="02020603050405020304" pitchFamily="18" charset="0"/>
                <a:ea typeface="+mj-ea"/>
                <a:cs typeface="Times New Roman" panose="02020603050405020304" pitchFamily="18" charset="0"/>
              </a:rPr>
              <a:t>AETIOLOGY</a:t>
            </a:r>
            <a:r>
              <a:rPr lang="en-US" sz="5400" b="1" dirty="0">
                <a:solidFill>
                  <a:schemeClr val="bg1"/>
                </a:solidFill>
                <a:latin typeface="+mj-lt"/>
                <a:ea typeface="+mj-ea"/>
                <a:cs typeface="+mj-cs"/>
              </a:rPr>
              <a:t> </a:t>
            </a:r>
          </a:p>
        </p:txBody>
      </p:sp>
      <p:sp>
        <p:nvSpPr>
          <p:cNvPr id="24" name="sketchy line">
            <a:extLst>
              <a:ext uri="{FF2B5EF4-FFF2-40B4-BE49-F238E27FC236}">
                <a16:creationId xmlns:a16="http://schemas.microsoft.com/office/drawing/2014/main" id="{7E2BE7F7-CA89-4002-ACCE-A478AEA24F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4399" y="1681544"/>
            <a:ext cx="9692640" cy="18288"/>
          </a:xfrm>
          <a:custGeom>
            <a:avLst/>
            <a:gdLst>
              <a:gd name="connsiteX0" fmla="*/ 0 w 9692640"/>
              <a:gd name="connsiteY0" fmla="*/ 0 h 18288"/>
              <a:gd name="connsiteX1" fmla="*/ 401552 w 9692640"/>
              <a:gd name="connsiteY1" fmla="*/ 0 h 18288"/>
              <a:gd name="connsiteX2" fmla="*/ 996957 w 9692640"/>
              <a:gd name="connsiteY2" fmla="*/ 0 h 18288"/>
              <a:gd name="connsiteX3" fmla="*/ 1398509 w 9692640"/>
              <a:gd name="connsiteY3" fmla="*/ 0 h 18288"/>
              <a:gd name="connsiteX4" fmla="*/ 2090841 w 9692640"/>
              <a:gd name="connsiteY4" fmla="*/ 0 h 18288"/>
              <a:gd name="connsiteX5" fmla="*/ 2686246 w 9692640"/>
              <a:gd name="connsiteY5" fmla="*/ 0 h 18288"/>
              <a:gd name="connsiteX6" fmla="*/ 3475504 w 9692640"/>
              <a:gd name="connsiteY6" fmla="*/ 0 h 18288"/>
              <a:gd name="connsiteX7" fmla="*/ 4361688 w 9692640"/>
              <a:gd name="connsiteY7" fmla="*/ 0 h 18288"/>
              <a:gd name="connsiteX8" fmla="*/ 5054019 w 9692640"/>
              <a:gd name="connsiteY8" fmla="*/ 0 h 18288"/>
              <a:gd name="connsiteX9" fmla="*/ 5940204 w 9692640"/>
              <a:gd name="connsiteY9" fmla="*/ 0 h 18288"/>
              <a:gd name="connsiteX10" fmla="*/ 6632535 w 9692640"/>
              <a:gd name="connsiteY10" fmla="*/ 0 h 18288"/>
              <a:gd name="connsiteX11" fmla="*/ 7034087 w 9692640"/>
              <a:gd name="connsiteY11" fmla="*/ 0 h 18288"/>
              <a:gd name="connsiteX12" fmla="*/ 7532566 w 9692640"/>
              <a:gd name="connsiteY12" fmla="*/ 0 h 18288"/>
              <a:gd name="connsiteX13" fmla="*/ 8418750 w 9692640"/>
              <a:gd name="connsiteY13" fmla="*/ 0 h 18288"/>
              <a:gd name="connsiteX14" fmla="*/ 9692640 w 9692640"/>
              <a:gd name="connsiteY14" fmla="*/ 0 h 18288"/>
              <a:gd name="connsiteX15" fmla="*/ 9692640 w 9692640"/>
              <a:gd name="connsiteY15" fmla="*/ 18288 h 18288"/>
              <a:gd name="connsiteX16" fmla="*/ 9000309 w 9692640"/>
              <a:gd name="connsiteY16" fmla="*/ 18288 h 18288"/>
              <a:gd name="connsiteX17" fmla="*/ 8307977 w 9692640"/>
              <a:gd name="connsiteY17" fmla="*/ 18288 h 18288"/>
              <a:gd name="connsiteX18" fmla="*/ 7712572 w 9692640"/>
              <a:gd name="connsiteY18" fmla="*/ 18288 h 18288"/>
              <a:gd name="connsiteX19" fmla="*/ 7214093 w 9692640"/>
              <a:gd name="connsiteY19" fmla="*/ 18288 h 18288"/>
              <a:gd name="connsiteX20" fmla="*/ 6327909 w 9692640"/>
              <a:gd name="connsiteY20" fmla="*/ 18288 h 18288"/>
              <a:gd name="connsiteX21" fmla="*/ 5635578 w 9692640"/>
              <a:gd name="connsiteY21" fmla="*/ 18288 h 18288"/>
              <a:gd name="connsiteX22" fmla="*/ 4846320 w 9692640"/>
              <a:gd name="connsiteY22" fmla="*/ 18288 h 18288"/>
              <a:gd name="connsiteX23" fmla="*/ 4444768 w 9692640"/>
              <a:gd name="connsiteY23" fmla="*/ 18288 h 18288"/>
              <a:gd name="connsiteX24" fmla="*/ 3946289 w 9692640"/>
              <a:gd name="connsiteY24" fmla="*/ 18288 h 18288"/>
              <a:gd name="connsiteX25" fmla="*/ 3253958 w 9692640"/>
              <a:gd name="connsiteY25" fmla="*/ 18288 h 18288"/>
              <a:gd name="connsiteX26" fmla="*/ 2464700 w 9692640"/>
              <a:gd name="connsiteY26" fmla="*/ 18288 h 18288"/>
              <a:gd name="connsiteX27" fmla="*/ 2063148 w 9692640"/>
              <a:gd name="connsiteY27" fmla="*/ 18288 h 18288"/>
              <a:gd name="connsiteX28" fmla="*/ 1661595 w 9692640"/>
              <a:gd name="connsiteY28" fmla="*/ 18288 h 18288"/>
              <a:gd name="connsiteX29" fmla="*/ 969264 w 9692640"/>
              <a:gd name="connsiteY29" fmla="*/ 18288 h 18288"/>
              <a:gd name="connsiteX30" fmla="*/ 0 w 9692640"/>
              <a:gd name="connsiteY30" fmla="*/ 18288 h 18288"/>
              <a:gd name="connsiteX31" fmla="*/ 0 w 9692640"/>
              <a:gd name="connsiteY3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692640" h="18288" fill="none" extrusionOk="0">
                <a:moveTo>
                  <a:pt x="0" y="0"/>
                </a:moveTo>
                <a:cubicBezTo>
                  <a:pt x="142992" y="4732"/>
                  <a:pt x="265909" y="-3365"/>
                  <a:pt x="401552" y="0"/>
                </a:cubicBezTo>
                <a:cubicBezTo>
                  <a:pt x="537195" y="3365"/>
                  <a:pt x="738153" y="6482"/>
                  <a:pt x="996957" y="0"/>
                </a:cubicBezTo>
                <a:cubicBezTo>
                  <a:pt x="1255762" y="-6482"/>
                  <a:pt x="1280511" y="12509"/>
                  <a:pt x="1398509" y="0"/>
                </a:cubicBezTo>
                <a:cubicBezTo>
                  <a:pt x="1516507" y="-12509"/>
                  <a:pt x="1782573" y="-31523"/>
                  <a:pt x="2090841" y="0"/>
                </a:cubicBezTo>
                <a:cubicBezTo>
                  <a:pt x="2399109" y="31523"/>
                  <a:pt x="2488380" y="26286"/>
                  <a:pt x="2686246" y="0"/>
                </a:cubicBezTo>
                <a:cubicBezTo>
                  <a:pt x="2884112" y="-26286"/>
                  <a:pt x="3186024" y="-14734"/>
                  <a:pt x="3475504" y="0"/>
                </a:cubicBezTo>
                <a:cubicBezTo>
                  <a:pt x="3764984" y="14734"/>
                  <a:pt x="4053017" y="43292"/>
                  <a:pt x="4361688" y="0"/>
                </a:cubicBezTo>
                <a:cubicBezTo>
                  <a:pt x="4670359" y="-43292"/>
                  <a:pt x="4736164" y="-729"/>
                  <a:pt x="5054019" y="0"/>
                </a:cubicBezTo>
                <a:cubicBezTo>
                  <a:pt x="5371874" y="729"/>
                  <a:pt x="5543528" y="-22963"/>
                  <a:pt x="5940204" y="0"/>
                </a:cubicBezTo>
                <a:cubicBezTo>
                  <a:pt x="6336881" y="22963"/>
                  <a:pt x="6423838" y="6469"/>
                  <a:pt x="6632535" y="0"/>
                </a:cubicBezTo>
                <a:cubicBezTo>
                  <a:pt x="6841232" y="-6469"/>
                  <a:pt x="6852819" y="17036"/>
                  <a:pt x="7034087" y="0"/>
                </a:cubicBezTo>
                <a:cubicBezTo>
                  <a:pt x="7215355" y="-17036"/>
                  <a:pt x="7313136" y="11151"/>
                  <a:pt x="7532566" y="0"/>
                </a:cubicBezTo>
                <a:cubicBezTo>
                  <a:pt x="7751996" y="-11151"/>
                  <a:pt x="8015001" y="25614"/>
                  <a:pt x="8418750" y="0"/>
                </a:cubicBezTo>
                <a:cubicBezTo>
                  <a:pt x="8822499" y="-25614"/>
                  <a:pt x="9163239" y="48603"/>
                  <a:pt x="9692640" y="0"/>
                </a:cubicBezTo>
                <a:cubicBezTo>
                  <a:pt x="9691955" y="4437"/>
                  <a:pt x="9693170" y="10717"/>
                  <a:pt x="9692640" y="18288"/>
                </a:cubicBezTo>
                <a:cubicBezTo>
                  <a:pt x="9545125" y="42172"/>
                  <a:pt x="9164259" y="6706"/>
                  <a:pt x="9000309" y="18288"/>
                </a:cubicBezTo>
                <a:cubicBezTo>
                  <a:pt x="8836359" y="29870"/>
                  <a:pt x="8521035" y="-14108"/>
                  <a:pt x="8307977" y="18288"/>
                </a:cubicBezTo>
                <a:cubicBezTo>
                  <a:pt x="8094919" y="50684"/>
                  <a:pt x="7881757" y="11235"/>
                  <a:pt x="7712572" y="18288"/>
                </a:cubicBezTo>
                <a:cubicBezTo>
                  <a:pt x="7543387" y="25341"/>
                  <a:pt x="7358861" y="20625"/>
                  <a:pt x="7214093" y="18288"/>
                </a:cubicBezTo>
                <a:cubicBezTo>
                  <a:pt x="7069325" y="15951"/>
                  <a:pt x="6523705" y="52160"/>
                  <a:pt x="6327909" y="18288"/>
                </a:cubicBezTo>
                <a:cubicBezTo>
                  <a:pt x="6132113" y="-15584"/>
                  <a:pt x="5923847" y="21204"/>
                  <a:pt x="5635578" y="18288"/>
                </a:cubicBezTo>
                <a:cubicBezTo>
                  <a:pt x="5347309" y="15372"/>
                  <a:pt x="5114749" y="50642"/>
                  <a:pt x="4846320" y="18288"/>
                </a:cubicBezTo>
                <a:cubicBezTo>
                  <a:pt x="4577891" y="-14066"/>
                  <a:pt x="4576701" y="1487"/>
                  <a:pt x="4444768" y="18288"/>
                </a:cubicBezTo>
                <a:cubicBezTo>
                  <a:pt x="4312835" y="35089"/>
                  <a:pt x="4112575" y="15158"/>
                  <a:pt x="3946289" y="18288"/>
                </a:cubicBezTo>
                <a:cubicBezTo>
                  <a:pt x="3780003" y="21418"/>
                  <a:pt x="3396009" y="18797"/>
                  <a:pt x="3253958" y="18288"/>
                </a:cubicBezTo>
                <a:cubicBezTo>
                  <a:pt x="3111907" y="17779"/>
                  <a:pt x="2760272" y="57223"/>
                  <a:pt x="2464700" y="18288"/>
                </a:cubicBezTo>
                <a:cubicBezTo>
                  <a:pt x="2169128" y="-20647"/>
                  <a:pt x="2232262" y="7960"/>
                  <a:pt x="2063148" y="18288"/>
                </a:cubicBezTo>
                <a:cubicBezTo>
                  <a:pt x="1894034" y="28616"/>
                  <a:pt x="1799338" y="3019"/>
                  <a:pt x="1661595" y="18288"/>
                </a:cubicBezTo>
                <a:cubicBezTo>
                  <a:pt x="1523852" y="33557"/>
                  <a:pt x="1113928" y="-4352"/>
                  <a:pt x="969264" y="18288"/>
                </a:cubicBezTo>
                <a:cubicBezTo>
                  <a:pt x="824600" y="40928"/>
                  <a:pt x="356149" y="-3128"/>
                  <a:pt x="0" y="18288"/>
                </a:cubicBezTo>
                <a:cubicBezTo>
                  <a:pt x="-540" y="12521"/>
                  <a:pt x="894" y="7749"/>
                  <a:pt x="0" y="0"/>
                </a:cubicBezTo>
                <a:close/>
              </a:path>
              <a:path w="9692640" h="18288" stroke="0" extrusionOk="0">
                <a:moveTo>
                  <a:pt x="0" y="0"/>
                </a:moveTo>
                <a:cubicBezTo>
                  <a:pt x="162642" y="3864"/>
                  <a:pt x="346119" y="-18364"/>
                  <a:pt x="498479" y="0"/>
                </a:cubicBezTo>
                <a:cubicBezTo>
                  <a:pt x="650839" y="18364"/>
                  <a:pt x="712065" y="-9389"/>
                  <a:pt x="900031" y="0"/>
                </a:cubicBezTo>
                <a:cubicBezTo>
                  <a:pt x="1087997" y="9389"/>
                  <a:pt x="1177291" y="3685"/>
                  <a:pt x="1398509" y="0"/>
                </a:cubicBezTo>
                <a:cubicBezTo>
                  <a:pt x="1619727" y="-3685"/>
                  <a:pt x="1874008" y="-8897"/>
                  <a:pt x="2090841" y="0"/>
                </a:cubicBezTo>
                <a:cubicBezTo>
                  <a:pt x="2307674" y="8897"/>
                  <a:pt x="2573432" y="-313"/>
                  <a:pt x="2880099" y="0"/>
                </a:cubicBezTo>
                <a:cubicBezTo>
                  <a:pt x="3186766" y="313"/>
                  <a:pt x="3422577" y="10664"/>
                  <a:pt x="3766283" y="0"/>
                </a:cubicBezTo>
                <a:cubicBezTo>
                  <a:pt x="4109989" y="-10664"/>
                  <a:pt x="4342683" y="-32873"/>
                  <a:pt x="4652467" y="0"/>
                </a:cubicBezTo>
                <a:cubicBezTo>
                  <a:pt x="4962251" y="32873"/>
                  <a:pt x="5122120" y="29155"/>
                  <a:pt x="5247872" y="0"/>
                </a:cubicBezTo>
                <a:cubicBezTo>
                  <a:pt x="5373625" y="-29155"/>
                  <a:pt x="5749491" y="1706"/>
                  <a:pt x="6037130" y="0"/>
                </a:cubicBezTo>
                <a:cubicBezTo>
                  <a:pt x="6324769" y="-1706"/>
                  <a:pt x="6531407" y="1172"/>
                  <a:pt x="6729461" y="0"/>
                </a:cubicBezTo>
                <a:cubicBezTo>
                  <a:pt x="6927515" y="-1172"/>
                  <a:pt x="7096794" y="-1520"/>
                  <a:pt x="7324867" y="0"/>
                </a:cubicBezTo>
                <a:cubicBezTo>
                  <a:pt x="7552940" y="1520"/>
                  <a:pt x="7878827" y="-17110"/>
                  <a:pt x="8114124" y="0"/>
                </a:cubicBezTo>
                <a:cubicBezTo>
                  <a:pt x="8349421" y="17110"/>
                  <a:pt x="8334208" y="15114"/>
                  <a:pt x="8515677" y="0"/>
                </a:cubicBezTo>
                <a:cubicBezTo>
                  <a:pt x="8697146" y="-15114"/>
                  <a:pt x="9236164" y="22466"/>
                  <a:pt x="9692640" y="0"/>
                </a:cubicBezTo>
                <a:cubicBezTo>
                  <a:pt x="9692735" y="8251"/>
                  <a:pt x="9692514" y="12333"/>
                  <a:pt x="9692640" y="18288"/>
                </a:cubicBezTo>
                <a:cubicBezTo>
                  <a:pt x="9410102" y="47398"/>
                  <a:pt x="9172773" y="7109"/>
                  <a:pt x="9000309" y="18288"/>
                </a:cubicBezTo>
                <a:cubicBezTo>
                  <a:pt x="8827845" y="29467"/>
                  <a:pt x="8713608" y="28372"/>
                  <a:pt x="8501830" y="18288"/>
                </a:cubicBezTo>
                <a:cubicBezTo>
                  <a:pt x="8290052" y="8204"/>
                  <a:pt x="7893416" y="3561"/>
                  <a:pt x="7712572" y="18288"/>
                </a:cubicBezTo>
                <a:cubicBezTo>
                  <a:pt x="7531728" y="33015"/>
                  <a:pt x="7480716" y="17052"/>
                  <a:pt x="7311020" y="18288"/>
                </a:cubicBezTo>
                <a:cubicBezTo>
                  <a:pt x="7141324" y="19524"/>
                  <a:pt x="6962706" y="15975"/>
                  <a:pt x="6618688" y="18288"/>
                </a:cubicBezTo>
                <a:cubicBezTo>
                  <a:pt x="6274670" y="20601"/>
                  <a:pt x="6230664" y="-1692"/>
                  <a:pt x="6120210" y="18288"/>
                </a:cubicBezTo>
                <a:cubicBezTo>
                  <a:pt x="6009756" y="38268"/>
                  <a:pt x="5442516" y="28115"/>
                  <a:pt x="5234026" y="18288"/>
                </a:cubicBezTo>
                <a:cubicBezTo>
                  <a:pt x="5025536" y="8461"/>
                  <a:pt x="4953693" y="18182"/>
                  <a:pt x="4832473" y="18288"/>
                </a:cubicBezTo>
                <a:cubicBezTo>
                  <a:pt x="4711253" y="18394"/>
                  <a:pt x="4414565" y="-11251"/>
                  <a:pt x="4140142" y="18288"/>
                </a:cubicBezTo>
                <a:cubicBezTo>
                  <a:pt x="3865719" y="47827"/>
                  <a:pt x="3819081" y="16772"/>
                  <a:pt x="3738590" y="18288"/>
                </a:cubicBezTo>
                <a:cubicBezTo>
                  <a:pt x="3658099" y="19804"/>
                  <a:pt x="3427576" y="1385"/>
                  <a:pt x="3240111" y="18288"/>
                </a:cubicBezTo>
                <a:cubicBezTo>
                  <a:pt x="3052646" y="35191"/>
                  <a:pt x="2749652" y="-13914"/>
                  <a:pt x="2450853" y="18288"/>
                </a:cubicBezTo>
                <a:cubicBezTo>
                  <a:pt x="2152054" y="50490"/>
                  <a:pt x="1928331" y="61101"/>
                  <a:pt x="1564669" y="18288"/>
                </a:cubicBezTo>
                <a:cubicBezTo>
                  <a:pt x="1201007" y="-24525"/>
                  <a:pt x="1217828" y="-275"/>
                  <a:pt x="1066190" y="18288"/>
                </a:cubicBezTo>
                <a:cubicBezTo>
                  <a:pt x="914552" y="36851"/>
                  <a:pt x="418290" y="-14785"/>
                  <a:pt x="0" y="18288"/>
                </a:cubicBezTo>
                <a:cubicBezTo>
                  <a:pt x="641" y="14236"/>
                  <a:pt x="889" y="755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77A1358E-390E-F4A5-3C17-DA8CE51A7E87}"/>
              </a:ext>
            </a:extLst>
          </p:cNvPr>
          <p:cNvSpPr txBox="1"/>
          <p:nvPr/>
        </p:nvSpPr>
        <p:spPr>
          <a:xfrm>
            <a:off x="171348" y="1718120"/>
            <a:ext cx="11846256" cy="5121590"/>
          </a:xfrm>
          <a:prstGeom prst="rect">
            <a:avLst/>
          </a:prstGeom>
        </p:spPr>
        <p:txBody>
          <a:bodyPr vert="horz" lIns="91440" tIns="45720" rIns="91440" bIns="45720" numCol="2" rtlCol="0">
            <a:normAutofit fontScale="77500" lnSpcReduction="20000"/>
          </a:bodyPr>
          <a:lstStyle/>
          <a:p>
            <a:pPr>
              <a:lnSpc>
                <a:spcPct val="90000"/>
              </a:lnSpc>
              <a:spcAft>
                <a:spcPts val="600"/>
              </a:spcAft>
            </a:pPr>
            <a:r>
              <a:rPr lang="en-US" b="1" dirty="0">
                <a:solidFill>
                  <a:schemeClr val="bg1"/>
                </a:solidFill>
                <a:latin typeface="Times New Roman" panose="02020603050405020304" pitchFamily="18" charset="0"/>
                <a:cs typeface="Times New Roman" panose="02020603050405020304" pitchFamily="18" charset="0"/>
              </a:rPr>
              <a:t>TYPES OF AD</a:t>
            </a:r>
          </a:p>
          <a:p>
            <a:pPr indent="-228600">
              <a:lnSpc>
                <a:spcPct val="90000"/>
              </a:lnSpc>
              <a:spcAft>
                <a:spcPts val="600"/>
              </a:spcAft>
              <a:buFont typeface="Arial" panose="020B0604020202020204" pitchFamily="34" charset="0"/>
              <a:buChar char="•"/>
            </a:pPr>
            <a:r>
              <a:rPr lang="en-US" sz="1600" b="1" dirty="0">
                <a:solidFill>
                  <a:schemeClr val="bg1"/>
                </a:solidFill>
                <a:latin typeface="Times New Roman" panose="02020603050405020304" pitchFamily="18" charset="0"/>
                <a:cs typeface="Times New Roman" panose="02020603050405020304" pitchFamily="18" charset="0"/>
              </a:rPr>
              <a:t>Early-Onset Alzheimer’s Disease (EOAD)</a:t>
            </a:r>
            <a:r>
              <a:rPr lang="en-US" sz="1600" dirty="0">
                <a:solidFill>
                  <a:schemeClr val="bg1"/>
                </a:solidFill>
                <a:latin typeface="Times New Roman" panose="02020603050405020304" pitchFamily="18" charset="0"/>
                <a:cs typeface="Times New Roman" panose="02020603050405020304" pitchFamily="18" charset="0"/>
              </a:rPr>
              <a:t>:</a:t>
            </a:r>
          </a:p>
          <a:p>
            <a:pPr marL="742950" lvl="1" indent="-228600">
              <a:lnSpc>
                <a:spcPct val="90000"/>
              </a:lnSpc>
              <a:spcAft>
                <a:spcPts val="600"/>
              </a:spcAft>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Occurs before age 65.</a:t>
            </a:r>
          </a:p>
          <a:p>
            <a:pPr marL="742950" lvl="1" indent="-228600">
              <a:lnSpc>
                <a:spcPct val="90000"/>
              </a:lnSpc>
              <a:spcAft>
                <a:spcPts val="600"/>
              </a:spcAft>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Less common form.</a:t>
            </a:r>
          </a:p>
          <a:p>
            <a:pPr indent="-228600">
              <a:lnSpc>
                <a:spcPct val="90000"/>
              </a:lnSpc>
              <a:spcAft>
                <a:spcPts val="600"/>
              </a:spcAft>
              <a:buFont typeface="Arial" panose="020B0604020202020204" pitchFamily="34" charset="0"/>
              <a:buChar char="•"/>
            </a:pPr>
            <a:r>
              <a:rPr lang="en-US" sz="1600" b="1" dirty="0">
                <a:solidFill>
                  <a:schemeClr val="bg1"/>
                </a:solidFill>
                <a:latin typeface="Times New Roman" panose="02020603050405020304" pitchFamily="18" charset="0"/>
                <a:cs typeface="Times New Roman" panose="02020603050405020304" pitchFamily="18" charset="0"/>
              </a:rPr>
              <a:t>Late-Onset Alzheimer’s Disease (LOAD)</a:t>
            </a:r>
            <a:r>
              <a:rPr lang="en-US" sz="1600" dirty="0">
                <a:solidFill>
                  <a:schemeClr val="bg1"/>
                </a:solidFill>
                <a:latin typeface="Times New Roman" panose="02020603050405020304" pitchFamily="18" charset="0"/>
                <a:cs typeface="Times New Roman" panose="02020603050405020304" pitchFamily="18" charset="0"/>
              </a:rPr>
              <a:t>:</a:t>
            </a:r>
          </a:p>
          <a:p>
            <a:pPr marL="742950" lvl="1" indent="-228600">
              <a:lnSpc>
                <a:spcPct val="90000"/>
              </a:lnSpc>
              <a:spcAft>
                <a:spcPts val="600"/>
              </a:spcAft>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Occurs after age 65.</a:t>
            </a:r>
          </a:p>
          <a:p>
            <a:pPr marL="742950" lvl="1" indent="-228600">
              <a:lnSpc>
                <a:spcPct val="90000"/>
              </a:lnSpc>
              <a:spcAft>
                <a:spcPts val="600"/>
              </a:spcAft>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Accounts for ~95% of AD cases.</a:t>
            </a:r>
            <a:br>
              <a:rPr lang="en-US" sz="1600" dirty="0">
                <a:solidFill>
                  <a:schemeClr val="bg1"/>
                </a:solidFill>
                <a:latin typeface="Times New Roman" panose="02020603050405020304" pitchFamily="18" charset="0"/>
                <a:cs typeface="Times New Roman" panose="02020603050405020304" pitchFamily="18" charset="0"/>
              </a:rPr>
            </a:br>
            <a:r>
              <a:rPr lang="en-US" sz="1600" i="1" dirty="0">
                <a:solidFill>
                  <a:schemeClr val="bg1"/>
                </a:solidFill>
                <a:latin typeface="Times New Roman" panose="02020603050405020304" pitchFamily="18" charset="0"/>
                <a:cs typeface="Times New Roman" panose="02020603050405020304" pitchFamily="18" charset="0"/>
              </a:rPr>
              <a:t>(Sheppard &amp; Coleman, 2020)</a:t>
            </a:r>
          </a:p>
          <a:p>
            <a:pPr marL="742950" lvl="1" indent="-228600">
              <a:lnSpc>
                <a:spcPct val="90000"/>
              </a:lnSpc>
              <a:spcAft>
                <a:spcPts val="600"/>
              </a:spcAft>
              <a:buFont typeface="Arial" panose="020B0604020202020204" pitchFamily="34" charset="0"/>
              <a:buChar char="•"/>
            </a:pPr>
            <a:endParaRPr lang="en-US" sz="1600" i="1" dirty="0">
              <a:solidFill>
                <a:schemeClr val="bg1"/>
              </a:solidFill>
              <a:latin typeface="Times New Roman" panose="02020603050405020304" pitchFamily="18" charset="0"/>
              <a:cs typeface="Times New Roman" panose="02020603050405020304" pitchFamily="18" charset="0"/>
            </a:endParaRPr>
          </a:p>
          <a:p>
            <a:pPr>
              <a:lnSpc>
                <a:spcPct val="90000"/>
              </a:lnSpc>
              <a:spcAft>
                <a:spcPts val="600"/>
              </a:spcAft>
            </a:pPr>
            <a:r>
              <a:rPr lang="en-US" b="1" dirty="0">
                <a:solidFill>
                  <a:schemeClr val="bg1"/>
                </a:solidFill>
                <a:latin typeface="Times New Roman" panose="02020603050405020304" pitchFamily="18" charset="0"/>
                <a:cs typeface="Times New Roman" panose="02020603050405020304" pitchFamily="18" charset="0"/>
              </a:rPr>
              <a:t>GENETIC FACTORS</a:t>
            </a:r>
          </a:p>
          <a:p>
            <a:pPr indent="-228600">
              <a:lnSpc>
                <a:spcPct val="90000"/>
              </a:lnSpc>
              <a:spcAft>
                <a:spcPts val="600"/>
              </a:spcAft>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AD has a </a:t>
            </a:r>
            <a:r>
              <a:rPr lang="en-US" sz="1600" b="1" dirty="0">
                <a:solidFill>
                  <a:schemeClr val="bg1"/>
                </a:solidFill>
                <a:latin typeface="Times New Roman" panose="02020603050405020304" pitchFamily="18" charset="0"/>
                <a:cs typeface="Times New Roman" panose="02020603050405020304" pitchFamily="18" charset="0"/>
              </a:rPr>
              <a:t>Mendelian inheritance</a:t>
            </a:r>
            <a:r>
              <a:rPr lang="en-US" sz="1600" dirty="0">
                <a:solidFill>
                  <a:schemeClr val="bg1"/>
                </a:solidFill>
                <a:latin typeface="Times New Roman" panose="02020603050405020304" pitchFamily="18" charset="0"/>
                <a:cs typeface="Times New Roman" panose="02020603050405020304" pitchFamily="18" charset="0"/>
              </a:rPr>
              <a:t> pattern in some cases.</a:t>
            </a:r>
          </a:p>
          <a:p>
            <a:pPr indent="-228600">
              <a:lnSpc>
                <a:spcPct val="90000"/>
              </a:lnSpc>
              <a:spcAft>
                <a:spcPts val="600"/>
              </a:spcAft>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Caused by mutations in:</a:t>
            </a:r>
          </a:p>
          <a:p>
            <a:pPr marL="742950" lvl="1" indent="-228600">
              <a:lnSpc>
                <a:spcPct val="90000"/>
              </a:lnSpc>
              <a:spcAft>
                <a:spcPts val="600"/>
              </a:spcAft>
              <a:buFont typeface="Arial" panose="020B0604020202020204" pitchFamily="34" charset="0"/>
              <a:buChar char="•"/>
            </a:pPr>
            <a:r>
              <a:rPr lang="en-US" sz="1600" b="1" dirty="0">
                <a:solidFill>
                  <a:schemeClr val="bg1"/>
                </a:solidFill>
                <a:latin typeface="Times New Roman" panose="02020603050405020304" pitchFamily="18" charset="0"/>
                <a:cs typeface="Times New Roman" panose="02020603050405020304" pitchFamily="18" charset="0"/>
              </a:rPr>
              <a:t>Aβ Precursor Protein (APP)</a:t>
            </a:r>
            <a:endParaRPr lang="en-US" sz="1600" dirty="0">
              <a:solidFill>
                <a:schemeClr val="bg1"/>
              </a:solidFill>
              <a:latin typeface="Times New Roman" panose="02020603050405020304" pitchFamily="18" charset="0"/>
              <a:cs typeface="Times New Roman" panose="02020603050405020304" pitchFamily="18" charset="0"/>
            </a:endParaRPr>
          </a:p>
          <a:p>
            <a:pPr marL="742950" lvl="1" indent="-228600">
              <a:lnSpc>
                <a:spcPct val="90000"/>
              </a:lnSpc>
              <a:spcAft>
                <a:spcPts val="600"/>
              </a:spcAft>
              <a:buFont typeface="Arial" panose="020B0604020202020204" pitchFamily="34" charset="0"/>
              <a:buChar char="•"/>
            </a:pPr>
            <a:r>
              <a:rPr lang="en-US" sz="1600" b="1" dirty="0">
                <a:solidFill>
                  <a:schemeClr val="bg1"/>
                </a:solidFill>
                <a:latin typeface="Times New Roman" panose="02020603050405020304" pitchFamily="18" charset="0"/>
                <a:cs typeface="Times New Roman" panose="02020603050405020304" pitchFamily="18" charset="0"/>
              </a:rPr>
              <a:t>Presenilin 1 (PSEN1)</a:t>
            </a:r>
            <a:endParaRPr lang="en-US" sz="1600" dirty="0">
              <a:solidFill>
                <a:schemeClr val="bg1"/>
              </a:solidFill>
              <a:latin typeface="Times New Roman" panose="02020603050405020304" pitchFamily="18" charset="0"/>
              <a:cs typeface="Times New Roman" panose="02020603050405020304" pitchFamily="18" charset="0"/>
            </a:endParaRPr>
          </a:p>
          <a:p>
            <a:pPr marL="742950" lvl="1" indent="-228600">
              <a:lnSpc>
                <a:spcPct val="90000"/>
              </a:lnSpc>
              <a:spcAft>
                <a:spcPts val="600"/>
              </a:spcAft>
              <a:buFont typeface="Arial" panose="020B0604020202020204" pitchFamily="34" charset="0"/>
              <a:buChar char="•"/>
            </a:pPr>
            <a:r>
              <a:rPr lang="en-US" sz="1600" b="1" dirty="0">
                <a:solidFill>
                  <a:schemeClr val="bg1"/>
                </a:solidFill>
                <a:latin typeface="Times New Roman" panose="02020603050405020304" pitchFamily="18" charset="0"/>
                <a:cs typeface="Times New Roman" panose="02020603050405020304" pitchFamily="18" charset="0"/>
              </a:rPr>
              <a:t>Presenilin 2 (PSEN2)</a:t>
            </a:r>
            <a:endParaRPr lang="en-US" sz="1600" dirty="0">
              <a:solidFill>
                <a:schemeClr val="bg1"/>
              </a:solidFill>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These mutations affect Aβ production and lead to </a:t>
            </a:r>
            <a:r>
              <a:rPr lang="en-US" sz="1600" b="1" dirty="0">
                <a:solidFill>
                  <a:schemeClr val="bg1"/>
                </a:solidFill>
                <a:latin typeface="Times New Roman" panose="02020603050405020304" pitchFamily="18" charset="0"/>
                <a:cs typeface="Times New Roman" panose="02020603050405020304" pitchFamily="18" charset="0"/>
              </a:rPr>
              <a:t>autosomal dominant AD</a:t>
            </a:r>
            <a:r>
              <a:rPr lang="en-US" sz="1600" dirty="0">
                <a:solidFill>
                  <a:schemeClr val="bg1"/>
                </a:solidFill>
                <a:latin typeface="Times New Roman" panose="02020603050405020304" pitchFamily="18" charset="0"/>
                <a:cs typeface="Times New Roman" panose="02020603050405020304" pitchFamily="18" charset="0"/>
              </a:rPr>
              <a:t>.</a:t>
            </a:r>
          </a:p>
          <a:p>
            <a:pPr indent="-228600">
              <a:lnSpc>
                <a:spcPct val="90000"/>
              </a:lnSpc>
              <a:spcAft>
                <a:spcPts val="600"/>
              </a:spcAft>
              <a:buFont typeface="Arial" panose="020B0604020202020204" pitchFamily="34" charset="0"/>
              <a:buChar char="•"/>
            </a:pPr>
            <a:r>
              <a:rPr lang="en-US" sz="1600" b="1" dirty="0">
                <a:solidFill>
                  <a:schemeClr val="bg1"/>
                </a:solidFill>
                <a:latin typeface="Times New Roman" panose="02020603050405020304" pitchFamily="18" charset="0"/>
                <a:cs typeface="Times New Roman" panose="02020603050405020304" pitchFamily="18" charset="0"/>
              </a:rPr>
              <a:t>PSEN1 and PSEN2</a:t>
            </a:r>
            <a:r>
              <a:rPr lang="en-US" sz="1600" dirty="0">
                <a:solidFill>
                  <a:schemeClr val="bg1"/>
                </a:solidFill>
                <a:latin typeface="Times New Roman" panose="02020603050405020304" pitchFamily="18" charset="0"/>
                <a:cs typeface="Times New Roman" panose="02020603050405020304" pitchFamily="18" charset="0"/>
              </a:rPr>
              <a:t> encode part of the </a:t>
            </a:r>
            <a:r>
              <a:rPr lang="en-US" sz="1600" b="1" dirty="0">
                <a:solidFill>
                  <a:schemeClr val="bg1"/>
                </a:solidFill>
                <a:latin typeface="Times New Roman" panose="02020603050405020304" pitchFamily="18" charset="0"/>
                <a:cs typeface="Times New Roman" panose="02020603050405020304" pitchFamily="18" charset="0"/>
              </a:rPr>
              <a:t>γ-secretase</a:t>
            </a:r>
            <a:r>
              <a:rPr lang="en-US" sz="1600" dirty="0">
                <a:solidFill>
                  <a:schemeClr val="bg1"/>
                </a:solidFill>
                <a:latin typeface="Times New Roman" panose="02020603050405020304" pitchFamily="18" charset="0"/>
                <a:cs typeface="Times New Roman" panose="02020603050405020304" pitchFamily="18" charset="0"/>
              </a:rPr>
              <a:t> complex important in APP processing.</a:t>
            </a:r>
            <a:br>
              <a:rPr lang="en-US" sz="1600" dirty="0">
                <a:solidFill>
                  <a:schemeClr val="bg1"/>
                </a:solidFill>
                <a:latin typeface="Times New Roman" panose="02020603050405020304" pitchFamily="18" charset="0"/>
                <a:cs typeface="Times New Roman" panose="02020603050405020304" pitchFamily="18" charset="0"/>
              </a:rPr>
            </a:br>
            <a:r>
              <a:rPr lang="en-US" sz="1600" i="1" dirty="0">
                <a:solidFill>
                  <a:schemeClr val="bg1"/>
                </a:solidFill>
                <a:latin typeface="Times New Roman" panose="02020603050405020304" pitchFamily="18" charset="0"/>
                <a:cs typeface="Times New Roman" panose="02020603050405020304" pitchFamily="18" charset="0"/>
              </a:rPr>
              <a:t>(Sheppard &amp; Coleman, 2020)</a:t>
            </a:r>
          </a:p>
          <a:p>
            <a:pPr lvl="1" indent="-228600">
              <a:lnSpc>
                <a:spcPct val="90000"/>
              </a:lnSpc>
              <a:spcAft>
                <a:spcPts val="600"/>
              </a:spcAft>
              <a:buFont typeface="Arial" panose="020B0604020202020204" pitchFamily="34" charset="0"/>
              <a:buChar char="•"/>
            </a:pPr>
            <a:endParaRPr lang="en-US" sz="1600" i="1" dirty="0">
              <a:solidFill>
                <a:schemeClr val="bg1"/>
              </a:solidFill>
              <a:latin typeface="Times New Roman" panose="02020603050405020304" pitchFamily="18" charset="0"/>
              <a:cs typeface="Times New Roman" panose="02020603050405020304" pitchFamily="18" charset="0"/>
            </a:endParaRPr>
          </a:p>
          <a:p>
            <a:pPr>
              <a:lnSpc>
                <a:spcPct val="90000"/>
              </a:lnSpc>
              <a:spcAft>
                <a:spcPts val="600"/>
              </a:spcAft>
            </a:pPr>
            <a:r>
              <a:rPr lang="en-US" b="1" dirty="0">
                <a:solidFill>
                  <a:schemeClr val="bg1"/>
                </a:solidFill>
                <a:latin typeface="Times New Roman" panose="02020603050405020304" pitchFamily="18" charset="0"/>
                <a:cs typeface="Times New Roman" panose="02020603050405020304" pitchFamily="18" charset="0"/>
              </a:rPr>
              <a:t>RISK FACTORS</a:t>
            </a:r>
          </a:p>
          <a:p>
            <a:pPr indent="-228600">
              <a:lnSpc>
                <a:spcPct val="90000"/>
              </a:lnSpc>
              <a:spcAft>
                <a:spcPts val="600"/>
              </a:spcAft>
              <a:buFont typeface="Arial" panose="020B0604020202020204" pitchFamily="34" charset="0"/>
              <a:buChar char="•"/>
            </a:pPr>
            <a:r>
              <a:rPr lang="en-US" sz="1600" b="1" dirty="0">
                <a:solidFill>
                  <a:schemeClr val="bg1"/>
                </a:solidFill>
                <a:latin typeface="Times New Roman" panose="02020603050405020304" pitchFamily="18" charset="0"/>
                <a:cs typeface="Times New Roman" panose="02020603050405020304" pitchFamily="18" charset="0"/>
              </a:rPr>
              <a:t>Age</a:t>
            </a:r>
            <a:r>
              <a:rPr lang="en-US" sz="1600" dirty="0">
                <a:solidFill>
                  <a:schemeClr val="bg1"/>
                </a:solidFill>
                <a:latin typeface="Times New Roman" panose="02020603050405020304" pitchFamily="18" charset="0"/>
                <a:cs typeface="Times New Roman" panose="02020603050405020304" pitchFamily="18" charset="0"/>
              </a:rPr>
              <a:t> is the greatest risk factor:</a:t>
            </a:r>
          </a:p>
          <a:p>
            <a:pPr marL="742950" lvl="1" indent="-228600">
              <a:lnSpc>
                <a:spcPct val="90000"/>
              </a:lnSpc>
              <a:spcAft>
                <a:spcPts val="600"/>
              </a:spcAft>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3% incidence at age 65.</a:t>
            </a:r>
          </a:p>
          <a:p>
            <a:pPr marL="742950" lvl="1" indent="-228600">
              <a:lnSpc>
                <a:spcPct val="90000"/>
              </a:lnSpc>
              <a:spcAft>
                <a:spcPts val="600"/>
              </a:spcAft>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Increases to 30% by age 85.</a:t>
            </a:r>
          </a:p>
          <a:p>
            <a:r>
              <a:rPr lang="en-US" sz="1600" dirty="0">
                <a:solidFill>
                  <a:schemeClr val="bg1"/>
                </a:solidFill>
                <a:latin typeface="Times New Roman" panose="02020603050405020304" pitchFamily="18" charset="0"/>
                <a:cs typeface="Times New Roman" panose="02020603050405020304" pitchFamily="18" charset="0"/>
              </a:rPr>
              <a:t>Risk is low under age 65.</a:t>
            </a:r>
            <a:br>
              <a:rPr lang="en-US" sz="1600" dirty="0">
                <a:solidFill>
                  <a:schemeClr val="bg1"/>
                </a:solidFill>
                <a:latin typeface="Times New Roman" panose="02020603050405020304" pitchFamily="18" charset="0"/>
                <a:cs typeface="Times New Roman" panose="02020603050405020304" pitchFamily="18" charset="0"/>
              </a:rPr>
            </a:br>
            <a:r>
              <a:rPr lang="en-US" sz="1600" i="1" dirty="0">
                <a:solidFill>
                  <a:schemeClr val="bg1"/>
                </a:solidFill>
                <a:latin typeface="Times New Roman" panose="02020603050405020304" pitchFamily="18" charset="0"/>
                <a:cs typeface="Times New Roman" panose="02020603050405020304" pitchFamily="18" charset="0"/>
              </a:rPr>
              <a:t>(Sheppard &amp; Coleman, 2020)</a:t>
            </a:r>
          </a:p>
          <a:p>
            <a:endParaRPr lang="en-US" sz="1600" b="1" i="1" dirty="0">
              <a:solidFill>
                <a:schemeClr val="bg1"/>
              </a:solidFill>
              <a:latin typeface="Times New Roman" panose="02020603050405020304" pitchFamily="18" charset="0"/>
              <a:cs typeface="Times New Roman" panose="02020603050405020304" pitchFamily="18" charset="0"/>
            </a:endParaRPr>
          </a:p>
          <a:p>
            <a:r>
              <a:rPr lang="en-ZA" b="1" dirty="0">
                <a:solidFill>
                  <a:schemeClr val="bg1"/>
                </a:solidFill>
                <a:latin typeface="Times New Roman" panose="02020603050405020304" pitchFamily="18" charset="0"/>
                <a:cs typeface="Times New Roman" panose="02020603050405020304" pitchFamily="18" charset="0"/>
              </a:rPr>
              <a:t>INFLAMMATION AND AD</a:t>
            </a:r>
          </a:p>
          <a:p>
            <a:pPr>
              <a:buFont typeface="Arial" panose="020B0604020202020204" pitchFamily="34" charset="0"/>
              <a:buChar char="•"/>
            </a:pPr>
            <a:r>
              <a:rPr lang="en-ZA" sz="1600" dirty="0">
                <a:solidFill>
                  <a:schemeClr val="bg1"/>
                </a:solidFill>
                <a:latin typeface="Times New Roman" panose="02020603050405020304" pitchFamily="18" charset="0"/>
                <a:cs typeface="Times New Roman" panose="02020603050405020304" pitchFamily="18" charset="0"/>
              </a:rPr>
              <a:t>Inflammation is linked to:</a:t>
            </a:r>
          </a:p>
          <a:p>
            <a:pPr marL="742950" lvl="1" indent="-285750">
              <a:buFont typeface="Arial" panose="020B0604020202020204" pitchFamily="34" charset="0"/>
              <a:buChar char="•"/>
            </a:pPr>
            <a:r>
              <a:rPr lang="en-ZA" sz="1600" dirty="0">
                <a:solidFill>
                  <a:schemeClr val="bg1"/>
                </a:solidFill>
                <a:latin typeface="Times New Roman" panose="02020603050405020304" pitchFamily="18" charset="0"/>
                <a:cs typeface="Times New Roman" panose="02020603050405020304" pitchFamily="18" charset="0"/>
              </a:rPr>
              <a:t>Trauma</a:t>
            </a:r>
          </a:p>
          <a:p>
            <a:pPr marL="742950" lvl="1" indent="-285750">
              <a:buFont typeface="Arial" panose="020B0604020202020204" pitchFamily="34" charset="0"/>
              <a:buChar char="•"/>
            </a:pPr>
            <a:r>
              <a:rPr lang="en-ZA" sz="1600" dirty="0">
                <a:solidFill>
                  <a:schemeClr val="bg1"/>
                </a:solidFill>
                <a:latin typeface="Times New Roman" panose="02020603050405020304" pitchFamily="18" charset="0"/>
                <a:cs typeface="Times New Roman" panose="02020603050405020304" pitchFamily="18" charset="0"/>
              </a:rPr>
              <a:t>Infection</a:t>
            </a:r>
          </a:p>
          <a:p>
            <a:pPr marL="742950" lvl="1" indent="-285750">
              <a:buFont typeface="Arial" panose="020B0604020202020204" pitchFamily="34" charset="0"/>
              <a:buChar char="•"/>
            </a:pPr>
            <a:r>
              <a:rPr lang="en-ZA" sz="1600" dirty="0">
                <a:solidFill>
                  <a:schemeClr val="bg1"/>
                </a:solidFill>
                <a:latin typeface="Times New Roman" panose="02020603050405020304" pitchFamily="18" charset="0"/>
                <a:cs typeface="Times New Roman" panose="02020603050405020304" pitchFamily="18" charset="0"/>
              </a:rPr>
              <a:t>Sepsis</a:t>
            </a:r>
          </a:p>
          <a:p>
            <a:pPr>
              <a:buFont typeface="Arial" panose="020B0604020202020204" pitchFamily="34" charset="0"/>
              <a:buChar char="•"/>
            </a:pPr>
            <a:r>
              <a:rPr lang="en-ZA" sz="1600" dirty="0">
                <a:solidFill>
                  <a:schemeClr val="bg1"/>
                </a:solidFill>
                <a:latin typeface="Times New Roman" panose="02020603050405020304" pitchFamily="18" charset="0"/>
                <a:cs typeface="Times New Roman" panose="02020603050405020304" pitchFamily="18" charset="0"/>
              </a:rPr>
              <a:t>Leads to short- and long-term cognitive decline.</a:t>
            </a:r>
          </a:p>
          <a:p>
            <a:pPr>
              <a:buFont typeface="Arial" panose="020B0604020202020204" pitchFamily="34" charset="0"/>
              <a:buChar char="•"/>
            </a:pPr>
            <a:r>
              <a:rPr lang="en-ZA" sz="1600" dirty="0">
                <a:solidFill>
                  <a:schemeClr val="bg1"/>
                </a:solidFill>
                <a:latin typeface="Times New Roman" panose="02020603050405020304" pitchFamily="18" charset="0"/>
                <a:cs typeface="Times New Roman" panose="02020603050405020304" pitchFamily="18" charset="0"/>
              </a:rPr>
              <a:t>Elevated </a:t>
            </a:r>
            <a:r>
              <a:rPr lang="en-ZA" sz="1600" b="1" dirty="0">
                <a:solidFill>
                  <a:schemeClr val="bg1"/>
                </a:solidFill>
                <a:latin typeface="Times New Roman" panose="02020603050405020304" pitchFamily="18" charset="0"/>
                <a:cs typeface="Times New Roman" panose="02020603050405020304" pitchFamily="18" charset="0"/>
              </a:rPr>
              <a:t>interleukin-6 (IL-6)</a:t>
            </a:r>
            <a:r>
              <a:rPr lang="en-ZA" sz="1600" dirty="0">
                <a:solidFill>
                  <a:schemeClr val="bg1"/>
                </a:solidFill>
                <a:latin typeface="Times New Roman" panose="02020603050405020304" pitchFamily="18" charset="0"/>
                <a:cs typeface="Times New Roman" panose="02020603050405020304" pitchFamily="18" charset="0"/>
              </a:rPr>
              <a:t> and other inflammatory markers increase AD risk.</a:t>
            </a:r>
          </a:p>
          <a:p>
            <a:pPr>
              <a:buFont typeface="Arial" panose="020B0604020202020204" pitchFamily="34" charset="0"/>
              <a:buChar char="•"/>
            </a:pPr>
            <a:r>
              <a:rPr lang="en-ZA" sz="1600" dirty="0">
                <a:solidFill>
                  <a:schemeClr val="bg1"/>
                </a:solidFill>
                <a:latin typeface="Times New Roman" panose="02020603050405020304" pitchFamily="18" charset="0"/>
                <a:cs typeface="Times New Roman" panose="02020603050405020304" pitchFamily="18" charset="0"/>
              </a:rPr>
              <a:t>Activates </a:t>
            </a:r>
            <a:r>
              <a:rPr lang="en-ZA" sz="1600" b="1" dirty="0">
                <a:solidFill>
                  <a:schemeClr val="bg1"/>
                </a:solidFill>
                <a:latin typeface="Times New Roman" panose="02020603050405020304" pitchFamily="18" charset="0"/>
                <a:cs typeface="Times New Roman" panose="02020603050405020304" pitchFamily="18" charset="0"/>
              </a:rPr>
              <a:t>microglia and astrocytes</a:t>
            </a:r>
            <a:r>
              <a:rPr lang="en-ZA" sz="1600" dirty="0">
                <a:solidFill>
                  <a:schemeClr val="bg1"/>
                </a:solidFill>
                <a:latin typeface="Times New Roman" panose="02020603050405020304" pitchFamily="18" charset="0"/>
                <a:cs typeface="Times New Roman" panose="02020603050405020304" pitchFamily="18" charset="0"/>
              </a:rPr>
              <a:t>, contributing to cognitive decline.</a:t>
            </a:r>
            <a:br>
              <a:rPr lang="en-ZA" sz="1600" dirty="0">
                <a:solidFill>
                  <a:schemeClr val="bg1"/>
                </a:solidFill>
                <a:latin typeface="Times New Roman" panose="02020603050405020304" pitchFamily="18" charset="0"/>
                <a:cs typeface="Times New Roman" panose="02020603050405020304" pitchFamily="18" charset="0"/>
              </a:rPr>
            </a:br>
            <a:r>
              <a:rPr lang="en-ZA" sz="1600" i="1" dirty="0">
                <a:solidFill>
                  <a:schemeClr val="bg1"/>
                </a:solidFill>
                <a:latin typeface="Times New Roman" panose="02020603050405020304" pitchFamily="18" charset="0"/>
                <a:cs typeface="Times New Roman" panose="02020603050405020304" pitchFamily="18" charset="0"/>
              </a:rPr>
              <a:t>(Sheppard &amp; Coleman, 2020)</a:t>
            </a:r>
          </a:p>
          <a:p>
            <a:pPr>
              <a:lnSpc>
                <a:spcPct val="90000"/>
              </a:lnSpc>
              <a:spcAft>
                <a:spcPts val="600"/>
              </a:spcAft>
            </a:pPr>
            <a:endParaRPr lang="en-US" sz="1600" i="1" dirty="0">
              <a:solidFill>
                <a:schemeClr val="bg1"/>
              </a:solidFill>
              <a:latin typeface="Times New Roman" panose="02020603050405020304" pitchFamily="18" charset="0"/>
              <a:cs typeface="Times New Roman" panose="02020603050405020304" pitchFamily="18" charset="0"/>
            </a:endParaRPr>
          </a:p>
          <a:p>
            <a:r>
              <a:rPr lang="en-ZA" b="1" dirty="0">
                <a:solidFill>
                  <a:schemeClr val="bg1"/>
                </a:solidFill>
                <a:latin typeface="Times New Roman" panose="02020603050405020304" pitchFamily="18" charset="0"/>
                <a:cs typeface="Times New Roman" panose="02020603050405020304" pitchFamily="18" charset="0"/>
              </a:rPr>
              <a:t>INFECTION AND AD</a:t>
            </a:r>
          </a:p>
          <a:p>
            <a:pPr>
              <a:buFont typeface="Arial" panose="020B0604020202020204" pitchFamily="34" charset="0"/>
              <a:buChar char="•"/>
            </a:pPr>
            <a:r>
              <a:rPr lang="en-ZA" sz="1600" dirty="0">
                <a:solidFill>
                  <a:schemeClr val="bg1"/>
                </a:solidFill>
                <a:latin typeface="Times New Roman" panose="02020603050405020304" pitchFamily="18" charset="0"/>
                <a:cs typeface="Times New Roman" panose="02020603050405020304" pitchFamily="18" charset="0"/>
              </a:rPr>
              <a:t>A</a:t>
            </a:r>
            <a:r>
              <a:rPr lang="el-GR" sz="1600" dirty="0">
                <a:solidFill>
                  <a:schemeClr val="bg1"/>
                </a:solidFill>
                <a:latin typeface="Times New Roman" panose="02020603050405020304" pitchFamily="18" charset="0"/>
                <a:cs typeface="Times New Roman" panose="02020603050405020304" pitchFamily="18" charset="0"/>
              </a:rPr>
              <a:t>β </a:t>
            </a:r>
            <a:r>
              <a:rPr lang="en-ZA" sz="1600" dirty="0">
                <a:solidFill>
                  <a:schemeClr val="bg1"/>
                </a:solidFill>
                <a:latin typeface="Times New Roman" panose="02020603050405020304" pitchFamily="18" charset="0"/>
                <a:cs typeface="Times New Roman" panose="02020603050405020304" pitchFamily="18" charset="0"/>
              </a:rPr>
              <a:t>has </a:t>
            </a:r>
            <a:r>
              <a:rPr lang="en-ZA" sz="1600" b="1" dirty="0">
                <a:solidFill>
                  <a:schemeClr val="bg1"/>
                </a:solidFill>
                <a:latin typeface="Times New Roman" panose="02020603050405020304" pitchFamily="18" charset="0"/>
                <a:cs typeface="Times New Roman" panose="02020603050405020304" pitchFamily="18" charset="0"/>
              </a:rPr>
              <a:t>antimicrobial properties</a:t>
            </a:r>
            <a:r>
              <a:rPr lang="en-ZA" sz="1600" dirty="0">
                <a:solidFill>
                  <a:schemeClr val="bg1"/>
                </a:solidFill>
                <a:latin typeface="Times New Roman" panose="02020603050405020304" pitchFamily="18" charset="0"/>
                <a:cs typeface="Times New Roman" panose="02020603050405020304" pitchFamily="18" charset="0"/>
              </a:rPr>
              <a:t>—its production increases in response to infection.</a:t>
            </a:r>
          </a:p>
          <a:p>
            <a:pPr>
              <a:buFont typeface="Arial" panose="020B0604020202020204" pitchFamily="34" charset="0"/>
              <a:buChar char="•"/>
            </a:pPr>
            <a:r>
              <a:rPr lang="en-ZA" sz="1600" dirty="0">
                <a:solidFill>
                  <a:schemeClr val="bg1"/>
                </a:solidFill>
                <a:latin typeface="Times New Roman" panose="02020603050405020304" pitchFamily="18" charset="0"/>
                <a:cs typeface="Times New Roman" panose="02020603050405020304" pitchFamily="18" charset="0"/>
              </a:rPr>
              <a:t>A</a:t>
            </a:r>
            <a:r>
              <a:rPr lang="el-GR" sz="1600" dirty="0">
                <a:solidFill>
                  <a:schemeClr val="bg1"/>
                </a:solidFill>
                <a:latin typeface="Times New Roman" panose="02020603050405020304" pitchFamily="18" charset="0"/>
                <a:cs typeface="Times New Roman" panose="02020603050405020304" pitchFamily="18" charset="0"/>
              </a:rPr>
              <a:t>β </a:t>
            </a:r>
            <a:r>
              <a:rPr lang="en-ZA" sz="1600" dirty="0">
                <a:solidFill>
                  <a:schemeClr val="bg1"/>
                </a:solidFill>
                <a:latin typeface="Times New Roman" panose="02020603050405020304" pitchFamily="18" charset="0"/>
                <a:cs typeface="Times New Roman" panose="02020603050405020304" pitchFamily="18" charset="0"/>
              </a:rPr>
              <a:t>deposits activate:</a:t>
            </a:r>
          </a:p>
          <a:p>
            <a:pPr marL="742950" lvl="1" indent="-285750">
              <a:buFont typeface="Arial" panose="020B0604020202020204" pitchFamily="34" charset="0"/>
              <a:buChar char="•"/>
            </a:pPr>
            <a:r>
              <a:rPr lang="en-ZA" sz="1600" dirty="0">
                <a:solidFill>
                  <a:schemeClr val="bg1"/>
                </a:solidFill>
                <a:latin typeface="Times New Roman" panose="02020603050405020304" pitchFamily="18" charset="0"/>
                <a:cs typeface="Times New Roman" panose="02020603050405020304" pitchFamily="18" charset="0"/>
              </a:rPr>
              <a:t>Microglia</a:t>
            </a:r>
          </a:p>
          <a:p>
            <a:pPr marL="742950" lvl="1" indent="-285750">
              <a:buFont typeface="Arial" panose="020B0604020202020204" pitchFamily="34" charset="0"/>
              <a:buChar char="•"/>
            </a:pPr>
            <a:r>
              <a:rPr lang="en-ZA" sz="1600" dirty="0">
                <a:solidFill>
                  <a:schemeClr val="bg1"/>
                </a:solidFill>
                <a:latin typeface="Times New Roman" panose="02020603050405020304" pitchFamily="18" charset="0"/>
                <a:cs typeface="Times New Roman" panose="02020603050405020304" pitchFamily="18" charset="0"/>
              </a:rPr>
              <a:t>Astrocytes</a:t>
            </a:r>
          </a:p>
          <a:p>
            <a:pPr marL="742950" lvl="1" indent="-285750">
              <a:buFont typeface="Arial" panose="020B0604020202020204" pitchFamily="34" charset="0"/>
              <a:buChar char="•"/>
            </a:pPr>
            <a:r>
              <a:rPr lang="en-ZA" sz="1600" dirty="0">
                <a:solidFill>
                  <a:schemeClr val="bg1"/>
                </a:solidFill>
                <a:latin typeface="Times New Roman" panose="02020603050405020304" pitchFamily="18" charset="0"/>
                <a:cs typeface="Times New Roman" panose="02020603050405020304" pitchFamily="18" charset="0"/>
              </a:rPr>
              <a:t>Lymphocytes</a:t>
            </a:r>
          </a:p>
          <a:p>
            <a:pPr marL="742950" lvl="1" indent="-285750">
              <a:buFont typeface="Arial" panose="020B0604020202020204" pitchFamily="34" charset="0"/>
              <a:buChar char="•"/>
            </a:pPr>
            <a:r>
              <a:rPr lang="en-ZA" dirty="0">
                <a:solidFill>
                  <a:schemeClr val="bg1"/>
                </a:solidFill>
                <a:latin typeface="Times New Roman" panose="02020603050405020304" pitchFamily="18" charset="0"/>
                <a:cs typeface="Times New Roman" panose="02020603050405020304" pitchFamily="18" charset="0"/>
              </a:rPr>
              <a:t>Macrophages</a:t>
            </a:r>
          </a:p>
          <a:p>
            <a:pPr lvl="1"/>
            <a:endParaRPr lang="en-ZA" dirty="0">
              <a:solidFill>
                <a:schemeClr val="bg1"/>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ZA" sz="1700" dirty="0">
                <a:solidFill>
                  <a:schemeClr val="bg1"/>
                </a:solidFill>
                <a:latin typeface="Times New Roman" panose="02020603050405020304" pitchFamily="18" charset="0"/>
                <a:cs typeface="Times New Roman" panose="02020603050405020304" pitchFamily="18" charset="0"/>
              </a:rPr>
              <a:t>This activation causes:</a:t>
            </a:r>
          </a:p>
          <a:p>
            <a:pPr marL="742950" lvl="1" indent="-285750">
              <a:buFont typeface="Arial" panose="020B0604020202020204" pitchFamily="34" charset="0"/>
              <a:buChar char="•"/>
            </a:pPr>
            <a:r>
              <a:rPr lang="en-ZA" sz="1700" dirty="0">
                <a:solidFill>
                  <a:schemeClr val="bg1"/>
                </a:solidFill>
                <a:latin typeface="Times New Roman" panose="02020603050405020304" pitchFamily="18" charset="0"/>
                <a:cs typeface="Times New Roman" panose="02020603050405020304" pitchFamily="18" charset="0"/>
              </a:rPr>
              <a:t>Reduced cytokines, chemokines, and neurotransmitters.</a:t>
            </a:r>
          </a:p>
          <a:p>
            <a:pPr marL="742950" lvl="1" indent="-285750">
              <a:buFont typeface="Arial" panose="020B0604020202020204" pitchFamily="34" charset="0"/>
              <a:buChar char="•"/>
            </a:pPr>
            <a:r>
              <a:rPr lang="en-ZA" sz="1700" dirty="0">
                <a:solidFill>
                  <a:schemeClr val="bg1"/>
                </a:solidFill>
                <a:latin typeface="Times New Roman" panose="02020603050405020304" pitchFamily="18" charset="0"/>
                <a:cs typeface="Times New Roman" panose="02020603050405020304" pitchFamily="18" charset="0"/>
              </a:rPr>
              <a:t>Programmed cell death.</a:t>
            </a:r>
          </a:p>
          <a:p>
            <a:pPr marL="742950" lvl="1" indent="-285750">
              <a:buFont typeface="Arial" panose="020B0604020202020204" pitchFamily="34" charset="0"/>
              <a:buChar char="•"/>
            </a:pPr>
            <a:r>
              <a:rPr lang="en-ZA" sz="1700" b="1" dirty="0">
                <a:solidFill>
                  <a:schemeClr val="bg1"/>
                </a:solidFill>
                <a:latin typeface="Times New Roman" panose="02020603050405020304" pitchFamily="18" charset="0"/>
                <a:cs typeface="Times New Roman" panose="02020603050405020304" pitchFamily="18" charset="0"/>
              </a:rPr>
              <a:t>Blood-Brain Barrier (BBB)</a:t>
            </a:r>
            <a:r>
              <a:rPr lang="en-ZA" sz="1700" dirty="0">
                <a:solidFill>
                  <a:schemeClr val="bg1"/>
                </a:solidFill>
                <a:latin typeface="Times New Roman" panose="02020603050405020304" pitchFamily="18" charset="0"/>
                <a:cs typeface="Times New Roman" panose="02020603050405020304" pitchFamily="18" charset="0"/>
              </a:rPr>
              <a:t> impairment.</a:t>
            </a:r>
          </a:p>
          <a:p>
            <a:pPr lvl="1"/>
            <a:endParaRPr lang="en-ZA" sz="1700" dirty="0">
              <a:solidFill>
                <a:schemeClr val="bg1"/>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ZA" sz="1700" dirty="0">
                <a:solidFill>
                  <a:schemeClr val="bg1"/>
                </a:solidFill>
                <a:latin typeface="Times New Roman" panose="02020603050405020304" pitchFamily="18" charset="0"/>
                <a:cs typeface="Times New Roman" panose="02020603050405020304" pitchFamily="18" charset="0"/>
              </a:rPr>
              <a:t>BBB dysfunction allows </a:t>
            </a:r>
            <a:r>
              <a:rPr lang="en-ZA" sz="1700" b="1" dirty="0">
                <a:solidFill>
                  <a:schemeClr val="bg1"/>
                </a:solidFill>
                <a:latin typeface="Times New Roman" panose="02020603050405020304" pitchFamily="18" charset="0"/>
                <a:cs typeface="Times New Roman" panose="02020603050405020304" pitchFamily="18" charset="0"/>
              </a:rPr>
              <a:t>Peripheral Blood Leukocytes (PBL)</a:t>
            </a:r>
            <a:r>
              <a:rPr lang="en-ZA" sz="1700" dirty="0">
                <a:solidFill>
                  <a:schemeClr val="bg1"/>
                </a:solidFill>
                <a:latin typeface="Times New Roman" panose="02020603050405020304" pitchFamily="18" charset="0"/>
                <a:cs typeface="Times New Roman" panose="02020603050405020304" pitchFamily="18" charset="0"/>
              </a:rPr>
              <a:t> to enter the brain, increasing inflammation and worsening AD.</a:t>
            </a:r>
            <a:br>
              <a:rPr lang="en-ZA" sz="1700" dirty="0">
                <a:solidFill>
                  <a:schemeClr val="bg1"/>
                </a:solidFill>
                <a:latin typeface="Times New Roman" panose="02020603050405020304" pitchFamily="18" charset="0"/>
                <a:cs typeface="Times New Roman" panose="02020603050405020304" pitchFamily="18" charset="0"/>
              </a:rPr>
            </a:br>
            <a:r>
              <a:rPr lang="en-ZA" sz="1700" i="1" dirty="0">
                <a:solidFill>
                  <a:schemeClr val="bg1"/>
                </a:solidFill>
                <a:latin typeface="Times New Roman" panose="02020603050405020304" pitchFamily="18" charset="0"/>
                <a:cs typeface="Times New Roman" panose="02020603050405020304" pitchFamily="18" charset="0"/>
              </a:rPr>
              <a:t>(</a:t>
            </a:r>
            <a:r>
              <a:rPr lang="en-ZA" sz="1700" i="1" dirty="0" err="1">
                <a:solidFill>
                  <a:schemeClr val="bg1"/>
                </a:solidFill>
                <a:latin typeface="Times New Roman" panose="02020603050405020304" pitchFamily="18" charset="0"/>
                <a:cs typeface="Times New Roman" panose="02020603050405020304" pitchFamily="18" charset="0"/>
              </a:rPr>
              <a:t>Sochocka</a:t>
            </a:r>
            <a:r>
              <a:rPr lang="en-ZA" sz="1700" i="1" dirty="0">
                <a:solidFill>
                  <a:schemeClr val="bg1"/>
                </a:solidFill>
                <a:latin typeface="Times New Roman" panose="02020603050405020304" pitchFamily="18" charset="0"/>
                <a:cs typeface="Times New Roman" panose="02020603050405020304" pitchFamily="18" charset="0"/>
              </a:rPr>
              <a:t> et al., 2017)</a:t>
            </a:r>
            <a:endParaRPr lang="en-ZA" sz="1700" dirty="0">
              <a:solidFill>
                <a:schemeClr val="bg1"/>
              </a:solidFill>
              <a:latin typeface="Times New Roman" panose="02020603050405020304" pitchFamily="18" charset="0"/>
              <a:cs typeface="Times New Roman" panose="02020603050405020304" pitchFamily="18" charset="0"/>
            </a:endParaRPr>
          </a:p>
          <a:p>
            <a:pPr lvl="1"/>
            <a:endParaRPr lang="en-ZA" dirty="0">
              <a:solidFill>
                <a:schemeClr val="bg1"/>
              </a:solidFill>
              <a:latin typeface="Times New Roman" panose="02020603050405020304" pitchFamily="18" charset="0"/>
              <a:cs typeface="Times New Roman" panose="02020603050405020304" pitchFamily="18" charset="0"/>
            </a:endParaRPr>
          </a:p>
          <a:p>
            <a:pPr>
              <a:lnSpc>
                <a:spcPct val="90000"/>
              </a:lnSpc>
              <a:spcAft>
                <a:spcPts val="600"/>
              </a:spcAft>
            </a:pPr>
            <a:endParaRPr lang="en-US" sz="1600" i="1" dirty="0">
              <a:solidFill>
                <a:schemeClr val="bg1"/>
              </a:solidFill>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endParaRPr lang="en-US" sz="1600" i="1" dirty="0">
              <a:solidFill>
                <a:schemeClr val="bg1"/>
              </a:solidFill>
              <a:latin typeface="Times New Roman" panose="02020603050405020304" pitchFamily="18" charset="0"/>
              <a:cs typeface="Times New Roman" panose="02020603050405020304" pitchFamily="18" charset="0"/>
            </a:endParaRPr>
          </a:p>
          <a:p>
            <a:pPr lvl="1" indent="-228600">
              <a:lnSpc>
                <a:spcPct val="90000"/>
              </a:lnSpc>
              <a:spcAft>
                <a:spcPts val="600"/>
              </a:spcAft>
              <a:buFont typeface="Arial" panose="020B0604020202020204" pitchFamily="34" charset="0"/>
              <a:buChar char="•"/>
            </a:pPr>
            <a:endParaRPr lang="en-US" sz="700" i="1" dirty="0">
              <a:solidFill>
                <a:schemeClr val="bg1"/>
              </a:solidFill>
            </a:endParaRPr>
          </a:p>
        </p:txBody>
      </p:sp>
    </p:spTree>
    <p:extLst>
      <p:ext uri="{BB962C8B-B14F-4D97-AF65-F5344CB8AC3E}">
        <p14:creationId xmlns:p14="http://schemas.microsoft.com/office/powerpoint/2010/main" val="3094364776"/>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1A9F7B4E-B03D-4F64-BE33-00D074458D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DD316F7-30F5-C255-E81B-C64872F00178}"/>
              </a:ext>
            </a:extLst>
          </p:cNvPr>
          <p:cNvPicPr>
            <a:picLocks noChangeAspect="1"/>
          </p:cNvPicPr>
          <p:nvPr/>
        </p:nvPicPr>
        <p:blipFill rotWithShape="1">
          <a:blip r:embed="rId2">
            <a:alphaModFix amt="40000"/>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16821"/>
          <a:stretch/>
        </p:blipFill>
        <p:spPr>
          <a:xfrm>
            <a:off x="-3027" y="576775"/>
            <a:ext cx="12191979" cy="5704449"/>
          </a:xfrm>
          <a:prstGeom prst="rect">
            <a:avLst/>
          </a:prstGeom>
        </p:spPr>
      </p:pic>
      <p:sp>
        <p:nvSpPr>
          <p:cNvPr id="6" name="TextBox 5">
            <a:extLst>
              <a:ext uri="{FF2B5EF4-FFF2-40B4-BE49-F238E27FC236}">
                <a16:creationId xmlns:a16="http://schemas.microsoft.com/office/drawing/2014/main" id="{E8E0E165-A7E1-E549-A4DD-3B633F859B1D}"/>
              </a:ext>
            </a:extLst>
          </p:cNvPr>
          <p:cNvSpPr txBox="1"/>
          <p:nvPr/>
        </p:nvSpPr>
        <p:spPr>
          <a:xfrm>
            <a:off x="701722" y="917343"/>
            <a:ext cx="10515600" cy="703067"/>
          </a:xfrm>
          <a:prstGeom prst="rect">
            <a:avLst/>
          </a:prstGeom>
        </p:spPr>
        <p:txBody>
          <a:bodyPr vert="horz" lIns="91440" tIns="45720" rIns="91440" bIns="45720" rtlCol="0" anchor="ctr">
            <a:normAutofit fontScale="70000" lnSpcReduction="20000"/>
          </a:bodyPr>
          <a:lstStyle/>
          <a:p>
            <a:pPr>
              <a:lnSpc>
                <a:spcPct val="90000"/>
              </a:lnSpc>
              <a:spcBef>
                <a:spcPct val="0"/>
              </a:spcBef>
              <a:spcAft>
                <a:spcPts val="600"/>
              </a:spcAft>
            </a:pPr>
            <a:r>
              <a:rPr lang="en-ZA" sz="5400" b="1" dirty="0">
                <a:solidFill>
                  <a:schemeClr val="bg1"/>
                </a:solidFill>
                <a:latin typeface="Times New Roman" panose="02020603050405020304" pitchFamily="18" charset="0"/>
                <a:cs typeface="Times New Roman" panose="02020603050405020304" pitchFamily="18" charset="0"/>
              </a:rPr>
              <a:t>PATHOGENESIS &amp; SIGNS AND SYMPTOMS </a:t>
            </a:r>
          </a:p>
          <a:p>
            <a:pPr>
              <a:lnSpc>
                <a:spcPct val="90000"/>
              </a:lnSpc>
              <a:spcBef>
                <a:spcPct val="0"/>
              </a:spcBef>
              <a:spcAft>
                <a:spcPts val="600"/>
              </a:spcAft>
            </a:pPr>
            <a:endParaRPr lang="en-US" sz="5400" b="1" dirty="0">
              <a:solidFill>
                <a:schemeClr val="bg1"/>
              </a:solidFill>
              <a:latin typeface="+mj-lt"/>
              <a:ea typeface="+mj-ea"/>
              <a:cs typeface="+mj-cs"/>
            </a:endParaRPr>
          </a:p>
        </p:txBody>
      </p:sp>
      <p:sp>
        <p:nvSpPr>
          <p:cNvPr id="24" name="sketchy line">
            <a:extLst>
              <a:ext uri="{FF2B5EF4-FFF2-40B4-BE49-F238E27FC236}">
                <a16:creationId xmlns:a16="http://schemas.microsoft.com/office/drawing/2014/main" id="{7E2BE7F7-CA89-4002-ACCE-A478AEA24F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4399" y="1681544"/>
            <a:ext cx="9692640" cy="18288"/>
          </a:xfrm>
          <a:custGeom>
            <a:avLst/>
            <a:gdLst>
              <a:gd name="connsiteX0" fmla="*/ 0 w 9692640"/>
              <a:gd name="connsiteY0" fmla="*/ 0 h 18288"/>
              <a:gd name="connsiteX1" fmla="*/ 401552 w 9692640"/>
              <a:gd name="connsiteY1" fmla="*/ 0 h 18288"/>
              <a:gd name="connsiteX2" fmla="*/ 996957 w 9692640"/>
              <a:gd name="connsiteY2" fmla="*/ 0 h 18288"/>
              <a:gd name="connsiteX3" fmla="*/ 1398509 w 9692640"/>
              <a:gd name="connsiteY3" fmla="*/ 0 h 18288"/>
              <a:gd name="connsiteX4" fmla="*/ 2090841 w 9692640"/>
              <a:gd name="connsiteY4" fmla="*/ 0 h 18288"/>
              <a:gd name="connsiteX5" fmla="*/ 2686246 w 9692640"/>
              <a:gd name="connsiteY5" fmla="*/ 0 h 18288"/>
              <a:gd name="connsiteX6" fmla="*/ 3475504 w 9692640"/>
              <a:gd name="connsiteY6" fmla="*/ 0 h 18288"/>
              <a:gd name="connsiteX7" fmla="*/ 4361688 w 9692640"/>
              <a:gd name="connsiteY7" fmla="*/ 0 h 18288"/>
              <a:gd name="connsiteX8" fmla="*/ 5054019 w 9692640"/>
              <a:gd name="connsiteY8" fmla="*/ 0 h 18288"/>
              <a:gd name="connsiteX9" fmla="*/ 5940204 w 9692640"/>
              <a:gd name="connsiteY9" fmla="*/ 0 h 18288"/>
              <a:gd name="connsiteX10" fmla="*/ 6632535 w 9692640"/>
              <a:gd name="connsiteY10" fmla="*/ 0 h 18288"/>
              <a:gd name="connsiteX11" fmla="*/ 7034087 w 9692640"/>
              <a:gd name="connsiteY11" fmla="*/ 0 h 18288"/>
              <a:gd name="connsiteX12" fmla="*/ 7532566 w 9692640"/>
              <a:gd name="connsiteY12" fmla="*/ 0 h 18288"/>
              <a:gd name="connsiteX13" fmla="*/ 8418750 w 9692640"/>
              <a:gd name="connsiteY13" fmla="*/ 0 h 18288"/>
              <a:gd name="connsiteX14" fmla="*/ 9692640 w 9692640"/>
              <a:gd name="connsiteY14" fmla="*/ 0 h 18288"/>
              <a:gd name="connsiteX15" fmla="*/ 9692640 w 9692640"/>
              <a:gd name="connsiteY15" fmla="*/ 18288 h 18288"/>
              <a:gd name="connsiteX16" fmla="*/ 9000309 w 9692640"/>
              <a:gd name="connsiteY16" fmla="*/ 18288 h 18288"/>
              <a:gd name="connsiteX17" fmla="*/ 8307977 w 9692640"/>
              <a:gd name="connsiteY17" fmla="*/ 18288 h 18288"/>
              <a:gd name="connsiteX18" fmla="*/ 7712572 w 9692640"/>
              <a:gd name="connsiteY18" fmla="*/ 18288 h 18288"/>
              <a:gd name="connsiteX19" fmla="*/ 7214093 w 9692640"/>
              <a:gd name="connsiteY19" fmla="*/ 18288 h 18288"/>
              <a:gd name="connsiteX20" fmla="*/ 6327909 w 9692640"/>
              <a:gd name="connsiteY20" fmla="*/ 18288 h 18288"/>
              <a:gd name="connsiteX21" fmla="*/ 5635578 w 9692640"/>
              <a:gd name="connsiteY21" fmla="*/ 18288 h 18288"/>
              <a:gd name="connsiteX22" fmla="*/ 4846320 w 9692640"/>
              <a:gd name="connsiteY22" fmla="*/ 18288 h 18288"/>
              <a:gd name="connsiteX23" fmla="*/ 4444768 w 9692640"/>
              <a:gd name="connsiteY23" fmla="*/ 18288 h 18288"/>
              <a:gd name="connsiteX24" fmla="*/ 3946289 w 9692640"/>
              <a:gd name="connsiteY24" fmla="*/ 18288 h 18288"/>
              <a:gd name="connsiteX25" fmla="*/ 3253958 w 9692640"/>
              <a:gd name="connsiteY25" fmla="*/ 18288 h 18288"/>
              <a:gd name="connsiteX26" fmla="*/ 2464700 w 9692640"/>
              <a:gd name="connsiteY26" fmla="*/ 18288 h 18288"/>
              <a:gd name="connsiteX27" fmla="*/ 2063148 w 9692640"/>
              <a:gd name="connsiteY27" fmla="*/ 18288 h 18288"/>
              <a:gd name="connsiteX28" fmla="*/ 1661595 w 9692640"/>
              <a:gd name="connsiteY28" fmla="*/ 18288 h 18288"/>
              <a:gd name="connsiteX29" fmla="*/ 969264 w 9692640"/>
              <a:gd name="connsiteY29" fmla="*/ 18288 h 18288"/>
              <a:gd name="connsiteX30" fmla="*/ 0 w 9692640"/>
              <a:gd name="connsiteY30" fmla="*/ 18288 h 18288"/>
              <a:gd name="connsiteX31" fmla="*/ 0 w 9692640"/>
              <a:gd name="connsiteY3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692640" h="18288" fill="none" extrusionOk="0">
                <a:moveTo>
                  <a:pt x="0" y="0"/>
                </a:moveTo>
                <a:cubicBezTo>
                  <a:pt x="142992" y="4732"/>
                  <a:pt x="265909" y="-3365"/>
                  <a:pt x="401552" y="0"/>
                </a:cubicBezTo>
                <a:cubicBezTo>
                  <a:pt x="537195" y="3365"/>
                  <a:pt x="738153" y="6482"/>
                  <a:pt x="996957" y="0"/>
                </a:cubicBezTo>
                <a:cubicBezTo>
                  <a:pt x="1255762" y="-6482"/>
                  <a:pt x="1280511" y="12509"/>
                  <a:pt x="1398509" y="0"/>
                </a:cubicBezTo>
                <a:cubicBezTo>
                  <a:pt x="1516507" y="-12509"/>
                  <a:pt x="1782573" y="-31523"/>
                  <a:pt x="2090841" y="0"/>
                </a:cubicBezTo>
                <a:cubicBezTo>
                  <a:pt x="2399109" y="31523"/>
                  <a:pt x="2488380" y="26286"/>
                  <a:pt x="2686246" y="0"/>
                </a:cubicBezTo>
                <a:cubicBezTo>
                  <a:pt x="2884112" y="-26286"/>
                  <a:pt x="3186024" y="-14734"/>
                  <a:pt x="3475504" y="0"/>
                </a:cubicBezTo>
                <a:cubicBezTo>
                  <a:pt x="3764984" y="14734"/>
                  <a:pt x="4053017" y="43292"/>
                  <a:pt x="4361688" y="0"/>
                </a:cubicBezTo>
                <a:cubicBezTo>
                  <a:pt x="4670359" y="-43292"/>
                  <a:pt x="4736164" y="-729"/>
                  <a:pt x="5054019" y="0"/>
                </a:cubicBezTo>
                <a:cubicBezTo>
                  <a:pt x="5371874" y="729"/>
                  <a:pt x="5543528" y="-22963"/>
                  <a:pt x="5940204" y="0"/>
                </a:cubicBezTo>
                <a:cubicBezTo>
                  <a:pt x="6336881" y="22963"/>
                  <a:pt x="6423838" y="6469"/>
                  <a:pt x="6632535" y="0"/>
                </a:cubicBezTo>
                <a:cubicBezTo>
                  <a:pt x="6841232" y="-6469"/>
                  <a:pt x="6852819" y="17036"/>
                  <a:pt x="7034087" y="0"/>
                </a:cubicBezTo>
                <a:cubicBezTo>
                  <a:pt x="7215355" y="-17036"/>
                  <a:pt x="7313136" y="11151"/>
                  <a:pt x="7532566" y="0"/>
                </a:cubicBezTo>
                <a:cubicBezTo>
                  <a:pt x="7751996" y="-11151"/>
                  <a:pt x="8015001" y="25614"/>
                  <a:pt x="8418750" y="0"/>
                </a:cubicBezTo>
                <a:cubicBezTo>
                  <a:pt x="8822499" y="-25614"/>
                  <a:pt x="9163239" y="48603"/>
                  <a:pt x="9692640" y="0"/>
                </a:cubicBezTo>
                <a:cubicBezTo>
                  <a:pt x="9691955" y="4437"/>
                  <a:pt x="9693170" y="10717"/>
                  <a:pt x="9692640" y="18288"/>
                </a:cubicBezTo>
                <a:cubicBezTo>
                  <a:pt x="9545125" y="42172"/>
                  <a:pt x="9164259" y="6706"/>
                  <a:pt x="9000309" y="18288"/>
                </a:cubicBezTo>
                <a:cubicBezTo>
                  <a:pt x="8836359" y="29870"/>
                  <a:pt x="8521035" y="-14108"/>
                  <a:pt x="8307977" y="18288"/>
                </a:cubicBezTo>
                <a:cubicBezTo>
                  <a:pt x="8094919" y="50684"/>
                  <a:pt x="7881757" y="11235"/>
                  <a:pt x="7712572" y="18288"/>
                </a:cubicBezTo>
                <a:cubicBezTo>
                  <a:pt x="7543387" y="25341"/>
                  <a:pt x="7358861" y="20625"/>
                  <a:pt x="7214093" y="18288"/>
                </a:cubicBezTo>
                <a:cubicBezTo>
                  <a:pt x="7069325" y="15951"/>
                  <a:pt x="6523705" y="52160"/>
                  <a:pt x="6327909" y="18288"/>
                </a:cubicBezTo>
                <a:cubicBezTo>
                  <a:pt x="6132113" y="-15584"/>
                  <a:pt x="5923847" y="21204"/>
                  <a:pt x="5635578" y="18288"/>
                </a:cubicBezTo>
                <a:cubicBezTo>
                  <a:pt x="5347309" y="15372"/>
                  <a:pt x="5114749" y="50642"/>
                  <a:pt x="4846320" y="18288"/>
                </a:cubicBezTo>
                <a:cubicBezTo>
                  <a:pt x="4577891" y="-14066"/>
                  <a:pt x="4576701" y="1487"/>
                  <a:pt x="4444768" y="18288"/>
                </a:cubicBezTo>
                <a:cubicBezTo>
                  <a:pt x="4312835" y="35089"/>
                  <a:pt x="4112575" y="15158"/>
                  <a:pt x="3946289" y="18288"/>
                </a:cubicBezTo>
                <a:cubicBezTo>
                  <a:pt x="3780003" y="21418"/>
                  <a:pt x="3396009" y="18797"/>
                  <a:pt x="3253958" y="18288"/>
                </a:cubicBezTo>
                <a:cubicBezTo>
                  <a:pt x="3111907" y="17779"/>
                  <a:pt x="2760272" y="57223"/>
                  <a:pt x="2464700" y="18288"/>
                </a:cubicBezTo>
                <a:cubicBezTo>
                  <a:pt x="2169128" y="-20647"/>
                  <a:pt x="2232262" y="7960"/>
                  <a:pt x="2063148" y="18288"/>
                </a:cubicBezTo>
                <a:cubicBezTo>
                  <a:pt x="1894034" y="28616"/>
                  <a:pt x="1799338" y="3019"/>
                  <a:pt x="1661595" y="18288"/>
                </a:cubicBezTo>
                <a:cubicBezTo>
                  <a:pt x="1523852" y="33557"/>
                  <a:pt x="1113928" y="-4352"/>
                  <a:pt x="969264" y="18288"/>
                </a:cubicBezTo>
                <a:cubicBezTo>
                  <a:pt x="824600" y="40928"/>
                  <a:pt x="356149" y="-3128"/>
                  <a:pt x="0" y="18288"/>
                </a:cubicBezTo>
                <a:cubicBezTo>
                  <a:pt x="-540" y="12521"/>
                  <a:pt x="894" y="7749"/>
                  <a:pt x="0" y="0"/>
                </a:cubicBezTo>
                <a:close/>
              </a:path>
              <a:path w="9692640" h="18288" stroke="0" extrusionOk="0">
                <a:moveTo>
                  <a:pt x="0" y="0"/>
                </a:moveTo>
                <a:cubicBezTo>
                  <a:pt x="162642" y="3864"/>
                  <a:pt x="346119" y="-18364"/>
                  <a:pt x="498479" y="0"/>
                </a:cubicBezTo>
                <a:cubicBezTo>
                  <a:pt x="650839" y="18364"/>
                  <a:pt x="712065" y="-9389"/>
                  <a:pt x="900031" y="0"/>
                </a:cubicBezTo>
                <a:cubicBezTo>
                  <a:pt x="1087997" y="9389"/>
                  <a:pt x="1177291" y="3685"/>
                  <a:pt x="1398509" y="0"/>
                </a:cubicBezTo>
                <a:cubicBezTo>
                  <a:pt x="1619727" y="-3685"/>
                  <a:pt x="1874008" y="-8897"/>
                  <a:pt x="2090841" y="0"/>
                </a:cubicBezTo>
                <a:cubicBezTo>
                  <a:pt x="2307674" y="8897"/>
                  <a:pt x="2573432" y="-313"/>
                  <a:pt x="2880099" y="0"/>
                </a:cubicBezTo>
                <a:cubicBezTo>
                  <a:pt x="3186766" y="313"/>
                  <a:pt x="3422577" y="10664"/>
                  <a:pt x="3766283" y="0"/>
                </a:cubicBezTo>
                <a:cubicBezTo>
                  <a:pt x="4109989" y="-10664"/>
                  <a:pt x="4342683" y="-32873"/>
                  <a:pt x="4652467" y="0"/>
                </a:cubicBezTo>
                <a:cubicBezTo>
                  <a:pt x="4962251" y="32873"/>
                  <a:pt x="5122120" y="29155"/>
                  <a:pt x="5247872" y="0"/>
                </a:cubicBezTo>
                <a:cubicBezTo>
                  <a:pt x="5373625" y="-29155"/>
                  <a:pt x="5749491" y="1706"/>
                  <a:pt x="6037130" y="0"/>
                </a:cubicBezTo>
                <a:cubicBezTo>
                  <a:pt x="6324769" y="-1706"/>
                  <a:pt x="6531407" y="1172"/>
                  <a:pt x="6729461" y="0"/>
                </a:cubicBezTo>
                <a:cubicBezTo>
                  <a:pt x="6927515" y="-1172"/>
                  <a:pt x="7096794" y="-1520"/>
                  <a:pt x="7324867" y="0"/>
                </a:cubicBezTo>
                <a:cubicBezTo>
                  <a:pt x="7552940" y="1520"/>
                  <a:pt x="7878827" y="-17110"/>
                  <a:pt x="8114124" y="0"/>
                </a:cubicBezTo>
                <a:cubicBezTo>
                  <a:pt x="8349421" y="17110"/>
                  <a:pt x="8334208" y="15114"/>
                  <a:pt x="8515677" y="0"/>
                </a:cubicBezTo>
                <a:cubicBezTo>
                  <a:pt x="8697146" y="-15114"/>
                  <a:pt x="9236164" y="22466"/>
                  <a:pt x="9692640" y="0"/>
                </a:cubicBezTo>
                <a:cubicBezTo>
                  <a:pt x="9692735" y="8251"/>
                  <a:pt x="9692514" y="12333"/>
                  <a:pt x="9692640" y="18288"/>
                </a:cubicBezTo>
                <a:cubicBezTo>
                  <a:pt x="9410102" y="47398"/>
                  <a:pt x="9172773" y="7109"/>
                  <a:pt x="9000309" y="18288"/>
                </a:cubicBezTo>
                <a:cubicBezTo>
                  <a:pt x="8827845" y="29467"/>
                  <a:pt x="8713608" y="28372"/>
                  <a:pt x="8501830" y="18288"/>
                </a:cubicBezTo>
                <a:cubicBezTo>
                  <a:pt x="8290052" y="8204"/>
                  <a:pt x="7893416" y="3561"/>
                  <a:pt x="7712572" y="18288"/>
                </a:cubicBezTo>
                <a:cubicBezTo>
                  <a:pt x="7531728" y="33015"/>
                  <a:pt x="7480716" y="17052"/>
                  <a:pt x="7311020" y="18288"/>
                </a:cubicBezTo>
                <a:cubicBezTo>
                  <a:pt x="7141324" y="19524"/>
                  <a:pt x="6962706" y="15975"/>
                  <a:pt x="6618688" y="18288"/>
                </a:cubicBezTo>
                <a:cubicBezTo>
                  <a:pt x="6274670" y="20601"/>
                  <a:pt x="6230664" y="-1692"/>
                  <a:pt x="6120210" y="18288"/>
                </a:cubicBezTo>
                <a:cubicBezTo>
                  <a:pt x="6009756" y="38268"/>
                  <a:pt x="5442516" y="28115"/>
                  <a:pt x="5234026" y="18288"/>
                </a:cubicBezTo>
                <a:cubicBezTo>
                  <a:pt x="5025536" y="8461"/>
                  <a:pt x="4953693" y="18182"/>
                  <a:pt x="4832473" y="18288"/>
                </a:cubicBezTo>
                <a:cubicBezTo>
                  <a:pt x="4711253" y="18394"/>
                  <a:pt x="4414565" y="-11251"/>
                  <a:pt x="4140142" y="18288"/>
                </a:cubicBezTo>
                <a:cubicBezTo>
                  <a:pt x="3865719" y="47827"/>
                  <a:pt x="3819081" y="16772"/>
                  <a:pt x="3738590" y="18288"/>
                </a:cubicBezTo>
                <a:cubicBezTo>
                  <a:pt x="3658099" y="19804"/>
                  <a:pt x="3427576" y="1385"/>
                  <a:pt x="3240111" y="18288"/>
                </a:cubicBezTo>
                <a:cubicBezTo>
                  <a:pt x="3052646" y="35191"/>
                  <a:pt x="2749652" y="-13914"/>
                  <a:pt x="2450853" y="18288"/>
                </a:cubicBezTo>
                <a:cubicBezTo>
                  <a:pt x="2152054" y="50490"/>
                  <a:pt x="1928331" y="61101"/>
                  <a:pt x="1564669" y="18288"/>
                </a:cubicBezTo>
                <a:cubicBezTo>
                  <a:pt x="1201007" y="-24525"/>
                  <a:pt x="1217828" y="-275"/>
                  <a:pt x="1066190" y="18288"/>
                </a:cubicBezTo>
                <a:cubicBezTo>
                  <a:pt x="914552" y="36851"/>
                  <a:pt x="418290" y="-14785"/>
                  <a:pt x="0" y="18288"/>
                </a:cubicBezTo>
                <a:cubicBezTo>
                  <a:pt x="641" y="14236"/>
                  <a:pt x="889" y="755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77A1358E-390E-F4A5-3C17-DA8CE51A7E87}"/>
              </a:ext>
            </a:extLst>
          </p:cNvPr>
          <p:cNvSpPr txBox="1"/>
          <p:nvPr/>
        </p:nvSpPr>
        <p:spPr>
          <a:xfrm>
            <a:off x="171348" y="1822100"/>
            <a:ext cx="11846256" cy="4835256"/>
          </a:xfrm>
          <a:prstGeom prst="rect">
            <a:avLst/>
          </a:prstGeom>
        </p:spPr>
        <p:txBody>
          <a:bodyPr vert="horz" lIns="91440" tIns="45720" rIns="91440" bIns="45720" numCol="2" rtlCol="0">
            <a:normAutofit/>
          </a:bodyPr>
          <a:lstStyle/>
          <a:p>
            <a:pPr>
              <a:buFont typeface="Arial" panose="020B0604020202020204" pitchFamily="34" charset="0"/>
              <a:buChar char="•"/>
            </a:pPr>
            <a:r>
              <a:rPr lang="en-GB" sz="1600" dirty="0">
                <a:solidFill>
                  <a:schemeClr val="bg1"/>
                </a:solidFill>
                <a:latin typeface="Times New Roman" panose="02020603050405020304" pitchFamily="18" charset="0"/>
                <a:cs typeface="Times New Roman" panose="02020603050405020304" pitchFamily="18" charset="0"/>
              </a:rPr>
              <a:t>The </a:t>
            </a:r>
            <a:r>
              <a:rPr lang="en-GB" sz="1600" b="1" dirty="0">
                <a:solidFill>
                  <a:schemeClr val="bg1"/>
                </a:solidFill>
                <a:latin typeface="Times New Roman" panose="02020603050405020304" pitchFamily="18" charset="0"/>
                <a:cs typeface="Times New Roman" panose="02020603050405020304" pitchFamily="18" charset="0"/>
              </a:rPr>
              <a:t>exact pathogenesis</a:t>
            </a:r>
            <a:r>
              <a:rPr lang="en-GB" sz="1600" dirty="0">
                <a:solidFill>
                  <a:schemeClr val="bg1"/>
                </a:solidFill>
                <a:latin typeface="Times New Roman" panose="02020603050405020304" pitchFamily="18" charset="0"/>
                <a:cs typeface="Times New Roman" panose="02020603050405020304" pitchFamily="18" charset="0"/>
              </a:rPr>
              <a:t> of AD is still under investigation.</a:t>
            </a:r>
          </a:p>
          <a:p>
            <a:pPr>
              <a:buFont typeface="Arial" panose="020B0604020202020204" pitchFamily="34" charset="0"/>
              <a:buChar char="•"/>
            </a:pPr>
            <a:endParaRPr lang="en-GB" sz="1600" dirty="0">
              <a:solidFill>
                <a:schemeClr val="bg1"/>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GB" sz="1600" b="1" dirty="0">
                <a:solidFill>
                  <a:schemeClr val="bg1"/>
                </a:solidFill>
                <a:latin typeface="Times New Roman" panose="02020603050405020304" pitchFamily="18" charset="0"/>
                <a:cs typeface="Times New Roman" panose="02020603050405020304" pitchFamily="18" charset="0"/>
              </a:rPr>
              <a:t>Early-Onset AD (EOAD)</a:t>
            </a:r>
            <a:r>
              <a:rPr lang="en-GB" sz="1600" dirty="0">
                <a:solidFill>
                  <a:schemeClr val="bg1"/>
                </a:solidFill>
                <a:latin typeface="Times New Roman" panose="02020603050405020304" pitchFamily="18" charset="0"/>
                <a:cs typeface="Times New Roman" panose="02020603050405020304" pitchFamily="18" charset="0"/>
              </a:rPr>
              <a:t> is associated with the </a:t>
            </a:r>
            <a:r>
              <a:rPr lang="en-GB" sz="1600" b="1" dirty="0">
                <a:solidFill>
                  <a:schemeClr val="bg1"/>
                </a:solidFill>
                <a:latin typeface="Times New Roman" panose="02020603050405020304" pitchFamily="18" charset="0"/>
                <a:cs typeface="Times New Roman" panose="02020603050405020304" pitchFamily="18" charset="0"/>
              </a:rPr>
              <a:t>accumulation of amyloid-beta (Aβ)</a:t>
            </a:r>
            <a:r>
              <a:rPr lang="en-GB" sz="1600" dirty="0">
                <a:solidFill>
                  <a:schemeClr val="bg1"/>
                </a:solidFill>
                <a:latin typeface="Times New Roman" panose="02020603050405020304" pitchFamily="18" charset="0"/>
                <a:cs typeface="Times New Roman" panose="02020603050405020304" pitchFamily="18" charset="0"/>
              </a:rPr>
              <a:t>.</a:t>
            </a:r>
            <a:br>
              <a:rPr lang="en-GB" sz="1600" dirty="0">
                <a:solidFill>
                  <a:schemeClr val="bg1"/>
                </a:solidFill>
                <a:latin typeface="Times New Roman" panose="02020603050405020304" pitchFamily="18" charset="0"/>
                <a:cs typeface="Times New Roman" panose="02020603050405020304" pitchFamily="18" charset="0"/>
              </a:rPr>
            </a:br>
            <a:r>
              <a:rPr lang="en-GB" sz="1600" i="1" dirty="0">
                <a:solidFill>
                  <a:schemeClr val="bg1"/>
                </a:solidFill>
                <a:latin typeface="Times New Roman" panose="02020603050405020304" pitchFamily="18" charset="0"/>
                <a:cs typeface="Times New Roman" panose="02020603050405020304" pitchFamily="18" charset="0"/>
              </a:rPr>
              <a:t>(Sheppard &amp; Coleman, 2020)</a:t>
            </a:r>
          </a:p>
          <a:p>
            <a:endParaRPr lang="en-GB" sz="1600" dirty="0">
              <a:solidFill>
                <a:schemeClr val="bg1"/>
              </a:solidFill>
              <a:latin typeface="Times New Roman" panose="02020603050405020304" pitchFamily="18" charset="0"/>
              <a:cs typeface="Times New Roman" panose="02020603050405020304" pitchFamily="18" charset="0"/>
            </a:endParaRPr>
          </a:p>
          <a:p>
            <a:r>
              <a:rPr lang="en-GB" sz="1600" b="1" dirty="0">
                <a:solidFill>
                  <a:schemeClr val="bg1"/>
                </a:solidFill>
                <a:latin typeface="Times New Roman" panose="02020603050405020304" pitchFamily="18" charset="0"/>
                <a:cs typeface="Times New Roman" panose="02020603050405020304" pitchFamily="18" charset="0"/>
              </a:rPr>
              <a:t>Effects of Aβ Build-up:</a:t>
            </a:r>
          </a:p>
          <a:p>
            <a:pPr>
              <a:buFont typeface="Arial" panose="020B0604020202020204" pitchFamily="34" charset="0"/>
              <a:buChar char="•"/>
            </a:pPr>
            <a:r>
              <a:rPr lang="en-GB" sz="1600" dirty="0">
                <a:solidFill>
                  <a:schemeClr val="bg1"/>
                </a:solidFill>
                <a:latin typeface="Times New Roman" panose="02020603050405020304" pitchFamily="18" charset="0"/>
                <a:cs typeface="Times New Roman" panose="02020603050405020304" pitchFamily="18" charset="0"/>
              </a:rPr>
              <a:t>Leads to </a:t>
            </a:r>
            <a:r>
              <a:rPr lang="en-GB" sz="1600" b="1" dirty="0">
                <a:solidFill>
                  <a:schemeClr val="bg1"/>
                </a:solidFill>
                <a:latin typeface="Times New Roman" panose="02020603050405020304" pitchFamily="18" charset="0"/>
                <a:cs typeface="Times New Roman" panose="02020603050405020304" pitchFamily="18" charset="0"/>
              </a:rPr>
              <a:t>neuronal death</a:t>
            </a:r>
            <a:r>
              <a:rPr lang="en-GB" sz="1600" dirty="0">
                <a:solidFill>
                  <a:schemeClr val="bg1"/>
                </a:solidFill>
                <a:latin typeface="Times New Roman" panose="02020603050405020304" pitchFamily="18" charset="0"/>
                <a:cs typeface="Times New Roman" panose="02020603050405020304" pitchFamily="18" charset="0"/>
              </a:rPr>
              <a:t> via:</a:t>
            </a:r>
          </a:p>
          <a:p>
            <a:pPr marL="742950" lvl="1" indent="-285750">
              <a:buFont typeface="Arial" panose="020B0604020202020204" pitchFamily="34" charset="0"/>
              <a:buChar char="•"/>
            </a:pPr>
            <a:r>
              <a:rPr lang="en-GB" sz="1600" b="1" dirty="0">
                <a:solidFill>
                  <a:schemeClr val="bg1"/>
                </a:solidFill>
                <a:latin typeface="Times New Roman" panose="02020603050405020304" pitchFamily="18" charset="0"/>
                <a:cs typeface="Times New Roman" panose="02020603050405020304" pitchFamily="18" charset="0"/>
              </a:rPr>
              <a:t>Ecotoxicity</a:t>
            </a:r>
            <a:endParaRPr lang="en-GB" sz="1600" dirty="0">
              <a:solidFill>
                <a:schemeClr val="bg1"/>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GB" sz="1600" b="1" dirty="0">
                <a:solidFill>
                  <a:schemeClr val="bg1"/>
                </a:solidFill>
                <a:latin typeface="Times New Roman" panose="02020603050405020304" pitchFamily="18" charset="0"/>
                <a:cs typeface="Times New Roman" panose="02020603050405020304" pitchFamily="18" charset="0"/>
              </a:rPr>
              <a:t>Mitochondrial dysfunction</a:t>
            </a:r>
            <a:endParaRPr lang="en-GB" sz="1600" dirty="0">
              <a:solidFill>
                <a:schemeClr val="bg1"/>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GB" sz="1600" b="1" dirty="0">
                <a:solidFill>
                  <a:schemeClr val="bg1"/>
                </a:solidFill>
                <a:latin typeface="Times New Roman" panose="02020603050405020304" pitchFamily="18" charset="0"/>
                <a:cs typeface="Times New Roman" panose="02020603050405020304" pitchFamily="18" charset="0"/>
              </a:rPr>
              <a:t>Synaptic disruption</a:t>
            </a:r>
          </a:p>
          <a:p>
            <a:pPr marL="742950" lvl="1" indent="-285750">
              <a:buFont typeface="Arial" panose="020B0604020202020204" pitchFamily="34" charset="0"/>
              <a:buChar char="•"/>
            </a:pPr>
            <a:endParaRPr lang="en-GB" sz="1600" dirty="0">
              <a:solidFill>
                <a:schemeClr val="bg1"/>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GB" sz="1600" b="1" dirty="0">
                <a:solidFill>
                  <a:schemeClr val="bg1"/>
                </a:solidFill>
                <a:latin typeface="Times New Roman" panose="02020603050405020304" pitchFamily="18" charset="0"/>
                <a:cs typeface="Times New Roman" panose="02020603050405020304" pitchFamily="18" charset="0"/>
              </a:rPr>
              <a:t>Reduction in synaptic proteins</a:t>
            </a:r>
            <a:r>
              <a:rPr lang="en-GB" sz="1600" dirty="0">
                <a:solidFill>
                  <a:schemeClr val="bg1"/>
                </a:solidFill>
                <a:latin typeface="Times New Roman" panose="02020603050405020304" pitchFamily="18" charset="0"/>
                <a:cs typeface="Times New Roman" panose="02020603050405020304" pitchFamily="18" charset="0"/>
              </a:rPr>
              <a:t> observed in AD patients.</a:t>
            </a:r>
            <a:br>
              <a:rPr lang="en-GB" sz="1600" dirty="0">
                <a:solidFill>
                  <a:schemeClr val="bg1"/>
                </a:solidFill>
                <a:latin typeface="Times New Roman" panose="02020603050405020304" pitchFamily="18" charset="0"/>
                <a:cs typeface="Times New Roman" panose="02020603050405020304" pitchFamily="18" charset="0"/>
              </a:rPr>
            </a:br>
            <a:r>
              <a:rPr lang="en-GB" sz="1600" i="1" dirty="0">
                <a:solidFill>
                  <a:schemeClr val="bg1"/>
                </a:solidFill>
                <a:latin typeface="Times New Roman" panose="02020603050405020304" pitchFamily="18" charset="0"/>
                <a:cs typeface="Times New Roman" panose="02020603050405020304" pitchFamily="18" charset="0"/>
              </a:rPr>
              <a:t>(Sheppard &amp; Coleman, 2020)</a:t>
            </a:r>
          </a:p>
          <a:p>
            <a:pPr>
              <a:buFont typeface="Arial" panose="020B0604020202020204" pitchFamily="34" charset="0"/>
              <a:buChar char="•"/>
            </a:pPr>
            <a:endParaRPr lang="en-GB" sz="1600" dirty="0">
              <a:solidFill>
                <a:schemeClr val="bg1"/>
              </a:solidFill>
              <a:latin typeface="Times New Roman" panose="02020603050405020304" pitchFamily="18" charset="0"/>
              <a:cs typeface="Times New Roman" panose="02020603050405020304" pitchFamily="18" charset="0"/>
            </a:endParaRPr>
          </a:p>
          <a:p>
            <a:r>
              <a:rPr lang="en-GB" b="1" dirty="0">
                <a:solidFill>
                  <a:schemeClr val="bg1"/>
                </a:solidFill>
                <a:latin typeface="Times New Roman" panose="02020603050405020304" pitchFamily="18" charset="0"/>
                <a:cs typeface="Times New Roman" panose="02020603050405020304" pitchFamily="18" charset="0"/>
              </a:rPr>
              <a:t>Role of Inflammation</a:t>
            </a:r>
            <a:r>
              <a:rPr lang="en-GB" sz="1600" b="1" dirty="0">
                <a:solidFill>
                  <a:schemeClr val="bg1"/>
                </a:solidFill>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GB" sz="1600" b="1" dirty="0">
                <a:solidFill>
                  <a:schemeClr val="bg1"/>
                </a:solidFill>
                <a:latin typeface="Times New Roman" panose="02020603050405020304" pitchFamily="18" charset="0"/>
                <a:cs typeface="Times New Roman" panose="02020603050405020304" pitchFamily="18" charset="0"/>
              </a:rPr>
              <a:t>Chronic elevation of inflammatory markers</a:t>
            </a:r>
            <a:r>
              <a:rPr lang="en-GB" sz="1600" dirty="0">
                <a:solidFill>
                  <a:schemeClr val="bg1"/>
                </a:solidFill>
                <a:latin typeface="Times New Roman" panose="02020603050405020304" pitchFamily="18" charset="0"/>
                <a:cs typeface="Times New Roman" panose="02020603050405020304" pitchFamily="18" charset="0"/>
              </a:rPr>
              <a:t> contributes to:</a:t>
            </a:r>
          </a:p>
          <a:p>
            <a:pPr marL="742950" lvl="1" indent="-285750">
              <a:buFont typeface="Arial" panose="020B0604020202020204" pitchFamily="34" charset="0"/>
              <a:buChar char="•"/>
            </a:pPr>
            <a:r>
              <a:rPr lang="en-GB" sz="1600" b="1" dirty="0">
                <a:solidFill>
                  <a:schemeClr val="bg1"/>
                </a:solidFill>
                <a:latin typeface="Times New Roman" panose="02020603050405020304" pitchFamily="18" charset="0"/>
                <a:cs typeface="Times New Roman" panose="02020603050405020304" pitchFamily="18" charset="0"/>
              </a:rPr>
              <a:t>Neurotoxicity</a:t>
            </a:r>
            <a:endParaRPr lang="en-GB" sz="1600" dirty="0">
              <a:solidFill>
                <a:schemeClr val="bg1"/>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GB" sz="1600" b="1" dirty="0">
                <a:solidFill>
                  <a:schemeClr val="bg1"/>
                </a:solidFill>
                <a:latin typeface="Times New Roman" panose="02020603050405020304" pitchFamily="18" charset="0"/>
                <a:cs typeface="Times New Roman" panose="02020603050405020304" pitchFamily="18" charset="0"/>
              </a:rPr>
              <a:t>Increased Aβ deposition</a:t>
            </a:r>
            <a:endParaRPr lang="en-GB" sz="1600" dirty="0">
              <a:solidFill>
                <a:schemeClr val="bg1"/>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GB" sz="1600" b="1" dirty="0">
                <a:solidFill>
                  <a:schemeClr val="bg1"/>
                </a:solidFill>
                <a:latin typeface="Times New Roman" panose="02020603050405020304" pitchFamily="18" charset="0"/>
                <a:cs typeface="Times New Roman" panose="02020603050405020304" pitchFamily="18" charset="0"/>
              </a:rPr>
              <a:t>Prolonged activation</a:t>
            </a:r>
            <a:r>
              <a:rPr lang="en-GB" sz="1600" dirty="0">
                <a:solidFill>
                  <a:schemeClr val="bg1"/>
                </a:solidFill>
                <a:latin typeface="Times New Roman" panose="02020603050405020304" pitchFamily="18" charset="0"/>
                <a:cs typeface="Times New Roman" panose="02020603050405020304" pitchFamily="18" charset="0"/>
              </a:rPr>
              <a:t> of:</a:t>
            </a:r>
          </a:p>
          <a:p>
            <a:pPr marL="742950" lvl="1" indent="-285750">
              <a:buFont typeface="Arial" panose="020B0604020202020204" pitchFamily="34" charset="0"/>
              <a:buChar char="•"/>
            </a:pPr>
            <a:r>
              <a:rPr lang="en-GB" sz="1600" b="1" dirty="0">
                <a:solidFill>
                  <a:schemeClr val="bg1"/>
                </a:solidFill>
                <a:latin typeface="Times New Roman" panose="02020603050405020304" pitchFamily="18" charset="0"/>
                <a:cs typeface="Times New Roman" panose="02020603050405020304" pitchFamily="18" charset="0"/>
              </a:rPr>
              <a:t>Microglia</a:t>
            </a:r>
            <a:endParaRPr lang="en-GB" sz="1600" dirty="0">
              <a:solidFill>
                <a:schemeClr val="bg1"/>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GB" sz="1600" b="1" dirty="0">
                <a:solidFill>
                  <a:schemeClr val="bg1"/>
                </a:solidFill>
                <a:latin typeface="Times New Roman" panose="02020603050405020304" pitchFamily="18" charset="0"/>
                <a:cs typeface="Times New Roman" panose="02020603050405020304" pitchFamily="18" charset="0"/>
              </a:rPr>
              <a:t>Astrocytes</a:t>
            </a:r>
            <a:endParaRPr lang="en-GB" sz="1600" dirty="0">
              <a:solidFill>
                <a:schemeClr val="bg1"/>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GB" sz="1600" dirty="0">
                <a:solidFill>
                  <a:schemeClr val="bg1"/>
                </a:solidFill>
                <a:latin typeface="Times New Roman" panose="02020603050405020304" pitchFamily="18" charset="0"/>
                <a:cs typeface="Times New Roman" panose="02020603050405020304" pitchFamily="18" charset="0"/>
              </a:rPr>
              <a:t>This prolonged activation causes </a:t>
            </a:r>
            <a:r>
              <a:rPr lang="en-GB" sz="1600" b="1" dirty="0">
                <a:solidFill>
                  <a:schemeClr val="bg1"/>
                </a:solidFill>
                <a:latin typeface="Times New Roman" panose="02020603050405020304" pitchFamily="18" charset="0"/>
                <a:cs typeface="Times New Roman" panose="02020603050405020304" pitchFamily="18" charset="0"/>
              </a:rPr>
              <a:t>brain degradation</a:t>
            </a:r>
            <a:r>
              <a:rPr lang="en-GB" sz="1600" dirty="0">
                <a:solidFill>
                  <a:schemeClr val="bg1"/>
                </a:solidFill>
                <a:latin typeface="Times New Roman" panose="02020603050405020304" pitchFamily="18" charset="0"/>
                <a:cs typeface="Times New Roman" panose="02020603050405020304" pitchFamily="18" charset="0"/>
              </a:rPr>
              <a:t>.</a:t>
            </a:r>
            <a:br>
              <a:rPr lang="en-GB" sz="1600" dirty="0">
                <a:solidFill>
                  <a:schemeClr val="bg1"/>
                </a:solidFill>
                <a:latin typeface="Times New Roman" panose="02020603050405020304" pitchFamily="18" charset="0"/>
                <a:cs typeface="Times New Roman" panose="02020603050405020304" pitchFamily="18" charset="0"/>
              </a:rPr>
            </a:br>
            <a:r>
              <a:rPr lang="en-GB" sz="1600" i="1" dirty="0">
                <a:solidFill>
                  <a:schemeClr val="bg1"/>
                </a:solidFill>
                <a:latin typeface="Times New Roman" panose="02020603050405020304" pitchFamily="18" charset="0"/>
                <a:cs typeface="Times New Roman" panose="02020603050405020304" pitchFamily="18" charset="0"/>
              </a:rPr>
              <a:t>(Sheppard &amp; Coleman, 2020)</a:t>
            </a:r>
            <a:endParaRPr lang="en-US" sz="700" i="1" dirty="0">
              <a:solidFill>
                <a:schemeClr val="bg1"/>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700" i="1" dirty="0">
              <a:solidFill>
                <a:schemeClr val="bg1"/>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700" i="1" dirty="0">
              <a:solidFill>
                <a:schemeClr val="bg1"/>
              </a:solidFill>
              <a:latin typeface="Times New Roman" panose="02020603050405020304" pitchFamily="18" charset="0"/>
              <a:cs typeface="Times New Roman" panose="02020603050405020304" pitchFamily="18" charset="0"/>
            </a:endParaRPr>
          </a:p>
          <a:p>
            <a:r>
              <a:rPr lang="en-US" sz="1600" b="1" dirty="0">
                <a:solidFill>
                  <a:schemeClr val="bg1"/>
                </a:solidFill>
                <a:latin typeface="Times New Roman" panose="02020603050405020304" pitchFamily="18" charset="0"/>
                <a:cs typeface="Times New Roman" panose="02020603050405020304" pitchFamily="18" charset="0"/>
              </a:rPr>
              <a:t>SIGNS AND SYMPTOMS </a:t>
            </a:r>
          </a:p>
          <a:p>
            <a:pPr marL="571500" lvl="1" indent="-342900">
              <a:lnSpc>
                <a:spcPct val="90000"/>
              </a:lnSpc>
              <a:spcAft>
                <a:spcPts val="600"/>
              </a:spcAft>
              <a:buFont typeface="Arial" panose="020B0604020202020204" pitchFamily="34" charset="0"/>
              <a:buChar char="•"/>
            </a:pPr>
            <a:r>
              <a:rPr lang="en-ZA" sz="16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Memory decline </a:t>
            </a:r>
          </a:p>
          <a:p>
            <a:pPr marL="571500" lvl="1" indent="-342900">
              <a:lnSpc>
                <a:spcPct val="90000"/>
              </a:lnSpc>
              <a:spcAft>
                <a:spcPts val="600"/>
              </a:spcAft>
              <a:buFont typeface="Arial" panose="020B0604020202020204" pitchFamily="34" charset="0"/>
              <a:buChar char="•"/>
            </a:pPr>
            <a:r>
              <a:rPr lang="en-ZA" sz="16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D</a:t>
            </a:r>
            <a:r>
              <a:rPr lang="en-ZA" sz="16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epression</a:t>
            </a:r>
          </a:p>
          <a:p>
            <a:pPr marL="571500" lvl="1" indent="-342900">
              <a:lnSpc>
                <a:spcPct val="90000"/>
              </a:lnSpc>
              <a:spcAft>
                <a:spcPts val="600"/>
              </a:spcAft>
              <a:buFont typeface="Arial" panose="020B0604020202020204" pitchFamily="34" charset="0"/>
              <a:buChar char="•"/>
            </a:pPr>
            <a:r>
              <a:rPr lang="en-ZA" sz="16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D</a:t>
            </a:r>
            <a:r>
              <a:rPr lang="en-ZA" sz="16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ecline in language</a:t>
            </a:r>
          </a:p>
          <a:p>
            <a:pPr marL="571500" lvl="1" indent="-342900">
              <a:lnSpc>
                <a:spcPct val="90000"/>
              </a:lnSpc>
              <a:spcAft>
                <a:spcPts val="600"/>
              </a:spcAft>
              <a:buFont typeface="Arial" panose="020B0604020202020204" pitchFamily="34" charset="0"/>
              <a:buChar char="•"/>
            </a:pPr>
            <a:r>
              <a:rPr lang="en-ZA" sz="16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D</a:t>
            </a:r>
            <a:r>
              <a:rPr lang="en-ZA" sz="16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isorientation </a:t>
            </a:r>
            <a:endParaRPr lang="en-ZA" sz="16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a:p>
            <a:pPr marL="571500" lvl="1" indent="-342900">
              <a:lnSpc>
                <a:spcPct val="90000"/>
              </a:lnSpc>
              <a:spcAft>
                <a:spcPts val="600"/>
              </a:spcAft>
              <a:buFont typeface="Arial" panose="020B0604020202020204" pitchFamily="34" charset="0"/>
              <a:buChar char="•"/>
            </a:pPr>
            <a:r>
              <a:rPr lang="en-ZA" sz="16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Changes in behaviour and personality</a:t>
            </a:r>
            <a:endParaRPr lang="en-US" sz="1600" i="1" dirty="0">
              <a:solidFill>
                <a:schemeClr val="bg1"/>
              </a:solidFill>
              <a:latin typeface="Times New Roman" panose="02020603050405020304" pitchFamily="18" charset="0"/>
              <a:cs typeface="Times New Roman" panose="02020603050405020304" pitchFamily="18" charset="0"/>
            </a:endParaRPr>
          </a:p>
          <a:p>
            <a:endParaRPr lang="en-GB" sz="1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9029573"/>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1A9F7B4E-B03D-4F64-BE33-00D074458D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DD316F7-30F5-C255-E81B-C64872F00178}"/>
              </a:ext>
            </a:extLst>
          </p:cNvPr>
          <p:cNvPicPr>
            <a:picLocks noChangeAspect="1"/>
          </p:cNvPicPr>
          <p:nvPr/>
        </p:nvPicPr>
        <p:blipFill rotWithShape="1">
          <a:blip r:embed="rId2">
            <a:alphaModFix amt="40000"/>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16821"/>
          <a:stretch/>
        </p:blipFill>
        <p:spPr>
          <a:xfrm>
            <a:off x="-3027" y="576775"/>
            <a:ext cx="12191979" cy="5704449"/>
          </a:xfrm>
          <a:prstGeom prst="rect">
            <a:avLst/>
          </a:prstGeom>
        </p:spPr>
      </p:pic>
      <p:sp>
        <p:nvSpPr>
          <p:cNvPr id="6" name="TextBox 5">
            <a:extLst>
              <a:ext uri="{FF2B5EF4-FFF2-40B4-BE49-F238E27FC236}">
                <a16:creationId xmlns:a16="http://schemas.microsoft.com/office/drawing/2014/main" id="{E8E0E165-A7E1-E549-A4DD-3B633F859B1D}"/>
              </a:ext>
            </a:extLst>
          </p:cNvPr>
          <p:cNvSpPr txBox="1"/>
          <p:nvPr/>
        </p:nvSpPr>
        <p:spPr>
          <a:xfrm>
            <a:off x="701722" y="917343"/>
            <a:ext cx="10515600" cy="703067"/>
          </a:xfrm>
          <a:prstGeom prst="rect">
            <a:avLst/>
          </a:prstGeom>
        </p:spPr>
        <p:txBody>
          <a:bodyPr vert="horz" lIns="91440" tIns="45720" rIns="91440" bIns="45720" rtlCol="0" anchor="ctr">
            <a:normAutofit fontScale="92500" lnSpcReduction="20000"/>
          </a:bodyPr>
          <a:lstStyle/>
          <a:p>
            <a:pPr>
              <a:lnSpc>
                <a:spcPct val="90000"/>
              </a:lnSpc>
              <a:spcBef>
                <a:spcPct val="0"/>
              </a:spcBef>
              <a:spcAft>
                <a:spcPts val="600"/>
              </a:spcAft>
            </a:pPr>
            <a:r>
              <a:rPr lang="en-ZA" sz="5400" b="1" dirty="0">
                <a:solidFill>
                  <a:schemeClr val="bg1"/>
                </a:solidFill>
                <a:latin typeface="Times New Roman" panose="02020603050405020304" pitchFamily="18" charset="0"/>
                <a:cs typeface="Times New Roman" panose="02020603050405020304" pitchFamily="18" charset="0"/>
              </a:rPr>
              <a:t>DIAGNOSIS</a:t>
            </a:r>
            <a:r>
              <a:rPr lang="en-ZA" sz="5400" dirty="0">
                <a:solidFill>
                  <a:schemeClr val="bg1"/>
                </a:solidFill>
                <a:latin typeface="Times New Roman" panose="02020603050405020304" pitchFamily="18" charset="0"/>
                <a:cs typeface="Times New Roman" panose="02020603050405020304" pitchFamily="18" charset="0"/>
              </a:rPr>
              <a:t> </a:t>
            </a:r>
          </a:p>
          <a:p>
            <a:pPr>
              <a:lnSpc>
                <a:spcPct val="90000"/>
              </a:lnSpc>
              <a:spcBef>
                <a:spcPct val="0"/>
              </a:spcBef>
              <a:spcAft>
                <a:spcPts val="600"/>
              </a:spcAft>
            </a:pPr>
            <a:endParaRPr lang="en-US" sz="5400" b="1" dirty="0">
              <a:solidFill>
                <a:schemeClr val="bg1"/>
              </a:solidFill>
              <a:latin typeface="+mj-lt"/>
              <a:ea typeface="+mj-ea"/>
              <a:cs typeface="+mj-cs"/>
            </a:endParaRPr>
          </a:p>
        </p:txBody>
      </p:sp>
      <p:sp>
        <p:nvSpPr>
          <p:cNvPr id="24" name="sketchy line">
            <a:extLst>
              <a:ext uri="{FF2B5EF4-FFF2-40B4-BE49-F238E27FC236}">
                <a16:creationId xmlns:a16="http://schemas.microsoft.com/office/drawing/2014/main" id="{7E2BE7F7-CA89-4002-ACCE-A478AEA24F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4399" y="1681544"/>
            <a:ext cx="9692640" cy="18288"/>
          </a:xfrm>
          <a:custGeom>
            <a:avLst/>
            <a:gdLst>
              <a:gd name="connsiteX0" fmla="*/ 0 w 9692640"/>
              <a:gd name="connsiteY0" fmla="*/ 0 h 18288"/>
              <a:gd name="connsiteX1" fmla="*/ 401552 w 9692640"/>
              <a:gd name="connsiteY1" fmla="*/ 0 h 18288"/>
              <a:gd name="connsiteX2" fmla="*/ 996957 w 9692640"/>
              <a:gd name="connsiteY2" fmla="*/ 0 h 18288"/>
              <a:gd name="connsiteX3" fmla="*/ 1398509 w 9692640"/>
              <a:gd name="connsiteY3" fmla="*/ 0 h 18288"/>
              <a:gd name="connsiteX4" fmla="*/ 2090841 w 9692640"/>
              <a:gd name="connsiteY4" fmla="*/ 0 h 18288"/>
              <a:gd name="connsiteX5" fmla="*/ 2686246 w 9692640"/>
              <a:gd name="connsiteY5" fmla="*/ 0 h 18288"/>
              <a:gd name="connsiteX6" fmla="*/ 3475504 w 9692640"/>
              <a:gd name="connsiteY6" fmla="*/ 0 h 18288"/>
              <a:gd name="connsiteX7" fmla="*/ 4361688 w 9692640"/>
              <a:gd name="connsiteY7" fmla="*/ 0 h 18288"/>
              <a:gd name="connsiteX8" fmla="*/ 5054019 w 9692640"/>
              <a:gd name="connsiteY8" fmla="*/ 0 h 18288"/>
              <a:gd name="connsiteX9" fmla="*/ 5940204 w 9692640"/>
              <a:gd name="connsiteY9" fmla="*/ 0 h 18288"/>
              <a:gd name="connsiteX10" fmla="*/ 6632535 w 9692640"/>
              <a:gd name="connsiteY10" fmla="*/ 0 h 18288"/>
              <a:gd name="connsiteX11" fmla="*/ 7034087 w 9692640"/>
              <a:gd name="connsiteY11" fmla="*/ 0 h 18288"/>
              <a:gd name="connsiteX12" fmla="*/ 7532566 w 9692640"/>
              <a:gd name="connsiteY12" fmla="*/ 0 h 18288"/>
              <a:gd name="connsiteX13" fmla="*/ 8418750 w 9692640"/>
              <a:gd name="connsiteY13" fmla="*/ 0 h 18288"/>
              <a:gd name="connsiteX14" fmla="*/ 9692640 w 9692640"/>
              <a:gd name="connsiteY14" fmla="*/ 0 h 18288"/>
              <a:gd name="connsiteX15" fmla="*/ 9692640 w 9692640"/>
              <a:gd name="connsiteY15" fmla="*/ 18288 h 18288"/>
              <a:gd name="connsiteX16" fmla="*/ 9000309 w 9692640"/>
              <a:gd name="connsiteY16" fmla="*/ 18288 h 18288"/>
              <a:gd name="connsiteX17" fmla="*/ 8307977 w 9692640"/>
              <a:gd name="connsiteY17" fmla="*/ 18288 h 18288"/>
              <a:gd name="connsiteX18" fmla="*/ 7712572 w 9692640"/>
              <a:gd name="connsiteY18" fmla="*/ 18288 h 18288"/>
              <a:gd name="connsiteX19" fmla="*/ 7214093 w 9692640"/>
              <a:gd name="connsiteY19" fmla="*/ 18288 h 18288"/>
              <a:gd name="connsiteX20" fmla="*/ 6327909 w 9692640"/>
              <a:gd name="connsiteY20" fmla="*/ 18288 h 18288"/>
              <a:gd name="connsiteX21" fmla="*/ 5635578 w 9692640"/>
              <a:gd name="connsiteY21" fmla="*/ 18288 h 18288"/>
              <a:gd name="connsiteX22" fmla="*/ 4846320 w 9692640"/>
              <a:gd name="connsiteY22" fmla="*/ 18288 h 18288"/>
              <a:gd name="connsiteX23" fmla="*/ 4444768 w 9692640"/>
              <a:gd name="connsiteY23" fmla="*/ 18288 h 18288"/>
              <a:gd name="connsiteX24" fmla="*/ 3946289 w 9692640"/>
              <a:gd name="connsiteY24" fmla="*/ 18288 h 18288"/>
              <a:gd name="connsiteX25" fmla="*/ 3253958 w 9692640"/>
              <a:gd name="connsiteY25" fmla="*/ 18288 h 18288"/>
              <a:gd name="connsiteX26" fmla="*/ 2464700 w 9692640"/>
              <a:gd name="connsiteY26" fmla="*/ 18288 h 18288"/>
              <a:gd name="connsiteX27" fmla="*/ 2063148 w 9692640"/>
              <a:gd name="connsiteY27" fmla="*/ 18288 h 18288"/>
              <a:gd name="connsiteX28" fmla="*/ 1661595 w 9692640"/>
              <a:gd name="connsiteY28" fmla="*/ 18288 h 18288"/>
              <a:gd name="connsiteX29" fmla="*/ 969264 w 9692640"/>
              <a:gd name="connsiteY29" fmla="*/ 18288 h 18288"/>
              <a:gd name="connsiteX30" fmla="*/ 0 w 9692640"/>
              <a:gd name="connsiteY30" fmla="*/ 18288 h 18288"/>
              <a:gd name="connsiteX31" fmla="*/ 0 w 9692640"/>
              <a:gd name="connsiteY3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692640" h="18288" fill="none" extrusionOk="0">
                <a:moveTo>
                  <a:pt x="0" y="0"/>
                </a:moveTo>
                <a:cubicBezTo>
                  <a:pt x="142992" y="4732"/>
                  <a:pt x="265909" y="-3365"/>
                  <a:pt x="401552" y="0"/>
                </a:cubicBezTo>
                <a:cubicBezTo>
                  <a:pt x="537195" y="3365"/>
                  <a:pt x="738153" y="6482"/>
                  <a:pt x="996957" y="0"/>
                </a:cubicBezTo>
                <a:cubicBezTo>
                  <a:pt x="1255762" y="-6482"/>
                  <a:pt x="1280511" y="12509"/>
                  <a:pt x="1398509" y="0"/>
                </a:cubicBezTo>
                <a:cubicBezTo>
                  <a:pt x="1516507" y="-12509"/>
                  <a:pt x="1782573" y="-31523"/>
                  <a:pt x="2090841" y="0"/>
                </a:cubicBezTo>
                <a:cubicBezTo>
                  <a:pt x="2399109" y="31523"/>
                  <a:pt x="2488380" y="26286"/>
                  <a:pt x="2686246" y="0"/>
                </a:cubicBezTo>
                <a:cubicBezTo>
                  <a:pt x="2884112" y="-26286"/>
                  <a:pt x="3186024" y="-14734"/>
                  <a:pt x="3475504" y="0"/>
                </a:cubicBezTo>
                <a:cubicBezTo>
                  <a:pt x="3764984" y="14734"/>
                  <a:pt x="4053017" y="43292"/>
                  <a:pt x="4361688" y="0"/>
                </a:cubicBezTo>
                <a:cubicBezTo>
                  <a:pt x="4670359" y="-43292"/>
                  <a:pt x="4736164" y="-729"/>
                  <a:pt x="5054019" y="0"/>
                </a:cubicBezTo>
                <a:cubicBezTo>
                  <a:pt x="5371874" y="729"/>
                  <a:pt x="5543528" y="-22963"/>
                  <a:pt x="5940204" y="0"/>
                </a:cubicBezTo>
                <a:cubicBezTo>
                  <a:pt x="6336881" y="22963"/>
                  <a:pt x="6423838" y="6469"/>
                  <a:pt x="6632535" y="0"/>
                </a:cubicBezTo>
                <a:cubicBezTo>
                  <a:pt x="6841232" y="-6469"/>
                  <a:pt x="6852819" y="17036"/>
                  <a:pt x="7034087" y="0"/>
                </a:cubicBezTo>
                <a:cubicBezTo>
                  <a:pt x="7215355" y="-17036"/>
                  <a:pt x="7313136" y="11151"/>
                  <a:pt x="7532566" y="0"/>
                </a:cubicBezTo>
                <a:cubicBezTo>
                  <a:pt x="7751996" y="-11151"/>
                  <a:pt x="8015001" y="25614"/>
                  <a:pt x="8418750" y="0"/>
                </a:cubicBezTo>
                <a:cubicBezTo>
                  <a:pt x="8822499" y="-25614"/>
                  <a:pt x="9163239" y="48603"/>
                  <a:pt x="9692640" y="0"/>
                </a:cubicBezTo>
                <a:cubicBezTo>
                  <a:pt x="9691955" y="4437"/>
                  <a:pt x="9693170" y="10717"/>
                  <a:pt x="9692640" y="18288"/>
                </a:cubicBezTo>
                <a:cubicBezTo>
                  <a:pt x="9545125" y="42172"/>
                  <a:pt x="9164259" y="6706"/>
                  <a:pt x="9000309" y="18288"/>
                </a:cubicBezTo>
                <a:cubicBezTo>
                  <a:pt x="8836359" y="29870"/>
                  <a:pt x="8521035" y="-14108"/>
                  <a:pt x="8307977" y="18288"/>
                </a:cubicBezTo>
                <a:cubicBezTo>
                  <a:pt x="8094919" y="50684"/>
                  <a:pt x="7881757" y="11235"/>
                  <a:pt x="7712572" y="18288"/>
                </a:cubicBezTo>
                <a:cubicBezTo>
                  <a:pt x="7543387" y="25341"/>
                  <a:pt x="7358861" y="20625"/>
                  <a:pt x="7214093" y="18288"/>
                </a:cubicBezTo>
                <a:cubicBezTo>
                  <a:pt x="7069325" y="15951"/>
                  <a:pt x="6523705" y="52160"/>
                  <a:pt x="6327909" y="18288"/>
                </a:cubicBezTo>
                <a:cubicBezTo>
                  <a:pt x="6132113" y="-15584"/>
                  <a:pt x="5923847" y="21204"/>
                  <a:pt x="5635578" y="18288"/>
                </a:cubicBezTo>
                <a:cubicBezTo>
                  <a:pt x="5347309" y="15372"/>
                  <a:pt x="5114749" y="50642"/>
                  <a:pt x="4846320" y="18288"/>
                </a:cubicBezTo>
                <a:cubicBezTo>
                  <a:pt x="4577891" y="-14066"/>
                  <a:pt x="4576701" y="1487"/>
                  <a:pt x="4444768" y="18288"/>
                </a:cubicBezTo>
                <a:cubicBezTo>
                  <a:pt x="4312835" y="35089"/>
                  <a:pt x="4112575" y="15158"/>
                  <a:pt x="3946289" y="18288"/>
                </a:cubicBezTo>
                <a:cubicBezTo>
                  <a:pt x="3780003" y="21418"/>
                  <a:pt x="3396009" y="18797"/>
                  <a:pt x="3253958" y="18288"/>
                </a:cubicBezTo>
                <a:cubicBezTo>
                  <a:pt x="3111907" y="17779"/>
                  <a:pt x="2760272" y="57223"/>
                  <a:pt x="2464700" y="18288"/>
                </a:cubicBezTo>
                <a:cubicBezTo>
                  <a:pt x="2169128" y="-20647"/>
                  <a:pt x="2232262" y="7960"/>
                  <a:pt x="2063148" y="18288"/>
                </a:cubicBezTo>
                <a:cubicBezTo>
                  <a:pt x="1894034" y="28616"/>
                  <a:pt x="1799338" y="3019"/>
                  <a:pt x="1661595" y="18288"/>
                </a:cubicBezTo>
                <a:cubicBezTo>
                  <a:pt x="1523852" y="33557"/>
                  <a:pt x="1113928" y="-4352"/>
                  <a:pt x="969264" y="18288"/>
                </a:cubicBezTo>
                <a:cubicBezTo>
                  <a:pt x="824600" y="40928"/>
                  <a:pt x="356149" y="-3128"/>
                  <a:pt x="0" y="18288"/>
                </a:cubicBezTo>
                <a:cubicBezTo>
                  <a:pt x="-540" y="12521"/>
                  <a:pt x="894" y="7749"/>
                  <a:pt x="0" y="0"/>
                </a:cubicBezTo>
                <a:close/>
              </a:path>
              <a:path w="9692640" h="18288" stroke="0" extrusionOk="0">
                <a:moveTo>
                  <a:pt x="0" y="0"/>
                </a:moveTo>
                <a:cubicBezTo>
                  <a:pt x="162642" y="3864"/>
                  <a:pt x="346119" y="-18364"/>
                  <a:pt x="498479" y="0"/>
                </a:cubicBezTo>
                <a:cubicBezTo>
                  <a:pt x="650839" y="18364"/>
                  <a:pt x="712065" y="-9389"/>
                  <a:pt x="900031" y="0"/>
                </a:cubicBezTo>
                <a:cubicBezTo>
                  <a:pt x="1087997" y="9389"/>
                  <a:pt x="1177291" y="3685"/>
                  <a:pt x="1398509" y="0"/>
                </a:cubicBezTo>
                <a:cubicBezTo>
                  <a:pt x="1619727" y="-3685"/>
                  <a:pt x="1874008" y="-8897"/>
                  <a:pt x="2090841" y="0"/>
                </a:cubicBezTo>
                <a:cubicBezTo>
                  <a:pt x="2307674" y="8897"/>
                  <a:pt x="2573432" y="-313"/>
                  <a:pt x="2880099" y="0"/>
                </a:cubicBezTo>
                <a:cubicBezTo>
                  <a:pt x="3186766" y="313"/>
                  <a:pt x="3422577" y="10664"/>
                  <a:pt x="3766283" y="0"/>
                </a:cubicBezTo>
                <a:cubicBezTo>
                  <a:pt x="4109989" y="-10664"/>
                  <a:pt x="4342683" y="-32873"/>
                  <a:pt x="4652467" y="0"/>
                </a:cubicBezTo>
                <a:cubicBezTo>
                  <a:pt x="4962251" y="32873"/>
                  <a:pt x="5122120" y="29155"/>
                  <a:pt x="5247872" y="0"/>
                </a:cubicBezTo>
                <a:cubicBezTo>
                  <a:pt x="5373625" y="-29155"/>
                  <a:pt x="5749491" y="1706"/>
                  <a:pt x="6037130" y="0"/>
                </a:cubicBezTo>
                <a:cubicBezTo>
                  <a:pt x="6324769" y="-1706"/>
                  <a:pt x="6531407" y="1172"/>
                  <a:pt x="6729461" y="0"/>
                </a:cubicBezTo>
                <a:cubicBezTo>
                  <a:pt x="6927515" y="-1172"/>
                  <a:pt x="7096794" y="-1520"/>
                  <a:pt x="7324867" y="0"/>
                </a:cubicBezTo>
                <a:cubicBezTo>
                  <a:pt x="7552940" y="1520"/>
                  <a:pt x="7878827" y="-17110"/>
                  <a:pt x="8114124" y="0"/>
                </a:cubicBezTo>
                <a:cubicBezTo>
                  <a:pt x="8349421" y="17110"/>
                  <a:pt x="8334208" y="15114"/>
                  <a:pt x="8515677" y="0"/>
                </a:cubicBezTo>
                <a:cubicBezTo>
                  <a:pt x="8697146" y="-15114"/>
                  <a:pt x="9236164" y="22466"/>
                  <a:pt x="9692640" y="0"/>
                </a:cubicBezTo>
                <a:cubicBezTo>
                  <a:pt x="9692735" y="8251"/>
                  <a:pt x="9692514" y="12333"/>
                  <a:pt x="9692640" y="18288"/>
                </a:cubicBezTo>
                <a:cubicBezTo>
                  <a:pt x="9410102" y="47398"/>
                  <a:pt x="9172773" y="7109"/>
                  <a:pt x="9000309" y="18288"/>
                </a:cubicBezTo>
                <a:cubicBezTo>
                  <a:pt x="8827845" y="29467"/>
                  <a:pt x="8713608" y="28372"/>
                  <a:pt x="8501830" y="18288"/>
                </a:cubicBezTo>
                <a:cubicBezTo>
                  <a:pt x="8290052" y="8204"/>
                  <a:pt x="7893416" y="3561"/>
                  <a:pt x="7712572" y="18288"/>
                </a:cubicBezTo>
                <a:cubicBezTo>
                  <a:pt x="7531728" y="33015"/>
                  <a:pt x="7480716" y="17052"/>
                  <a:pt x="7311020" y="18288"/>
                </a:cubicBezTo>
                <a:cubicBezTo>
                  <a:pt x="7141324" y="19524"/>
                  <a:pt x="6962706" y="15975"/>
                  <a:pt x="6618688" y="18288"/>
                </a:cubicBezTo>
                <a:cubicBezTo>
                  <a:pt x="6274670" y="20601"/>
                  <a:pt x="6230664" y="-1692"/>
                  <a:pt x="6120210" y="18288"/>
                </a:cubicBezTo>
                <a:cubicBezTo>
                  <a:pt x="6009756" y="38268"/>
                  <a:pt x="5442516" y="28115"/>
                  <a:pt x="5234026" y="18288"/>
                </a:cubicBezTo>
                <a:cubicBezTo>
                  <a:pt x="5025536" y="8461"/>
                  <a:pt x="4953693" y="18182"/>
                  <a:pt x="4832473" y="18288"/>
                </a:cubicBezTo>
                <a:cubicBezTo>
                  <a:pt x="4711253" y="18394"/>
                  <a:pt x="4414565" y="-11251"/>
                  <a:pt x="4140142" y="18288"/>
                </a:cubicBezTo>
                <a:cubicBezTo>
                  <a:pt x="3865719" y="47827"/>
                  <a:pt x="3819081" y="16772"/>
                  <a:pt x="3738590" y="18288"/>
                </a:cubicBezTo>
                <a:cubicBezTo>
                  <a:pt x="3658099" y="19804"/>
                  <a:pt x="3427576" y="1385"/>
                  <a:pt x="3240111" y="18288"/>
                </a:cubicBezTo>
                <a:cubicBezTo>
                  <a:pt x="3052646" y="35191"/>
                  <a:pt x="2749652" y="-13914"/>
                  <a:pt x="2450853" y="18288"/>
                </a:cubicBezTo>
                <a:cubicBezTo>
                  <a:pt x="2152054" y="50490"/>
                  <a:pt x="1928331" y="61101"/>
                  <a:pt x="1564669" y="18288"/>
                </a:cubicBezTo>
                <a:cubicBezTo>
                  <a:pt x="1201007" y="-24525"/>
                  <a:pt x="1217828" y="-275"/>
                  <a:pt x="1066190" y="18288"/>
                </a:cubicBezTo>
                <a:cubicBezTo>
                  <a:pt x="914552" y="36851"/>
                  <a:pt x="418290" y="-14785"/>
                  <a:pt x="0" y="18288"/>
                </a:cubicBezTo>
                <a:cubicBezTo>
                  <a:pt x="641" y="14236"/>
                  <a:pt x="889" y="755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77A1358E-390E-F4A5-3C17-DA8CE51A7E87}"/>
              </a:ext>
            </a:extLst>
          </p:cNvPr>
          <p:cNvSpPr txBox="1"/>
          <p:nvPr/>
        </p:nvSpPr>
        <p:spPr>
          <a:xfrm>
            <a:off x="171348" y="1822100"/>
            <a:ext cx="11846256" cy="4835256"/>
          </a:xfrm>
          <a:prstGeom prst="rect">
            <a:avLst/>
          </a:prstGeom>
        </p:spPr>
        <p:txBody>
          <a:bodyPr vert="horz" lIns="91440" tIns="45720" rIns="91440" bIns="45720" numCol="2" rtlCol="0">
            <a:normAutofit/>
          </a:bodyPr>
          <a:lstStyle/>
          <a:p>
            <a:pPr>
              <a:buFont typeface="Arial" panose="020B0604020202020204" pitchFamily="34" charset="0"/>
              <a:buChar char="•"/>
            </a:pPr>
            <a:r>
              <a:rPr lang="en-GB" dirty="0">
                <a:solidFill>
                  <a:schemeClr val="bg1"/>
                </a:solidFill>
                <a:latin typeface="Times New Roman" panose="02020603050405020304" pitchFamily="18" charset="0"/>
                <a:cs typeface="Times New Roman" panose="02020603050405020304" pitchFamily="18" charset="0"/>
              </a:rPr>
              <a:t>Diagnosis involves multiple steps:</a:t>
            </a:r>
            <a:br>
              <a:rPr lang="en-GB" dirty="0">
                <a:solidFill>
                  <a:schemeClr val="bg1"/>
                </a:solidFill>
                <a:latin typeface="Times New Roman" panose="02020603050405020304" pitchFamily="18" charset="0"/>
                <a:cs typeface="Times New Roman" panose="02020603050405020304" pitchFamily="18" charset="0"/>
              </a:rPr>
            </a:br>
            <a:r>
              <a:rPr lang="en-GB" i="1" dirty="0">
                <a:solidFill>
                  <a:schemeClr val="bg1"/>
                </a:solidFill>
                <a:latin typeface="Times New Roman" panose="02020603050405020304" pitchFamily="18" charset="0"/>
                <a:cs typeface="Times New Roman" panose="02020603050405020304" pitchFamily="18" charset="0"/>
              </a:rPr>
              <a:t>(Alzheimer’s Association)</a:t>
            </a:r>
          </a:p>
          <a:p>
            <a:pPr>
              <a:buFont typeface="Arial" panose="020B0604020202020204" pitchFamily="34" charset="0"/>
              <a:buChar char="•"/>
            </a:pPr>
            <a:endParaRPr lang="en-GB" dirty="0">
              <a:solidFill>
                <a:schemeClr val="bg1"/>
              </a:solidFill>
              <a:latin typeface="Times New Roman" panose="02020603050405020304" pitchFamily="18" charset="0"/>
              <a:cs typeface="Times New Roman" panose="02020603050405020304" pitchFamily="18" charset="0"/>
            </a:endParaRPr>
          </a:p>
          <a:p>
            <a:r>
              <a:rPr lang="en-GB" b="1" dirty="0">
                <a:solidFill>
                  <a:schemeClr val="bg1"/>
                </a:solidFill>
                <a:latin typeface="Times New Roman" panose="02020603050405020304" pitchFamily="18" charset="0"/>
                <a:cs typeface="Times New Roman" panose="02020603050405020304" pitchFamily="18" charset="0"/>
              </a:rPr>
              <a:t>1. Medical History Review</a:t>
            </a:r>
          </a:p>
          <a:p>
            <a:pPr>
              <a:buFont typeface="Arial" panose="020B0604020202020204" pitchFamily="34" charset="0"/>
              <a:buChar char="•"/>
            </a:pPr>
            <a:r>
              <a:rPr lang="en-GB" dirty="0">
                <a:solidFill>
                  <a:schemeClr val="bg1"/>
                </a:solidFill>
                <a:latin typeface="Times New Roman" panose="02020603050405020304" pitchFamily="18" charset="0"/>
                <a:cs typeface="Times New Roman" panose="02020603050405020304" pitchFamily="18" charset="0"/>
              </a:rPr>
              <a:t>Evaluates:</a:t>
            </a:r>
          </a:p>
          <a:p>
            <a:pPr marL="742950" lvl="1" indent="-285750">
              <a:buFont typeface="Arial" panose="020B0604020202020204" pitchFamily="34" charset="0"/>
              <a:buChar char="•"/>
            </a:pPr>
            <a:r>
              <a:rPr lang="en-GB" dirty="0">
                <a:solidFill>
                  <a:schemeClr val="bg1"/>
                </a:solidFill>
                <a:latin typeface="Times New Roman" panose="02020603050405020304" pitchFamily="18" charset="0"/>
                <a:cs typeface="Times New Roman" panose="02020603050405020304" pitchFamily="18" charset="0"/>
              </a:rPr>
              <a:t>Medications the patient is taking</a:t>
            </a:r>
          </a:p>
          <a:p>
            <a:pPr marL="742950" lvl="1" indent="-285750">
              <a:buFont typeface="Arial" panose="020B0604020202020204" pitchFamily="34" charset="0"/>
              <a:buChar char="•"/>
            </a:pPr>
            <a:r>
              <a:rPr lang="en-GB" dirty="0">
                <a:solidFill>
                  <a:schemeClr val="bg1"/>
                </a:solidFill>
                <a:latin typeface="Times New Roman" panose="02020603050405020304" pitchFamily="18" charset="0"/>
                <a:cs typeface="Times New Roman" panose="02020603050405020304" pitchFamily="18" charset="0"/>
              </a:rPr>
              <a:t>Psychiatric or behavioural changes</a:t>
            </a:r>
          </a:p>
          <a:p>
            <a:pPr marL="742950" lvl="1" indent="-285750">
              <a:buFont typeface="Arial" panose="020B0604020202020204" pitchFamily="34" charset="0"/>
              <a:buChar char="•"/>
            </a:pPr>
            <a:r>
              <a:rPr lang="en-GB" dirty="0">
                <a:solidFill>
                  <a:schemeClr val="bg1"/>
                </a:solidFill>
                <a:latin typeface="Times New Roman" panose="02020603050405020304" pitchFamily="18" charset="0"/>
                <a:cs typeface="Times New Roman" panose="02020603050405020304" pitchFamily="18" charset="0"/>
              </a:rPr>
              <a:t>Family history of AD</a:t>
            </a:r>
          </a:p>
          <a:p>
            <a:pPr marL="742950" lvl="1" indent="-285750">
              <a:buFont typeface="Arial" panose="020B0604020202020204" pitchFamily="34" charset="0"/>
              <a:buChar char="•"/>
            </a:pPr>
            <a:endParaRPr lang="en-GB" dirty="0">
              <a:solidFill>
                <a:schemeClr val="bg1"/>
              </a:solidFill>
              <a:latin typeface="Times New Roman" panose="02020603050405020304" pitchFamily="18" charset="0"/>
              <a:cs typeface="Times New Roman" panose="02020603050405020304" pitchFamily="18" charset="0"/>
            </a:endParaRPr>
          </a:p>
          <a:p>
            <a:r>
              <a:rPr lang="en-GB" b="1" dirty="0">
                <a:solidFill>
                  <a:schemeClr val="bg1"/>
                </a:solidFill>
                <a:latin typeface="Times New Roman" panose="02020603050405020304" pitchFamily="18" charset="0"/>
                <a:cs typeface="Times New Roman" panose="02020603050405020304" pitchFamily="18" charset="0"/>
              </a:rPr>
              <a:t>2. Physical Examination</a:t>
            </a:r>
          </a:p>
          <a:p>
            <a:pPr>
              <a:buFont typeface="Arial" panose="020B0604020202020204" pitchFamily="34" charset="0"/>
              <a:buChar char="•"/>
            </a:pPr>
            <a:r>
              <a:rPr lang="en-GB" dirty="0">
                <a:solidFill>
                  <a:schemeClr val="bg1"/>
                </a:solidFill>
                <a:latin typeface="Times New Roman" panose="02020603050405020304" pitchFamily="18" charset="0"/>
                <a:cs typeface="Times New Roman" panose="02020603050405020304" pitchFamily="18" charset="0"/>
              </a:rPr>
              <a:t>Checks:</a:t>
            </a:r>
          </a:p>
          <a:p>
            <a:pPr marL="742950" lvl="1" indent="-285750">
              <a:buFont typeface="Arial" panose="020B0604020202020204" pitchFamily="34" charset="0"/>
              <a:buChar char="•"/>
            </a:pPr>
            <a:r>
              <a:rPr lang="en-GB" b="1" dirty="0">
                <a:solidFill>
                  <a:schemeClr val="bg1"/>
                </a:solidFill>
                <a:latin typeface="Times New Roman" panose="02020603050405020304" pitchFamily="18" charset="0"/>
                <a:cs typeface="Times New Roman" panose="02020603050405020304" pitchFamily="18" charset="0"/>
              </a:rPr>
              <a:t>Blood pressure (BP)</a:t>
            </a:r>
            <a:endParaRPr lang="en-GB" dirty="0">
              <a:solidFill>
                <a:schemeClr val="bg1"/>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GB" dirty="0">
                <a:solidFill>
                  <a:schemeClr val="bg1"/>
                </a:solidFill>
                <a:latin typeface="Times New Roman" panose="02020603050405020304" pitchFamily="18" charset="0"/>
                <a:cs typeface="Times New Roman" panose="02020603050405020304" pitchFamily="18" charset="0"/>
              </a:rPr>
              <a:t>Heart and lung function</a:t>
            </a:r>
          </a:p>
          <a:p>
            <a:pPr marL="742950" lvl="1" indent="-285750">
              <a:buFont typeface="Arial" panose="020B0604020202020204" pitchFamily="34" charset="0"/>
              <a:buChar char="•"/>
            </a:pPr>
            <a:r>
              <a:rPr lang="en-GB" dirty="0">
                <a:solidFill>
                  <a:schemeClr val="bg1"/>
                </a:solidFill>
                <a:latin typeface="Times New Roman" panose="02020603050405020304" pitchFamily="18" charset="0"/>
                <a:cs typeface="Times New Roman" panose="02020603050405020304" pitchFamily="18" charset="0"/>
              </a:rPr>
              <a:t>Collects </a:t>
            </a:r>
            <a:r>
              <a:rPr lang="en-GB" b="1" dirty="0">
                <a:solidFill>
                  <a:schemeClr val="bg1"/>
                </a:solidFill>
                <a:latin typeface="Times New Roman" panose="02020603050405020304" pitchFamily="18" charset="0"/>
                <a:cs typeface="Times New Roman" panose="02020603050405020304" pitchFamily="18" charset="0"/>
              </a:rPr>
              <a:t>urine and blood samples</a:t>
            </a:r>
          </a:p>
          <a:p>
            <a:pPr lvl="1"/>
            <a:endParaRPr lang="en-GB" b="1" dirty="0">
              <a:solidFill>
                <a:schemeClr val="bg1"/>
              </a:solidFill>
              <a:latin typeface="Times New Roman" panose="02020603050405020304" pitchFamily="18" charset="0"/>
              <a:cs typeface="Times New Roman" panose="02020603050405020304" pitchFamily="18" charset="0"/>
            </a:endParaRPr>
          </a:p>
          <a:p>
            <a:pPr lvl="1"/>
            <a:endParaRPr lang="en-GB" b="1" dirty="0">
              <a:solidFill>
                <a:schemeClr val="bg1"/>
              </a:solidFill>
              <a:latin typeface="Times New Roman" panose="02020603050405020304" pitchFamily="18" charset="0"/>
              <a:cs typeface="Times New Roman" panose="02020603050405020304" pitchFamily="18" charset="0"/>
            </a:endParaRPr>
          </a:p>
          <a:p>
            <a:pPr lvl="1"/>
            <a:endParaRPr lang="en-GB" b="1" dirty="0">
              <a:solidFill>
                <a:schemeClr val="bg1"/>
              </a:solidFill>
              <a:latin typeface="Times New Roman" panose="02020603050405020304" pitchFamily="18" charset="0"/>
              <a:cs typeface="Times New Roman" panose="02020603050405020304" pitchFamily="18" charset="0"/>
            </a:endParaRPr>
          </a:p>
          <a:p>
            <a:pPr lvl="1"/>
            <a:endParaRPr lang="en-GB" b="1" dirty="0">
              <a:solidFill>
                <a:schemeClr val="bg1"/>
              </a:solidFill>
              <a:latin typeface="Times New Roman" panose="02020603050405020304" pitchFamily="18" charset="0"/>
              <a:cs typeface="Times New Roman" panose="02020603050405020304" pitchFamily="18" charset="0"/>
            </a:endParaRPr>
          </a:p>
          <a:p>
            <a:pPr lvl="1"/>
            <a:endParaRPr lang="en-GB" b="1" dirty="0">
              <a:solidFill>
                <a:schemeClr val="bg1"/>
              </a:solidFill>
              <a:latin typeface="Times New Roman" panose="02020603050405020304" pitchFamily="18" charset="0"/>
              <a:cs typeface="Times New Roman" panose="02020603050405020304" pitchFamily="18" charset="0"/>
            </a:endParaRPr>
          </a:p>
          <a:p>
            <a:pPr lvl="1"/>
            <a:endParaRPr lang="en-GB" dirty="0">
              <a:solidFill>
                <a:schemeClr val="bg1"/>
              </a:solidFill>
              <a:latin typeface="Times New Roman" panose="02020603050405020304" pitchFamily="18" charset="0"/>
              <a:cs typeface="Times New Roman" panose="02020603050405020304" pitchFamily="18" charset="0"/>
            </a:endParaRPr>
          </a:p>
          <a:p>
            <a:r>
              <a:rPr lang="en-GB" b="1" dirty="0">
                <a:solidFill>
                  <a:schemeClr val="bg1"/>
                </a:solidFill>
                <a:latin typeface="Times New Roman" panose="02020603050405020304" pitchFamily="18" charset="0"/>
                <a:cs typeface="Times New Roman" panose="02020603050405020304" pitchFamily="18" charset="0"/>
              </a:rPr>
              <a:t>3. Neurological Examination</a:t>
            </a:r>
          </a:p>
          <a:p>
            <a:pPr>
              <a:buFont typeface="Arial" panose="020B0604020202020204" pitchFamily="34" charset="0"/>
              <a:buChar char="•"/>
            </a:pPr>
            <a:r>
              <a:rPr lang="en-GB" dirty="0">
                <a:solidFill>
                  <a:schemeClr val="bg1"/>
                </a:solidFill>
                <a:latin typeface="Times New Roman" panose="02020603050405020304" pitchFamily="18" charset="0"/>
                <a:cs typeface="Times New Roman" panose="02020603050405020304" pitchFamily="18" charset="0"/>
              </a:rPr>
              <a:t>Assesses:</a:t>
            </a:r>
          </a:p>
          <a:p>
            <a:pPr marL="742950" lvl="1" indent="-285750">
              <a:buFont typeface="Arial" panose="020B0604020202020204" pitchFamily="34" charset="0"/>
              <a:buChar char="•"/>
            </a:pPr>
            <a:r>
              <a:rPr lang="en-GB" dirty="0">
                <a:solidFill>
                  <a:schemeClr val="bg1"/>
                </a:solidFill>
                <a:latin typeface="Times New Roman" panose="02020603050405020304" pitchFamily="18" charset="0"/>
                <a:cs typeface="Times New Roman" panose="02020603050405020304" pitchFamily="18" charset="0"/>
              </a:rPr>
              <a:t>Reflexes</a:t>
            </a:r>
          </a:p>
          <a:p>
            <a:pPr marL="742950" lvl="1" indent="-285750">
              <a:buFont typeface="Arial" panose="020B0604020202020204" pitchFamily="34" charset="0"/>
              <a:buChar char="•"/>
            </a:pPr>
            <a:r>
              <a:rPr lang="en-GB" dirty="0">
                <a:solidFill>
                  <a:schemeClr val="bg1"/>
                </a:solidFill>
                <a:latin typeface="Times New Roman" panose="02020603050405020304" pitchFamily="18" charset="0"/>
                <a:cs typeface="Times New Roman" panose="02020603050405020304" pitchFamily="18" charset="0"/>
              </a:rPr>
              <a:t>Speech</a:t>
            </a:r>
          </a:p>
          <a:p>
            <a:pPr marL="742950" lvl="1" indent="-285750">
              <a:buFont typeface="Arial" panose="020B0604020202020204" pitchFamily="34" charset="0"/>
              <a:buChar char="•"/>
            </a:pPr>
            <a:r>
              <a:rPr lang="en-GB" dirty="0">
                <a:solidFill>
                  <a:schemeClr val="bg1"/>
                </a:solidFill>
                <a:latin typeface="Times New Roman" panose="02020603050405020304" pitchFamily="18" charset="0"/>
                <a:cs typeface="Times New Roman" panose="02020603050405020304" pitchFamily="18" charset="0"/>
              </a:rPr>
              <a:t>Eye movement</a:t>
            </a:r>
          </a:p>
          <a:p>
            <a:pPr marL="742950" lvl="1" indent="-285750">
              <a:buFont typeface="Arial" panose="020B0604020202020204" pitchFamily="34" charset="0"/>
              <a:buChar char="•"/>
            </a:pPr>
            <a:r>
              <a:rPr lang="en-GB" dirty="0">
                <a:solidFill>
                  <a:schemeClr val="bg1"/>
                </a:solidFill>
                <a:latin typeface="Times New Roman" panose="02020603050405020304" pitchFamily="18" charset="0"/>
                <a:cs typeface="Times New Roman" panose="02020603050405020304" pitchFamily="18" charset="0"/>
              </a:rPr>
              <a:t>Sensation</a:t>
            </a:r>
          </a:p>
          <a:p>
            <a:pPr marL="742950" lvl="1" indent="-285750">
              <a:buFont typeface="Arial" panose="020B0604020202020204" pitchFamily="34" charset="0"/>
              <a:buChar char="•"/>
            </a:pPr>
            <a:r>
              <a:rPr lang="en-GB" dirty="0">
                <a:solidFill>
                  <a:schemeClr val="bg1"/>
                </a:solidFill>
                <a:latin typeface="Times New Roman" panose="02020603050405020304" pitchFamily="18" charset="0"/>
                <a:cs typeface="Times New Roman" panose="02020603050405020304" pitchFamily="18" charset="0"/>
              </a:rPr>
              <a:t>Coordination</a:t>
            </a:r>
          </a:p>
          <a:p>
            <a:pPr lvl="1"/>
            <a:endParaRPr lang="en-GB" dirty="0">
              <a:solidFill>
                <a:schemeClr val="bg1"/>
              </a:solidFill>
              <a:latin typeface="Times New Roman" panose="02020603050405020304" pitchFamily="18" charset="0"/>
              <a:cs typeface="Times New Roman" panose="02020603050405020304" pitchFamily="18" charset="0"/>
            </a:endParaRPr>
          </a:p>
          <a:p>
            <a:r>
              <a:rPr lang="en-GB" b="1" dirty="0">
                <a:solidFill>
                  <a:schemeClr val="bg1"/>
                </a:solidFill>
                <a:latin typeface="Times New Roman" panose="02020603050405020304" pitchFamily="18" charset="0"/>
                <a:cs typeface="Times New Roman" panose="02020603050405020304" pitchFamily="18" charset="0"/>
              </a:rPr>
              <a:t>4. Brain Imaging</a:t>
            </a:r>
          </a:p>
          <a:p>
            <a:pPr>
              <a:buFont typeface="Arial" panose="020B0604020202020204" pitchFamily="34" charset="0"/>
              <a:buChar char="•"/>
            </a:pPr>
            <a:r>
              <a:rPr lang="en-GB" dirty="0">
                <a:solidFill>
                  <a:schemeClr val="bg1"/>
                </a:solidFill>
                <a:latin typeface="Times New Roman" panose="02020603050405020304" pitchFamily="18" charset="0"/>
                <a:cs typeface="Times New Roman" panose="02020603050405020304" pitchFamily="18" charset="0"/>
              </a:rPr>
              <a:t>Helps detect structural changes in the brain using:</a:t>
            </a:r>
          </a:p>
          <a:p>
            <a:pPr marL="742950" lvl="1" indent="-285750">
              <a:buFont typeface="Arial" panose="020B0604020202020204" pitchFamily="34" charset="0"/>
              <a:buChar char="•"/>
            </a:pPr>
            <a:r>
              <a:rPr lang="en-GB" b="1" dirty="0">
                <a:solidFill>
                  <a:schemeClr val="bg1"/>
                </a:solidFill>
                <a:latin typeface="Times New Roman" panose="02020603050405020304" pitchFamily="18" charset="0"/>
                <a:cs typeface="Times New Roman" panose="02020603050405020304" pitchFamily="18" charset="0"/>
              </a:rPr>
              <a:t>MRI (Magnetic Resonance Imaging)</a:t>
            </a:r>
            <a:endParaRPr lang="en-GB" dirty="0">
              <a:solidFill>
                <a:schemeClr val="bg1"/>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GB" b="1" dirty="0">
                <a:solidFill>
                  <a:schemeClr val="bg1"/>
                </a:solidFill>
                <a:latin typeface="Times New Roman" panose="02020603050405020304" pitchFamily="18" charset="0"/>
                <a:cs typeface="Times New Roman" panose="02020603050405020304" pitchFamily="18" charset="0"/>
              </a:rPr>
              <a:t>CT (Computed Tomography)</a:t>
            </a:r>
            <a:endParaRPr lang="en-GB" dirty="0">
              <a:solidFill>
                <a:schemeClr val="bg1"/>
              </a:solidFill>
              <a:latin typeface="Times New Roman" panose="02020603050405020304" pitchFamily="18" charset="0"/>
              <a:cs typeface="Times New Roman" panose="02020603050405020304" pitchFamily="18" charset="0"/>
            </a:endParaRPr>
          </a:p>
          <a:p>
            <a:pPr marL="228600" lvl="1">
              <a:lnSpc>
                <a:spcPct val="90000"/>
              </a:lnSpc>
              <a:spcAft>
                <a:spcPts val="600"/>
              </a:spcAft>
            </a:pPr>
            <a:endParaRPr lang="en-US" sz="700" i="1" dirty="0">
              <a:solidFill>
                <a:schemeClr val="bg1"/>
              </a:solidFill>
            </a:endParaRPr>
          </a:p>
        </p:txBody>
      </p:sp>
    </p:spTree>
    <p:extLst>
      <p:ext uri="{BB962C8B-B14F-4D97-AF65-F5344CB8AC3E}">
        <p14:creationId xmlns:p14="http://schemas.microsoft.com/office/powerpoint/2010/main" val="1564620670"/>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0975C4C8-A9CC-A747-9C72-F87F9722BCE0}"/>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4894" b="10837"/>
          <a:stretch/>
        </p:blipFill>
        <p:spPr>
          <a:xfrm>
            <a:off x="-3047" y="10"/>
            <a:ext cx="12191999" cy="6857990"/>
          </a:xfrm>
          <a:prstGeom prst="rect">
            <a:avLst/>
          </a:prstGeom>
        </p:spPr>
      </p:pic>
      <p:sp>
        <p:nvSpPr>
          <p:cNvPr id="11" name="Rectangle 10">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176B7FC4-6E86-7E48-E668-063D9F467FF9}"/>
              </a:ext>
            </a:extLst>
          </p:cNvPr>
          <p:cNvSpPr txBox="1"/>
          <p:nvPr/>
        </p:nvSpPr>
        <p:spPr>
          <a:xfrm>
            <a:off x="1097280" y="325550"/>
            <a:ext cx="10058400" cy="3574778"/>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a:lnSpc>
                <a:spcPct val="90000"/>
              </a:lnSpc>
              <a:spcBef>
                <a:spcPct val="0"/>
              </a:spcBef>
              <a:spcAft>
                <a:spcPts val="600"/>
              </a:spcAft>
            </a:pPr>
            <a:r>
              <a:rPr lang="en-US" sz="5200" dirty="0">
                <a:solidFill>
                  <a:srgbClr val="FFFFFF"/>
                </a:solidFill>
                <a:latin typeface="Times New Roman" panose="02020603050405020304" pitchFamily="18" charset="0"/>
                <a:ea typeface="+mj-ea"/>
                <a:cs typeface="Times New Roman" panose="02020603050405020304" pitchFamily="18" charset="0"/>
              </a:rPr>
              <a:t>SCHIZOPHRENIA</a:t>
            </a:r>
          </a:p>
        </p:txBody>
      </p:sp>
    </p:spTree>
    <p:extLst>
      <p:ext uri="{BB962C8B-B14F-4D97-AF65-F5344CB8AC3E}">
        <p14:creationId xmlns:p14="http://schemas.microsoft.com/office/powerpoint/2010/main" val="4430030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1A9F7B4E-B03D-4F64-BE33-00D074458D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0975C4C8-A9CC-A747-9C72-F87F9722BCE0}"/>
              </a:ext>
            </a:extLst>
          </p:cNvPr>
          <p:cNvPicPr>
            <a:picLocks noChangeAspect="1"/>
          </p:cNvPicPr>
          <p:nvPr/>
        </p:nvPicPr>
        <p:blipFill>
          <a:blip r:embed="rId2">
            <a:alphaModFix amt="40000"/>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4894" b="10837"/>
          <a:stretch/>
        </p:blipFill>
        <p:spPr>
          <a:xfrm>
            <a:off x="20" y="10"/>
            <a:ext cx="12191979" cy="6857990"/>
          </a:xfrm>
          <a:prstGeom prst="rect">
            <a:avLst/>
          </a:prstGeom>
        </p:spPr>
      </p:pic>
      <p:sp>
        <p:nvSpPr>
          <p:cNvPr id="4" name="TextBox 3">
            <a:extLst>
              <a:ext uri="{FF2B5EF4-FFF2-40B4-BE49-F238E27FC236}">
                <a16:creationId xmlns:a16="http://schemas.microsoft.com/office/drawing/2014/main" id="{176B7FC4-6E86-7E48-E668-063D9F467FF9}"/>
              </a:ext>
            </a:extLst>
          </p:cNvPr>
          <p:cNvSpPr txBox="1"/>
          <p:nvPr/>
        </p:nvSpPr>
        <p:spPr>
          <a:xfrm>
            <a:off x="838200" y="365125"/>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5400" b="1" dirty="0">
                <a:solidFill>
                  <a:schemeClr val="bg1"/>
                </a:solidFill>
                <a:latin typeface="Times New Roman" panose="02020603050405020304" pitchFamily="18" charset="0"/>
                <a:ea typeface="+mj-ea"/>
                <a:cs typeface="Times New Roman" panose="02020603050405020304" pitchFamily="18" charset="0"/>
              </a:rPr>
              <a:t>AETIOLOGY </a:t>
            </a:r>
          </a:p>
        </p:txBody>
      </p:sp>
      <p:sp>
        <p:nvSpPr>
          <p:cNvPr id="18" name="sketchy line">
            <a:extLst>
              <a:ext uri="{FF2B5EF4-FFF2-40B4-BE49-F238E27FC236}">
                <a16:creationId xmlns:a16="http://schemas.microsoft.com/office/drawing/2014/main" id="{7E2BE7F7-CA89-4002-ACCE-A478AEA24F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4399" y="1681544"/>
            <a:ext cx="9692640" cy="18288"/>
          </a:xfrm>
          <a:custGeom>
            <a:avLst/>
            <a:gdLst>
              <a:gd name="connsiteX0" fmla="*/ 0 w 9692640"/>
              <a:gd name="connsiteY0" fmla="*/ 0 h 18288"/>
              <a:gd name="connsiteX1" fmla="*/ 401552 w 9692640"/>
              <a:gd name="connsiteY1" fmla="*/ 0 h 18288"/>
              <a:gd name="connsiteX2" fmla="*/ 996957 w 9692640"/>
              <a:gd name="connsiteY2" fmla="*/ 0 h 18288"/>
              <a:gd name="connsiteX3" fmla="*/ 1398509 w 9692640"/>
              <a:gd name="connsiteY3" fmla="*/ 0 h 18288"/>
              <a:gd name="connsiteX4" fmla="*/ 2090841 w 9692640"/>
              <a:gd name="connsiteY4" fmla="*/ 0 h 18288"/>
              <a:gd name="connsiteX5" fmla="*/ 2686246 w 9692640"/>
              <a:gd name="connsiteY5" fmla="*/ 0 h 18288"/>
              <a:gd name="connsiteX6" fmla="*/ 3475504 w 9692640"/>
              <a:gd name="connsiteY6" fmla="*/ 0 h 18288"/>
              <a:gd name="connsiteX7" fmla="*/ 4361688 w 9692640"/>
              <a:gd name="connsiteY7" fmla="*/ 0 h 18288"/>
              <a:gd name="connsiteX8" fmla="*/ 5054019 w 9692640"/>
              <a:gd name="connsiteY8" fmla="*/ 0 h 18288"/>
              <a:gd name="connsiteX9" fmla="*/ 5940204 w 9692640"/>
              <a:gd name="connsiteY9" fmla="*/ 0 h 18288"/>
              <a:gd name="connsiteX10" fmla="*/ 6632535 w 9692640"/>
              <a:gd name="connsiteY10" fmla="*/ 0 h 18288"/>
              <a:gd name="connsiteX11" fmla="*/ 7034087 w 9692640"/>
              <a:gd name="connsiteY11" fmla="*/ 0 h 18288"/>
              <a:gd name="connsiteX12" fmla="*/ 7532566 w 9692640"/>
              <a:gd name="connsiteY12" fmla="*/ 0 h 18288"/>
              <a:gd name="connsiteX13" fmla="*/ 8418750 w 9692640"/>
              <a:gd name="connsiteY13" fmla="*/ 0 h 18288"/>
              <a:gd name="connsiteX14" fmla="*/ 9692640 w 9692640"/>
              <a:gd name="connsiteY14" fmla="*/ 0 h 18288"/>
              <a:gd name="connsiteX15" fmla="*/ 9692640 w 9692640"/>
              <a:gd name="connsiteY15" fmla="*/ 18288 h 18288"/>
              <a:gd name="connsiteX16" fmla="*/ 9000309 w 9692640"/>
              <a:gd name="connsiteY16" fmla="*/ 18288 h 18288"/>
              <a:gd name="connsiteX17" fmla="*/ 8307977 w 9692640"/>
              <a:gd name="connsiteY17" fmla="*/ 18288 h 18288"/>
              <a:gd name="connsiteX18" fmla="*/ 7712572 w 9692640"/>
              <a:gd name="connsiteY18" fmla="*/ 18288 h 18288"/>
              <a:gd name="connsiteX19" fmla="*/ 7214093 w 9692640"/>
              <a:gd name="connsiteY19" fmla="*/ 18288 h 18288"/>
              <a:gd name="connsiteX20" fmla="*/ 6327909 w 9692640"/>
              <a:gd name="connsiteY20" fmla="*/ 18288 h 18288"/>
              <a:gd name="connsiteX21" fmla="*/ 5635578 w 9692640"/>
              <a:gd name="connsiteY21" fmla="*/ 18288 h 18288"/>
              <a:gd name="connsiteX22" fmla="*/ 4846320 w 9692640"/>
              <a:gd name="connsiteY22" fmla="*/ 18288 h 18288"/>
              <a:gd name="connsiteX23" fmla="*/ 4444768 w 9692640"/>
              <a:gd name="connsiteY23" fmla="*/ 18288 h 18288"/>
              <a:gd name="connsiteX24" fmla="*/ 3946289 w 9692640"/>
              <a:gd name="connsiteY24" fmla="*/ 18288 h 18288"/>
              <a:gd name="connsiteX25" fmla="*/ 3253958 w 9692640"/>
              <a:gd name="connsiteY25" fmla="*/ 18288 h 18288"/>
              <a:gd name="connsiteX26" fmla="*/ 2464700 w 9692640"/>
              <a:gd name="connsiteY26" fmla="*/ 18288 h 18288"/>
              <a:gd name="connsiteX27" fmla="*/ 2063148 w 9692640"/>
              <a:gd name="connsiteY27" fmla="*/ 18288 h 18288"/>
              <a:gd name="connsiteX28" fmla="*/ 1661595 w 9692640"/>
              <a:gd name="connsiteY28" fmla="*/ 18288 h 18288"/>
              <a:gd name="connsiteX29" fmla="*/ 969264 w 9692640"/>
              <a:gd name="connsiteY29" fmla="*/ 18288 h 18288"/>
              <a:gd name="connsiteX30" fmla="*/ 0 w 9692640"/>
              <a:gd name="connsiteY30" fmla="*/ 18288 h 18288"/>
              <a:gd name="connsiteX31" fmla="*/ 0 w 9692640"/>
              <a:gd name="connsiteY3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692640" h="18288" fill="none" extrusionOk="0">
                <a:moveTo>
                  <a:pt x="0" y="0"/>
                </a:moveTo>
                <a:cubicBezTo>
                  <a:pt x="142992" y="4732"/>
                  <a:pt x="265909" y="-3365"/>
                  <a:pt x="401552" y="0"/>
                </a:cubicBezTo>
                <a:cubicBezTo>
                  <a:pt x="537195" y="3365"/>
                  <a:pt x="738153" y="6482"/>
                  <a:pt x="996957" y="0"/>
                </a:cubicBezTo>
                <a:cubicBezTo>
                  <a:pt x="1255762" y="-6482"/>
                  <a:pt x="1280511" y="12509"/>
                  <a:pt x="1398509" y="0"/>
                </a:cubicBezTo>
                <a:cubicBezTo>
                  <a:pt x="1516507" y="-12509"/>
                  <a:pt x="1782573" y="-31523"/>
                  <a:pt x="2090841" y="0"/>
                </a:cubicBezTo>
                <a:cubicBezTo>
                  <a:pt x="2399109" y="31523"/>
                  <a:pt x="2488380" y="26286"/>
                  <a:pt x="2686246" y="0"/>
                </a:cubicBezTo>
                <a:cubicBezTo>
                  <a:pt x="2884112" y="-26286"/>
                  <a:pt x="3186024" y="-14734"/>
                  <a:pt x="3475504" y="0"/>
                </a:cubicBezTo>
                <a:cubicBezTo>
                  <a:pt x="3764984" y="14734"/>
                  <a:pt x="4053017" y="43292"/>
                  <a:pt x="4361688" y="0"/>
                </a:cubicBezTo>
                <a:cubicBezTo>
                  <a:pt x="4670359" y="-43292"/>
                  <a:pt x="4736164" y="-729"/>
                  <a:pt x="5054019" y="0"/>
                </a:cubicBezTo>
                <a:cubicBezTo>
                  <a:pt x="5371874" y="729"/>
                  <a:pt x="5543528" y="-22963"/>
                  <a:pt x="5940204" y="0"/>
                </a:cubicBezTo>
                <a:cubicBezTo>
                  <a:pt x="6336881" y="22963"/>
                  <a:pt x="6423838" y="6469"/>
                  <a:pt x="6632535" y="0"/>
                </a:cubicBezTo>
                <a:cubicBezTo>
                  <a:pt x="6841232" y="-6469"/>
                  <a:pt x="6852819" y="17036"/>
                  <a:pt x="7034087" y="0"/>
                </a:cubicBezTo>
                <a:cubicBezTo>
                  <a:pt x="7215355" y="-17036"/>
                  <a:pt x="7313136" y="11151"/>
                  <a:pt x="7532566" y="0"/>
                </a:cubicBezTo>
                <a:cubicBezTo>
                  <a:pt x="7751996" y="-11151"/>
                  <a:pt x="8015001" y="25614"/>
                  <a:pt x="8418750" y="0"/>
                </a:cubicBezTo>
                <a:cubicBezTo>
                  <a:pt x="8822499" y="-25614"/>
                  <a:pt x="9163239" y="48603"/>
                  <a:pt x="9692640" y="0"/>
                </a:cubicBezTo>
                <a:cubicBezTo>
                  <a:pt x="9691955" y="4437"/>
                  <a:pt x="9693170" y="10717"/>
                  <a:pt x="9692640" y="18288"/>
                </a:cubicBezTo>
                <a:cubicBezTo>
                  <a:pt x="9545125" y="42172"/>
                  <a:pt x="9164259" y="6706"/>
                  <a:pt x="9000309" y="18288"/>
                </a:cubicBezTo>
                <a:cubicBezTo>
                  <a:pt x="8836359" y="29870"/>
                  <a:pt x="8521035" y="-14108"/>
                  <a:pt x="8307977" y="18288"/>
                </a:cubicBezTo>
                <a:cubicBezTo>
                  <a:pt x="8094919" y="50684"/>
                  <a:pt x="7881757" y="11235"/>
                  <a:pt x="7712572" y="18288"/>
                </a:cubicBezTo>
                <a:cubicBezTo>
                  <a:pt x="7543387" y="25341"/>
                  <a:pt x="7358861" y="20625"/>
                  <a:pt x="7214093" y="18288"/>
                </a:cubicBezTo>
                <a:cubicBezTo>
                  <a:pt x="7069325" y="15951"/>
                  <a:pt x="6523705" y="52160"/>
                  <a:pt x="6327909" y="18288"/>
                </a:cubicBezTo>
                <a:cubicBezTo>
                  <a:pt x="6132113" y="-15584"/>
                  <a:pt x="5923847" y="21204"/>
                  <a:pt x="5635578" y="18288"/>
                </a:cubicBezTo>
                <a:cubicBezTo>
                  <a:pt x="5347309" y="15372"/>
                  <a:pt x="5114749" y="50642"/>
                  <a:pt x="4846320" y="18288"/>
                </a:cubicBezTo>
                <a:cubicBezTo>
                  <a:pt x="4577891" y="-14066"/>
                  <a:pt x="4576701" y="1487"/>
                  <a:pt x="4444768" y="18288"/>
                </a:cubicBezTo>
                <a:cubicBezTo>
                  <a:pt x="4312835" y="35089"/>
                  <a:pt x="4112575" y="15158"/>
                  <a:pt x="3946289" y="18288"/>
                </a:cubicBezTo>
                <a:cubicBezTo>
                  <a:pt x="3780003" y="21418"/>
                  <a:pt x="3396009" y="18797"/>
                  <a:pt x="3253958" y="18288"/>
                </a:cubicBezTo>
                <a:cubicBezTo>
                  <a:pt x="3111907" y="17779"/>
                  <a:pt x="2760272" y="57223"/>
                  <a:pt x="2464700" y="18288"/>
                </a:cubicBezTo>
                <a:cubicBezTo>
                  <a:pt x="2169128" y="-20647"/>
                  <a:pt x="2232262" y="7960"/>
                  <a:pt x="2063148" y="18288"/>
                </a:cubicBezTo>
                <a:cubicBezTo>
                  <a:pt x="1894034" y="28616"/>
                  <a:pt x="1799338" y="3019"/>
                  <a:pt x="1661595" y="18288"/>
                </a:cubicBezTo>
                <a:cubicBezTo>
                  <a:pt x="1523852" y="33557"/>
                  <a:pt x="1113928" y="-4352"/>
                  <a:pt x="969264" y="18288"/>
                </a:cubicBezTo>
                <a:cubicBezTo>
                  <a:pt x="824600" y="40928"/>
                  <a:pt x="356149" y="-3128"/>
                  <a:pt x="0" y="18288"/>
                </a:cubicBezTo>
                <a:cubicBezTo>
                  <a:pt x="-540" y="12521"/>
                  <a:pt x="894" y="7749"/>
                  <a:pt x="0" y="0"/>
                </a:cubicBezTo>
                <a:close/>
              </a:path>
              <a:path w="9692640" h="18288" stroke="0" extrusionOk="0">
                <a:moveTo>
                  <a:pt x="0" y="0"/>
                </a:moveTo>
                <a:cubicBezTo>
                  <a:pt x="162642" y="3864"/>
                  <a:pt x="346119" y="-18364"/>
                  <a:pt x="498479" y="0"/>
                </a:cubicBezTo>
                <a:cubicBezTo>
                  <a:pt x="650839" y="18364"/>
                  <a:pt x="712065" y="-9389"/>
                  <a:pt x="900031" y="0"/>
                </a:cubicBezTo>
                <a:cubicBezTo>
                  <a:pt x="1087997" y="9389"/>
                  <a:pt x="1177291" y="3685"/>
                  <a:pt x="1398509" y="0"/>
                </a:cubicBezTo>
                <a:cubicBezTo>
                  <a:pt x="1619727" y="-3685"/>
                  <a:pt x="1874008" y="-8897"/>
                  <a:pt x="2090841" y="0"/>
                </a:cubicBezTo>
                <a:cubicBezTo>
                  <a:pt x="2307674" y="8897"/>
                  <a:pt x="2573432" y="-313"/>
                  <a:pt x="2880099" y="0"/>
                </a:cubicBezTo>
                <a:cubicBezTo>
                  <a:pt x="3186766" y="313"/>
                  <a:pt x="3422577" y="10664"/>
                  <a:pt x="3766283" y="0"/>
                </a:cubicBezTo>
                <a:cubicBezTo>
                  <a:pt x="4109989" y="-10664"/>
                  <a:pt x="4342683" y="-32873"/>
                  <a:pt x="4652467" y="0"/>
                </a:cubicBezTo>
                <a:cubicBezTo>
                  <a:pt x="4962251" y="32873"/>
                  <a:pt x="5122120" y="29155"/>
                  <a:pt x="5247872" y="0"/>
                </a:cubicBezTo>
                <a:cubicBezTo>
                  <a:pt x="5373625" y="-29155"/>
                  <a:pt x="5749491" y="1706"/>
                  <a:pt x="6037130" y="0"/>
                </a:cubicBezTo>
                <a:cubicBezTo>
                  <a:pt x="6324769" y="-1706"/>
                  <a:pt x="6531407" y="1172"/>
                  <a:pt x="6729461" y="0"/>
                </a:cubicBezTo>
                <a:cubicBezTo>
                  <a:pt x="6927515" y="-1172"/>
                  <a:pt x="7096794" y="-1520"/>
                  <a:pt x="7324867" y="0"/>
                </a:cubicBezTo>
                <a:cubicBezTo>
                  <a:pt x="7552940" y="1520"/>
                  <a:pt x="7878827" y="-17110"/>
                  <a:pt x="8114124" y="0"/>
                </a:cubicBezTo>
                <a:cubicBezTo>
                  <a:pt x="8349421" y="17110"/>
                  <a:pt x="8334208" y="15114"/>
                  <a:pt x="8515677" y="0"/>
                </a:cubicBezTo>
                <a:cubicBezTo>
                  <a:pt x="8697146" y="-15114"/>
                  <a:pt x="9236164" y="22466"/>
                  <a:pt x="9692640" y="0"/>
                </a:cubicBezTo>
                <a:cubicBezTo>
                  <a:pt x="9692735" y="8251"/>
                  <a:pt x="9692514" y="12333"/>
                  <a:pt x="9692640" y="18288"/>
                </a:cubicBezTo>
                <a:cubicBezTo>
                  <a:pt x="9410102" y="47398"/>
                  <a:pt x="9172773" y="7109"/>
                  <a:pt x="9000309" y="18288"/>
                </a:cubicBezTo>
                <a:cubicBezTo>
                  <a:pt x="8827845" y="29467"/>
                  <a:pt x="8713608" y="28372"/>
                  <a:pt x="8501830" y="18288"/>
                </a:cubicBezTo>
                <a:cubicBezTo>
                  <a:pt x="8290052" y="8204"/>
                  <a:pt x="7893416" y="3561"/>
                  <a:pt x="7712572" y="18288"/>
                </a:cubicBezTo>
                <a:cubicBezTo>
                  <a:pt x="7531728" y="33015"/>
                  <a:pt x="7480716" y="17052"/>
                  <a:pt x="7311020" y="18288"/>
                </a:cubicBezTo>
                <a:cubicBezTo>
                  <a:pt x="7141324" y="19524"/>
                  <a:pt x="6962706" y="15975"/>
                  <a:pt x="6618688" y="18288"/>
                </a:cubicBezTo>
                <a:cubicBezTo>
                  <a:pt x="6274670" y="20601"/>
                  <a:pt x="6230664" y="-1692"/>
                  <a:pt x="6120210" y="18288"/>
                </a:cubicBezTo>
                <a:cubicBezTo>
                  <a:pt x="6009756" y="38268"/>
                  <a:pt x="5442516" y="28115"/>
                  <a:pt x="5234026" y="18288"/>
                </a:cubicBezTo>
                <a:cubicBezTo>
                  <a:pt x="5025536" y="8461"/>
                  <a:pt x="4953693" y="18182"/>
                  <a:pt x="4832473" y="18288"/>
                </a:cubicBezTo>
                <a:cubicBezTo>
                  <a:pt x="4711253" y="18394"/>
                  <a:pt x="4414565" y="-11251"/>
                  <a:pt x="4140142" y="18288"/>
                </a:cubicBezTo>
                <a:cubicBezTo>
                  <a:pt x="3865719" y="47827"/>
                  <a:pt x="3819081" y="16772"/>
                  <a:pt x="3738590" y="18288"/>
                </a:cubicBezTo>
                <a:cubicBezTo>
                  <a:pt x="3658099" y="19804"/>
                  <a:pt x="3427576" y="1385"/>
                  <a:pt x="3240111" y="18288"/>
                </a:cubicBezTo>
                <a:cubicBezTo>
                  <a:pt x="3052646" y="35191"/>
                  <a:pt x="2749652" y="-13914"/>
                  <a:pt x="2450853" y="18288"/>
                </a:cubicBezTo>
                <a:cubicBezTo>
                  <a:pt x="2152054" y="50490"/>
                  <a:pt x="1928331" y="61101"/>
                  <a:pt x="1564669" y="18288"/>
                </a:cubicBezTo>
                <a:cubicBezTo>
                  <a:pt x="1201007" y="-24525"/>
                  <a:pt x="1217828" y="-275"/>
                  <a:pt x="1066190" y="18288"/>
                </a:cubicBezTo>
                <a:cubicBezTo>
                  <a:pt x="914552" y="36851"/>
                  <a:pt x="418290" y="-14785"/>
                  <a:pt x="0" y="18288"/>
                </a:cubicBezTo>
                <a:cubicBezTo>
                  <a:pt x="641" y="14236"/>
                  <a:pt x="889" y="755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D7A9988-26C3-F98A-6FB1-B3ED4736D0C0}"/>
              </a:ext>
            </a:extLst>
          </p:cNvPr>
          <p:cNvSpPr txBox="1"/>
          <p:nvPr/>
        </p:nvSpPr>
        <p:spPr>
          <a:xfrm>
            <a:off x="838200" y="2004446"/>
            <a:ext cx="10515600" cy="4176897"/>
          </a:xfrm>
          <a:prstGeom prst="rect">
            <a:avLst/>
          </a:prstGeom>
        </p:spPr>
        <p:txBody>
          <a:bodyPr vert="horz" lIns="91440" tIns="45720" rIns="91440" bIns="45720" numCol="2" rtlCol="0">
            <a:normAutofit lnSpcReduction="10000"/>
          </a:bodyPr>
          <a:lstStyle/>
          <a:p>
            <a:pPr>
              <a:lnSpc>
                <a:spcPct val="90000"/>
              </a:lnSpc>
              <a:spcAft>
                <a:spcPts val="600"/>
              </a:spcAft>
            </a:pPr>
            <a:r>
              <a:rPr lang="en-US" b="1" dirty="0">
                <a:solidFill>
                  <a:schemeClr val="bg1"/>
                </a:solidFill>
                <a:latin typeface="Times New Roman" panose="02020603050405020304" pitchFamily="18" charset="0"/>
                <a:cs typeface="Times New Roman" panose="02020603050405020304" pitchFamily="18" charset="0"/>
              </a:rPr>
              <a:t>Genetic Factors:</a:t>
            </a:r>
          </a:p>
          <a:p>
            <a:pPr indent="-228600">
              <a:lnSpc>
                <a:spcPct val="90000"/>
              </a:lnSpc>
              <a:spcAft>
                <a:spcPts val="600"/>
              </a:spcAft>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40% chance of inheritance if both parents have schizophrenia (</a:t>
            </a:r>
            <a:r>
              <a:rPr lang="en-US" sz="1600" dirty="0" err="1">
                <a:solidFill>
                  <a:schemeClr val="bg1"/>
                </a:solidFill>
                <a:latin typeface="Times New Roman" panose="02020603050405020304" pitchFamily="18" charset="0"/>
                <a:cs typeface="Times New Roman" panose="02020603050405020304" pitchFamily="18" charset="0"/>
              </a:rPr>
              <a:t>Fatani</a:t>
            </a:r>
            <a:r>
              <a:rPr lang="en-US" sz="1600" dirty="0">
                <a:solidFill>
                  <a:schemeClr val="bg1"/>
                </a:solidFill>
                <a:latin typeface="Times New Roman" panose="02020603050405020304" pitchFamily="18" charset="0"/>
                <a:cs typeface="Times New Roman" panose="02020603050405020304" pitchFamily="18" charset="0"/>
              </a:rPr>
              <a:t> et al., 2017) </a:t>
            </a:r>
          </a:p>
          <a:p>
            <a:pPr indent="-228600">
              <a:lnSpc>
                <a:spcPct val="90000"/>
              </a:lnSpc>
              <a:spcAft>
                <a:spcPts val="600"/>
              </a:spcAft>
              <a:buFont typeface="Arial" panose="020B0604020202020204" pitchFamily="34" charset="0"/>
              <a:buChar char="•"/>
            </a:pPr>
            <a:endParaRPr lang="en-US" sz="1500" dirty="0">
              <a:solidFill>
                <a:schemeClr val="bg1"/>
              </a:solidFill>
              <a:latin typeface="Times New Roman" panose="02020603050405020304" pitchFamily="18" charset="0"/>
              <a:cs typeface="Times New Roman" panose="02020603050405020304" pitchFamily="18" charset="0"/>
            </a:endParaRPr>
          </a:p>
          <a:p>
            <a:pPr>
              <a:lnSpc>
                <a:spcPct val="90000"/>
              </a:lnSpc>
              <a:spcAft>
                <a:spcPts val="600"/>
              </a:spcAft>
            </a:pPr>
            <a:r>
              <a:rPr lang="en-US" b="1" dirty="0">
                <a:solidFill>
                  <a:schemeClr val="bg1"/>
                </a:solidFill>
                <a:latin typeface="Times New Roman" panose="02020603050405020304" pitchFamily="18" charset="0"/>
                <a:cs typeface="Times New Roman" panose="02020603050405020304" pitchFamily="18" charset="0"/>
              </a:rPr>
              <a:t>Dopaminergic Dysfunction:</a:t>
            </a:r>
            <a:endParaRPr lang="en-US" dirty="0">
              <a:solidFill>
                <a:schemeClr val="bg1"/>
              </a:solidFill>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r>
              <a:rPr lang="en-US" sz="1600" b="1" dirty="0">
                <a:solidFill>
                  <a:schemeClr val="bg1"/>
                </a:solidFill>
                <a:latin typeface="Times New Roman" panose="02020603050405020304" pitchFamily="18" charset="0"/>
                <a:cs typeface="Times New Roman" panose="02020603050405020304" pitchFamily="18" charset="0"/>
              </a:rPr>
              <a:t>Mesolimbic area:</a:t>
            </a:r>
            <a:r>
              <a:rPr lang="en-US" sz="1600" dirty="0">
                <a:solidFill>
                  <a:schemeClr val="bg1"/>
                </a:solidFill>
                <a:latin typeface="Times New Roman" panose="02020603050405020304" pitchFamily="18" charset="0"/>
                <a:cs typeface="Times New Roman" panose="02020603050405020304" pitchFamily="18" charset="0"/>
              </a:rPr>
              <a:t> Chaotic, hyperactive dopaminergic neurons.</a:t>
            </a:r>
          </a:p>
          <a:p>
            <a:pPr marL="742950" lvl="1" indent="-228600">
              <a:lnSpc>
                <a:spcPct val="90000"/>
              </a:lnSpc>
              <a:spcAft>
                <a:spcPts val="600"/>
              </a:spcAft>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Leads to </a:t>
            </a:r>
            <a:r>
              <a:rPr lang="en-US" sz="1600" b="1" dirty="0">
                <a:solidFill>
                  <a:schemeClr val="bg1"/>
                </a:solidFill>
                <a:latin typeface="Times New Roman" panose="02020603050405020304" pitchFamily="18" charset="0"/>
                <a:cs typeface="Times New Roman" panose="02020603050405020304" pitchFamily="18" charset="0"/>
              </a:rPr>
              <a:t>positive symptoms</a:t>
            </a:r>
            <a:r>
              <a:rPr lang="en-US" sz="1600" dirty="0">
                <a:solidFill>
                  <a:schemeClr val="bg1"/>
                </a:solidFill>
                <a:latin typeface="Times New Roman" panose="02020603050405020304" pitchFamily="18" charset="0"/>
                <a:cs typeface="Times New Roman" panose="02020603050405020304" pitchFamily="18" charset="0"/>
              </a:rPr>
              <a:t>: delusions, hallucinations, hostility, aggression (</a:t>
            </a:r>
            <a:r>
              <a:rPr lang="en-US" sz="1600" dirty="0" err="1">
                <a:solidFill>
                  <a:schemeClr val="bg1"/>
                </a:solidFill>
                <a:latin typeface="Times New Roman" panose="02020603050405020304" pitchFamily="18" charset="0"/>
                <a:cs typeface="Times New Roman" panose="02020603050405020304" pitchFamily="18" charset="0"/>
              </a:rPr>
              <a:t>Rubeša</a:t>
            </a:r>
            <a:r>
              <a:rPr lang="en-US" sz="1600" dirty="0">
                <a:solidFill>
                  <a:schemeClr val="bg1"/>
                </a:solidFill>
                <a:latin typeface="Times New Roman" panose="02020603050405020304" pitchFamily="18" charset="0"/>
                <a:cs typeface="Times New Roman" panose="02020603050405020304" pitchFamily="18" charset="0"/>
              </a:rPr>
              <a:t> et al., 2011).</a:t>
            </a:r>
          </a:p>
          <a:p>
            <a:pPr indent="-228600">
              <a:lnSpc>
                <a:spcPct val="90000"/>
              </a:lnSpc>
              <a:spcAft>
                <a:spcPts val="600"/>
              </a:spcAft>
              <a:buFont typeface="Arial" panose="020B0604020202020204" pitchFamily="34" charset="0"/>
              <a:buChar char="•"/>
            </a:pPr>
            <a:r>
              <a:rPr lang="en-US" sz="1600" b="1" dirty="0" err="1">
                <a:solidFill>
                  <a:schemeClr val="bg1"/>
                </a:solidFill>
                <a:latin typeface="Times New Roman" panose="02020603050405020304" pitchFamily="18" charset="0"/>
                <a:cs typeface="Times New Roman" panose="02020603050405020304" pitchFamily="18" charset="0"/>
              </a:rPr>
              <a:t>Mesocortical</a:t>
            </a:r>
            <a:r>
              <a:rPr lang="en-US" sz="1600" b="1" dirty="0">
                <a:solidFill>
                  <a:schemeClr val="bg1"/>
                </a:solidFill>
                <a:latin typeface="Times New Roman" panose="02020603050405020304" pitchFamily="18" charset="0"/>
                <a:cs typeface="Times New Roman" panose="02020603050405020304" pitchFamily="18" charset="0"/>
              </a:rPr>
              <a:t> area:</a:t>
            </a:r>
            <a:r>
              <a:rPr lang="en-US" sz="1600" dirty="0">
                <a:solidFill>
                  <a:schemeClr val="bg1"/>
                </a:solidFill>
                <a:latin typeface="Times New Roman" panose="02020603050405020304" pitchFamily="18" charset="0"/>
                <a:cs typeface="Times New Roman" panose="02020603050405020304" pitchFamily="18" charset="0"/>
              </a:rPr>
              <a:t> Hypoactive dopaminergic neurons (</a:t>
            </a:r>
            <a:r>
              <a:rPr lang="en-US" sz="1600" dirty="0" err="1">
                <a:solidFill>
                  <a:schemeClr val="bg1"/>
                </a:solidFill>
                <a:latin typeface="Times New Roman" panose="02020603050405020304" pitchFamily="18" charset="0"/>
                <a:cs typeface="Times New Roman" panose="02020603050405020304" pitchFamily="18" charset="0"/>
              </a:rPr>
              <a:t>Rubeša</a:t>
            </a:r>
            <a:r>
              <a:rPr lang="en-US" sz="1600" dirty="0">
                <a:solidFill>
                  <a:schemeClr val="bg1"/>
                </a:solidFill>
                <a:latin typeface="Times New Roman" panose="02020603050405020304" pitchFamily="18" charset="0"/>
                <a:cs typeface="Times New Roman" panose="02020603050405020304" pitchFamily="18" charset="0"/>
              </a:rPr>
              <a:t> et al., 2011)</a:t>
            </a:r>
          </a:p>
          <a:p>
            <a:pPr indent="-228600">
              <a:lnSpc>
                <a:spcPct val="90000"/>
              </a:lnSpc>
              <a:spcAft>
                <a:spcPts val="600"/>
              </a:spcAft>
              <a:buFont typeface="Arial" panose="020B0604020202020204" pitchFamily="34" charset="0"/>
              <a:buChar char="•"/>
            </a:pPr>
            <a:endParaRPr lang="en-US" sz="1500" b="1" dirty="0">
              <a:solidFill>
                <a:schemeClr val="bg1"/>
              </a:solidFill>
              <a:latin typeface="Times New Roman" panose="02020603050405020304" pitchFamily="18" charset="0"/>
              <a:cs typeface="Times New Roman" panose="02020603050405020304" pitchFamily="18" charset="0"/>
            </a:endParaRPr>
          </a:p>
          <a:p>
            <a:pPr>
              <a:lnSpc>
                <a:spcPct val="90000"/>
              </a:lnSpc>
              <a:spcAft>
                <a:spcPts val="600"/>
              </a:spcAft>
            </a:pPr>
            <a:r>
              <a:rPr lang="en-US" b="1" dirty="0">
                <a:solidFill>
                  <a:schemeClr val="bg1"/>
                </a:solidFill>
                <a:latin typeface="Times New Roman" panose="02020603050405020304" pitchFamily="18" charset="0"/>
                <a:cs typeface="Times New Roman" panose="02020603050405020304" pitchFamily="18" charset="0"/>
              </a:rPr>
              <a:t>Developmental Factors:</a:t>
            </a:r>
          </a:p>
          <a:p>
            <a:pPr indent="-228600">
              <a:lnSpc>
                <a:spcPct val="90000"/>
              </a:lnSpc>
              <a:spcAft>
                <a:spcPts val="600"/>
              </a:spcAft>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Impaired neurodevelopment.</a:t>
            </a:r>
          </a:p>
          <a:p>
            <a:pPr indent="-228600">
              <a:lnSpc>
                <a:spcPct val="90000"/>
              </a:lnSpc>
              <a:spcAft>
                <a:spcPts val="600"/>
              </a:spcAft>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Maternal stress, infection, nutritional deficiencies.</a:t>
            </a:r>
          </a:p>
          <a:p>
            <a:pPr indent="-228600">
              <a:lnSpc>
                <a:spcPct val="90000"/>
              </a:lnSpc>
              <a:spcAft>
                <a:spcPts val="600"/>
              </a:spcAft>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Birth complications (</a:t>
            </a:r>
            <a:r>
              <a:rPr lang="en-US" sz="1600" dirty="0" err="1">
                <a:solidFill>
                  <a:schemeClr val="bg1"/>
                </a:solidFill>
                <a:latin typeface="Times New Roman" panose="02020603050405020304" pitchFamily="18" charset="0"/>
                <a:cs typeface="Times New Roman" panose="02020603050405020304" pitchFamily="18" charset="0"/>
              </a:rPr>
              <a:t>Fatani</a:t>
            </a:r>
            <a:r>
              <a:rPr lang="en-US" sz="1600" dirty="0">
                <a:solidFill>
                  <a:schemeClr val="bg1"/>
                </a:solidFill>
                <a:latin typeface="Times New Roman" panose="02020603050405020304" pitchFamily="18" charset="0"/>
                <a:cs typeface="Times New Roman" panose="02020603050405020304" pitchFamily="18" charset="0"/>
              </a:rPr>
              <a:t> et al., 2017)</a:t>
            </a:r>
          </a:p>
          <a:p>
            <a:pPr indent="-228600">
              <a:lnSpc>
                <a:spcPct val="90000"/>
              </a:lnSpc>
              <a:spcAft>
                <a:spcPts val="600"/>
              </a:spcAft>
              <a:buFont typeface="Arial" panose="020B0604020202020204" pitchFamily="34" charset="0"/>
              <a:buChar char="•"/>
            </a:pPr>
            <a:endParaRPr lang="en-US" sz="1600" dirty="0">
              <a:solidFill>
                <a:schemeClr val="bg1"/>
              </a:solidFill>
              <a:latin typeface="Times New Roman" panose="02020603050405020304" pitchFamily="18" charset="0"/>
              <a:cs typeface="Times New Roman" panose="02020603050405020304" pitchFamily="18" charset="0"/>
            </a:endParaRPr>
          </a:p>
          <a:p>
            <a:pPr>
              <a:lnSpc>
                <a:spcPct val="90000"/>
              </a:lnSpc>
              <a:spcAft>
                <a:spcPts val="600"/>
              </a:spcAft>
            </a:pPr>
            <a:r>
              <a:rPr lang="en-US" b="1" dirty="0">
                <a:solidFill>
                  <a:schemeClr val="bg1"/>
                </a:solidFill>
                <a:latin typeface="Times New Roman" panose="02020603050405020304" pitchFamily="18" charset="0"/>
                <a:cs typeface="Times New Roman" panose="02020603050405020304" pitchFamily="18" charset="0"/>
              </a:rPr>
              <a:t>Environmental Factors:</a:t>
            </a:r>
            <a:endParaRPr lang="en-US" dirty="0">
              <a:solidFill>
                <a:schemeClr val="bg1"/>
              </a:solidFill>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Stress from social environments.</a:t>
            </a:r>
          </a:p>
          <a:p>
            <a:pPr indent="-228600">
              <a:lnSpc>
                <a:spcPct val="90000"/>
              </a:lnSpc>
              <a:spcAft>
                <a:spcPts val="600"/>
              </a:spcAft>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Discrimination.</a:t>
            </a:r>
          </a:p>
          <a:p>
            <a:pPr indent="-228600">
              <a:lnSpc>
                <a:spcPct val="90000"/>
              </a:lnSpc>
              <a:spcAft>
                <a:spcPts val="600"/>
              </a:spcAft>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May trigger delusions and paranoia (</a:t>
            </a:r>
            <a:r>
              <a:rPr lang="en-US" sz="1600" dirty="0" err="1">
                <a:solidFill>
                  <a:schemeClr val="bg1"/>
                </a:solidFill>
                <a:latin typeface="Times New Roman" panose="02020603050405020304" pitchFamily="18" charset="0"/>
                <a:cs typeface="Times New Roman" panose="02020603050405020304" pitchFamily="18" charset="0"/>
              </a:rPr>
              <a:t>Fatani</a:t>
            </a:r>
            <a:r>
              <a:rPr lang="en-US" sz="1600" dirty="0">
                <a:solidFill>
                  <a:schemeClr val="bg1"/>
                </a:solidFill>
                <a:latin typeface="Times New Roman" panose="02020603050405020304" pitchFamily="18" charset="0"/>
                <a:cs typeface="Times New Roman" panose="02020603050405020304" pitchFamily="18" charset="0"/>
              </a:rPr>
              <a:t> et al., 2017</a:t>
            </a:r>
          </a:p>
          <a:p>
            <a:pPr indent="-228600">
              <a:lnSpc>
                <a:spcPct val="90000"/>
              </a:lnSpc>
              <a:spcAft>
                <a:spcPts val="600"/>
              </a:spcAft>
              <a:buFont typeface="Arial" panose="020B0604020202020204" pitchFamily="34" charset="0"/>
              <a:buChar char="•"/>
            </a:pPr>
            <a:endParaRPr lang="en-US" sz="1600" b="1" dirty="0">
              <a:solidFill>
                <a:schemeClr val="bg1"/>
              </a:solidFill>
              <a:latin typeface="Times New Roman" panose="02020603050405020304" pitchFamily="18" charset="0"/>
              <a:cs typeface="Times New Roman" panose="02020603050405020304" pitchFamily="18" charset="0"/>
            </a:endParaRPr>
          </a:p>
          <a:p>
            <a:pPr>
              <a:lnSpc>
                <a:spcPct val="90000"/>
              </a:lnSpc>
              <a:spcAft>
                <a:spcPts val="600"/>
              </a:spcAft>
            </a:pPr>
            <a:r>
              <a:rPr lang="en-US" b="1" dirty="0">
                <a:solidFill>
                  <a:schemeClr val="bg1"/>
                </a:solidFill>
                <a:latin typeface="Times New Roman" panose="02020603050405020304" pitchFamily="18" charset="0"/>
                <a:cs typeface="Times New Roman" panose="02020603050405020304" pitchFamily="18" charset="0"/>
              </a:rPr>
              <a:t>Incidence and Course:</a:t>
            </a:r>
            <a:endParaRPr lang="en-US" dirty="0">
              <a:solidFill>
                <a:schemeClr val="bg1"/>
              </a:solidFill>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Typically occurs between ages </a:t>
            </a:r>
            <a:r>
              <a:rPr lang="en-US" sz="1600" b="1" dirty="0">
                <a:solidFill>
                  <a:schemeClr val="bg1"/>
                </a:solidFill>
                <a:latin typeface="Times New Roman" panose="02020603050405020304" pitchFamily="18" charset="0"/>
                <a:cs typeface="Times New Roman" panose="02020603050405020304" pitchFamily="18" charset="0"/>
              </a:rPr>
              <a:t>15–44</a:t>
            </a:r>
            <a:r>
              <a:rPr lang="en-US" sz="1600" dirty="0">
                <a:solidFill>
                  <a:schemeClr val="bg1"/>
                </a:solidFill>
                <a:latin typeface="Times New Roman" panose="02020603050405020304" pitchFamily="18" charset="0"/>
                <a:cs typeface="Times New Roman" panose="02020603050405020304" pitchFamily="18" charset="0"/>
              </a:rPr>
              <a:t>.</a:t>
            </a:r>
          </a:p>
          <a:p>
            <a:pPr indent="-228600">
              <a:lnSpc>
                <a:spcPct val="90000"/>
              </a:lnSpc>
              <a:spcAft>
                <a:spcPts val="600"/>
              </a:spcAft>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Chronic condition (Jackson, 1960)</a:t>
            </a:r>
          </a:p>
          <a:p>
            <a:pPr indent="-228600">
              <a:lnSpc>
                <a:spcPct val="90000"/>
              </a:lnSpc>
              <a:spcAft>
                <a:spcPts val="600"/>
              </a:spcAft>
              <a:buFont typeface="Arial" panose="020B0604020202020204" pitchFamily="34" charset="0"/>
              <a:buChar char="•"/>
            </a:pPr>
            <a:endParaRPr lang="en-US" sz="1500" dirty="0">
              <a:solidFill>
                <a:schemeClr val="bg1"/>
              </a:solidFill>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endParaRPr lang="en-US" sz="1500" dirty="0">
              <a:solidFill>
                <a:schemeClr val="bg1"/>
              </a:solidFill>
            </a:endParaRPr>
          </a:p>
        </p:txBody>
      </p:sp>
    </p:spTree>
    <p:extLst>
      <p:ext uri="{BB962C8B-B14F-4D97-AF65-F5344CB8AC3E}">
        <p14:creationId xmlns:p14="http://schemas.microsoft.com/office/powerpoint/2010/main" val="19952589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1A9F7B4E-B03D-4F64-BE33-00D074458D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0975C4C8-A9CC-A747-9C72-F87F9722BCE0}"/>
              </a:ext>
            </a:extLst>
          </p:cNvPr>
          <p:cNvPicPr>
            <a:picLocks noChangeAspect="1"/>
          </p:cNvPicPr>
          <p:nvPr/>
        </p:nvPicPr>
        <p:blipFill>
          <a:blip r:embed="rId2">
            <a:alphaModFix amt="40000"/>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4894" b="10837"/>
          <a:stretch/>
        </p:blipFill>
        <p:spPr>
          <a:xfrm>
            <a:off x="20" y="10"/>
            <a:ext cx="12191979" cy="6857990"/>
          </a:xfrm>
          <a:prstGeom prst="rect">
            <a:avLst/>
          </a:prstGeom>
        </p:spPr>
      </p:pic>
      <p:sp>
        <p:nvSpPr>
          <p:cNvPr id="4" name="TextBox 3">
            <a:extLst>
              <a:ext uri="{FF2B5EF4-FFF2-40B4-BE49-F238E27FC236}">
                <a16:creationId xmlns:a16="http://schemas.microsoft.com/office/drawing/2014/main" id="{176B7FC4-6E86-7E48-E668-063D9F467FF9}"/>
              </a:ext>
            </a:extLst>
          </p:cNvPr>
          <p:cNvSpPr txBox="1"/>
          <p:nvPr/>
        </p:nvSpPr>
        <p:spPr>
          <a:xfrm>
            <a:off x="838200" y="365125"/>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5400" b="1" dirty="0">
                <a:solidFill>
                  <a:schemeClr val="bg1"/>
                </a:solidFill>
                <a:latin typeface="Times New Roman" panose="02020603050405020304" pitchFamily="18" charset="0"/>
                <a:ea typeface="+mj-ea"/>
                <a:cs typeface="Times New Roman" panose="02020603050405020304" pitchFamily="18" charset="0"/>
              </a:rPr>
              <a:t>PATHOGENESIS</a:t>
            </a:r>
            <a:r>
              <a:rPr lang="en-US" sz="5400" dirty="0">
                <a:solidFill>
                  <a:schemeClr val="bg1"/>
                </a:solidFill>
                <a:latin typeface="+mj-lt"/>
                <a:ea typeface="+mj-ea"/>
                <a:cs typeface="+mj-cs"/>
              </a:rPr>
              <a:t> </a:t>
            </a:r>
          </a:p>
        </p:txBody>
      </p:sp>
      <p:sp>
        <p:nvSpPr>
          <p:cNvPr id="18" name="sketchy line">
            <a:extLst>
              <a:ext uri="{FF2B5EF4-FFF2-40B4-BE49-F238E27FC236}">
                <a16:creationId xmlns:a16="http://schemas.microsoft.com/office/drawing/2014/main" id="{7E2BE7F7-CA89-4002-ACCE-A478AEA24F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4399" y="1681544"/>
            <a:ext cx="9692640" cy="18288"/>
          </a:xfrm>
          <a:custGeom>
            <a:avLst/>
            <a:gdLst>
              <a:gd name="connsiteX0" fmla="*/ 0 w 9692640"/>
              <a:gd name="connsiteY0" fmla="*/ 0 h 18288"/>
              <a:gd name="connsiteX1" fmla="*/ 401552 w 9692640"/>
              <a:gd name="connsiteY1" fmla="*/ 0 h 18288"/>
              <a:gd name="connsiteX2" fmla="*/ 996957 w 9692640"/>
              <a:gd name="connsiteY2" fmla="*/ 0 h 18288"/>
              <a:gd name="connsiteX3" fmla="*/ 1398509 w 9692640"/>
              <a:gd name="connsiteY3" fmla="*/ 0 h 18288"/>
              <a:gd name="connsiteX4" fmla="*/ 2090841 w 9692640"/>
              <a:gd name="connsiteY4" fmla="*/ 0 h 18288"/>
              <a:gd name="connsiteX5" fmla="*/ 2686246 w 9692640"/>
              <a:gd name="connsiteY5" fmla="*/ 0 h 18288"/>
              <a:gd name="connsiteX6" fmla="*/ 3475504 w 9692640"/>
              <a:gd name="connsiteY6" fmla="*/ 0 h 18288"/>
              <a:gd name="connsiteX7" fmla="*/ 4361688 w 9692640"/>
              <a:gd name="connsiteY7" fmla="*/ 0 h 18288"/>
              <a:gd name="connsiteX8" fmla="*/ 5054019 w 9692640"/>
              <a:gd name="connsiteY8" fmla="*/ 0 h 18288"/>
              <a:gd name="connsiteX9" fmla="*/ 5940204 w 9692640"/>
              <a:gd name="connsiteY9" fmla="*/ 0 h 18288"/>
              <a:gd name="connsiteX10" fmla="*/ 6632535 w 9692640"/>
              <a:gd name="connsiteY10" fmla="*/ 0 h 18288"/>
              <a:gd name="connsiteX11" fmla="*/ 7034087 w 9692640"/>
              <a:gd name="connsiteY11" fmla="*/ 0 h 18288"/>
              <a:gd name="connsiteX12" fmla="*/ 7532566 w 9692640"/>
              <a:gd name="connsiteY12" fmla="*/ 0 h 18288"/>
              <a:gd name="connsiteX13" fmla="*/ 8418750 w 9692640"/>
              <a:gd name="connsiteY13" fmla="*/ 0 h 18288"/>
              <a:gd name="connsiteX14" fmla="*/ 9692640 w 9692640"/>
              <a:gd name="connsiteY14" fmla="*/ 0 h 18288"/>
              <a:gd name="connsiteX15" fmla="*/ 9692640 w 9692640"/>
              <a:gd name="connsiteY15" fmla="*/ 18288 h 18288"/>
              <a:gd name="connsiteX16" fmla="*/ 9000309 w 9692640"/>
              <a:gd name="connsiteY16" fmla="*/ 18288 h 18288"/>
              <a:gd name="connsiteX17" fmla="*/ 8307977 w 9692640"/>
              <a:gd name="connsiteY17" fmla="*/ 18288 h 18288"/>
              <a:gd name="connsiteX18" fmla="*/ 7712572 w 9692640"/>
              <a:gd name="connsiteY18" fmla="*/ 18288 h 18288"/>
              <a:gd name="connsiteX19" fmla="*/ 7214093 w 9692640"/>
              <a:gd name="connsiteY19" fmla="*/ 18288 h 18288"/>
              <a:gd name="connsiteX20" fmla="*/ 6327909 w 9692640"/>
              <a:gd name="connsiteY20" fmla="*/ 18288 h 18288"/>
              <a:gd name="connsiteX21" fmla="*/ 5635578 w 9692640"/>
              <a:gd name="connsiteY21" fmla="*/ 18288 h 18288"/>
              <a:gd name="connsiteX22" fmla="*/ 4846320 w 9692640"/>
              <a:gd name="connsiteY22" fmla="*/ 18288 h 18288"/>
              <a:gd name="connsiteX23" fmla="*/ 4444768 w 9692640"/>
              <a:gd name="connsiteY23" fmla="*/ 18288 h 18288"/>
              <a:gd name="connsiteX24" fmla="*/ 3946289 w 9692640"/>
              <a:gd name="connsiteY24" fmla="*/ 18288 h 18288"/>
              <a:gd name="connsiteX25" fmla="*/ 3253958 w 9692640"/>
              <a:gd name="connsiteY25" fmla="*/ 18288 h 18288"/>
              <a:gd name="connsiteX26" fmla="*/ 2464700 w 9692640"/>
              <a:gd name="connsiteY26" fmla="*/ 18288 h 18288"/>
              <a:gd name="connsiteX27" fmla="*/ 2063148 w 9692640"/>
              <a:gd name="connsiteY27" fmla="*/ 18288 h 18288"/>
              <a:gd name="connsiteX28" fmla="*/ 1661595 w 9692640"/>
              <a:gd name="connsiteY28" fmla="*/ 18288 h 18288"/>
              <a:gd name="connsiteX29" fmla="*/ 969264 w 9692640"/>
              <a:gd name="connsiteY29" fmla="*/ 18288 h 18288"/>
              <a:gd name="connsiteX30" fmla="*/ 0 w 9692640"/>
              <a:gd name="connsiteY30" fmla="*/ 18288 h 18288"/>
              <a:gd name="connsiteX31" fmla="*/ 0 w 9692640"/>
              <a:gd name="connsiteY3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692640" h="18288" fill="none" extrusionOk="0">
                <a:moveTo>
                  <a:pt x="0" y="0"/>
                </a:moveTo>
                <a:cubicBezTo>
                  <a:pt x="142992" y="4732"/>
                  <a:pt x="265909" y="-3365"/>
                  <a:pt x="401552" y="0"/>
                </a:cubicBezTo>
                <a:cubicBezTo>
                  <a:pt x="537195" y="3365"/>
                  <a:pt x="738153" y="6482"/>
                  <a:pt x="996957" y="0"/>
                </a:cubicBezTo>
                <a:cubicBezTo>
                  <a:pt x="1255762" y="-6482"/>
                  <a:pt x="1280511" y="12509"/>
                  <a:pt x="1398509" y="0"/>
                </a:cubicBezTo>
                <a:cubicBezTo>
                  <a:pt x="1516507" y="-12509"/>
                  <a:pt x="1782573" y="-31523"/>
                  <a:pt x="2090841" y="0"/>
                </a:cubicBezTo>
                <a:cubicBezTo>
                  <a:pt x="2399109" y="31523"/>
                  <a:pt x="2488380" y="26286"/>
                  <a:pt x="2686246" y="0"/>
                </a:cubicBezTo>
                <a:cubicBezTo>
                  <a:pt x="2884112" y="-26286"/>
                  <a:pt x="3186024" y="-14734"/>
                  <a:pt x="3475504" y="0"/>
                </a:cubicBezTo>
                <a:cubicBezTo>
                  <a:pt x="3764984" y="14734"/>
                  <a:pt x="4053017" y="43292"/>
                  <a:pt x="4361688" y="0"/>
                </a:cubicBezTo>
                <a:cubicBezTo>
                  <a:pt x="4670359" y="-43292"/>
                  <a:pt x="4736164" y="-729"/>
                  <a:pt x="5054019" y="0"/>
                </a:cubicBezTo>
                <a:cubicBezTo>
                  <a:pt x="5371874" y="729"/>
                  <a:pt x="5543528" y="-22963"/>
                  <a:pt x="5940204" y="0"/>
                </a:cubicBezTo>
                <a:cubicBezTo>
                  <a:pt x="6336881" y="22963"/>
                  <a:pt x="6423838" y="6469"/>
                  <a:pt x="6632535" y="0"/>
                </a:cubicBezTo>
                <a:cubicBezTo>
                  <a:pt x="6841232" y="-6469"/>
                  <a:pt x="6852819" y="17036"/>
                  <a:pt x="7034087" y="0"/>
                </a:cubicBezTo>
                <a:cubicBezTo>
                  <a:pt x="7215355" y="-17036"/>
                  <a:pt x="7313136" y="11151"/>
                  <a:pt x="7532566" y="0"/>
                </a:cubicBezTo>
                <a:cubicBezTo>
                  <a:pt x="7751996" y="-11151"/>
                  <a:pt x="8015001" y="25614"/>
                  <a:pt x="8418750" y="0"/>
                </a:cubicBezTo>
                <a:cubicBezTo>
                  <a:pt x="8822499" y="-25614"/>
                  <a:pt x="9163239" y="48603"/>
                  <a:pt x="9692640" y="0"/>
                </a:cubicBezTo>
                <a:cubicBezTo>
                  <a:pt x="9691955" y="4437"/>
                  <a:pt x="9693170" y="10717"/>
                  <a:pt x="9692640" y="18288"/>
                </a:cubicBezTo>
                <a:cubicBezTo>
                  <a:pt x="9545125" y="42172"/>
                  <a:pt x="9164259" y="6706"/>
                  <a:pt x="9000309" y="18288"/>
                </a:cubicBezTo>
                <a:cubicBezTo>
                  <a:pt x="8836359" y="29870"/>
                  <a:pt x="8521035" y="-14108"/>
                  <a:pt x="8307977" y="18288"/>
                </a:cubicBezTo>
                <a:cubicBezTo>
                  <a:pt x="8094919" y="50684"/>
                  <a:pt x="7881757" y="11235"/>
                  <a:pt x="7712572" y="18288"/>
                </a:cubicBezTo>
                <a:cubicBezTo>
                  <a:pt x="7543387" y="25341"/>
                  <a:pt x="7358861" y="20625"/>
                  <a:pt x="7214093" y="18288"/>
                </a:cubicBezTo>
                <a:cubicBezTo>
                  <a:pt x="7069325" y="15951"/>
                  <a:pt x="6523705" y="52160"/>
                  <a:pt x="6327909" y="18288"/>
                </a:cubicBezTo>
                <a:cubicBezTo>
                  <a:pt x="6132113" y="-15584"/>
                  <a:pt x="5923847" y="21204"/>
                  <a:pt x="5635578" y="18288"/>
                </a:cubicBezTo>
                <a:cubicBezTo>
                  <a:pt x="5347309" y="15372"/>
                  <a:pt x="5114749" y="50642"/>
                  <a:pt x="4846320" y="18288"/>
                </a:cubicBezTo>
                <a:cubicBezTo>
                  <a:pt x="4577891" y="-14066"/>
                  <a:pt x="4576701" y="1487"/>
                  <a:pt x="4444768" y="18288"/>
                </a:cubicBezTo>
                <a:cubicBezTo>
                  <a:pt x="4312835" y="35089"/>
                  <a:pt x="4112575" y="15158"/>
                  <a:pt x="3946289" y="18288"/>
                </a:cubicBezTo>
                <a:cubicBezTo>
                  <a:pt x="3780003" y="21418"/>
                  <a:pt x="3396009" y="18797"/>
                  <a:pt x="3253958" y="18288"/>
                </a:cubicBezTo>
                <a:cubicBezTo>
                  <a:pt x="3111907" y="17779"/>
                  <a:pt x="2760272" y="57223"/>
                  <a:pt x="2464700" y="18288"/>
                </a:cubicBezTo>
                <a:cubicBezTo>
                  <a:pt x="2169128" y="-20647"/>
                  <a:pt x="2232262" y="7960"/>
                  <a:pt x="2063148" y="18288"/>
                </a:cubicBezTo>
                <a:cubicBezTo>
                  <a:pt x="1894034" y="28616"/>
                  <a:pt x="1799338" y="3019"/>
                  <a:pt x="1661595" y="18288"/>
                </a:cubicBezTo>
                <a:cubicBezTo>
                  <a:pt x="1523852" y="33557"/>
                  <a:pt x="1113928" y="-4352"/>
                  <a:pt x="969264" y="18288"/>
                </a:cubicBezTo>
                <a:cubicBezTo>
                  <a:pt x="824600" y="40928"/>
                  <a:pt x="356149" y="-3128"/>
                  <a:pt x="0" y="18288"/>
                </a:cubicBezTo>
                <a:cubicBezTo>
                  <a:pt x="-540" y="12521"/>
                  <a:pt x="894" y="7749"/>
                  <a:pt x="0" y="0"/>
                </a:cubicBezTo>
                <a:close/>
              </a:path>
              <a:path w="9692640" h="18288" stroke="0" extrusionOk="0">
                <a:moveTo>
                  <a:pt x="0" y="0"/>
                </a:moveTo>
                <a:cubicBezTo>
                  <a:pt x="162642" y="3864"/>
                  <a:pt x="346119" y="-18364"/>
                  <a:pt x="498479" y="0"/>
                </a:cubicBezTo>
                <a:cubicBezTo>
                  <a:pt x="650839" y="18364"/>
                  <a:pt x="712065" y="-9389"/>
                  <a:pt x="900031" y="0"/>
                </a:cubicBezTo>
                <a:cubicBezTo>
                  <a:pt x="1087997" y="9389"/>
                  <a:pt x="1177291" y="3685"/>
                  <a:pt x="1398509" y="0"/>
                </a:cubicBezTo>
                <a:cubicBezTo>
                  <a:pt x="1619727" y="-3685"/>
                  <a:pt x="1874008" y="-8897"/>
                  <a:pt x="2090841" y="0"/>
                </a:cubicBezTo>
                <a:cubicBezTo>
                  <a:pt x="2307674" y="8897"/>
                  <a:pt x="2573432" y="-313"/>
                  <a:pt x="2880099" y="0"/>
                </a:cubicBezTo>
                <a:cubicBezTo>
                  <a:pt x="3186766" y="313"/>
                  <a:pt x="3422577" y="10664"/>
                  <a:pt x="3766283" y="0"/>
                </a:cubicBezTo>
                <a:cubicBezTo>
                  <a:pt x="4109989" y="-10664"/>
                  <a:pt x="4342683" y="-32873"/>
                  <a:pt x="4652467" y="0"/>
                </a:cubicBezTo>
                <a:cubicBezTo>
                  <a:pt x="4962251" y="32873"/>
                  <a:pt x="5122120" y="29155"/>
                  <a:pt x="5247872" y="0"/>
                </a:cubicBezTo>
                <a:cubicBezTo>
                  <a:pt x="5373625" y="-29155"/>
                  <a:pt x="5749491" y="1706"/>
                  <a:pt x="6037130" y="0"/>
                </a:cubicBezTo>
                <a:cubicBezTo>
                  <a:pt x="6324769" y="-1706"/>
                  <a:pt x="6531407" y="1172"/>
                  <a:pt x="6729461" y="0"/>
                </a:cubicBezTo>
                <a:cubicBezTo>
                  <a:pt x="6927515" y="-1172"/>
                  <a:pt x="7096794" y="-1520"/>
                  <a:pt x="7324867" y="0"/>
                </a:cubicBezTo>
                <a:cubicBezTo>
                  <a:pt x="7552940" y="1520"/>
                  <a:pt x="7878827" y="-17110"/>
                  <a:pt x="8114124" y="0"/>
                </a:cubicBezTo>
                <a:cubicBezTo>
                  <a:pt x="8349421" y="17110"/>
                  <a:pt x="8334208" y="15114"/>
                  <a:pt x="8515677" y="0"/>
                </a:cubicBezTo>
                <a:cubicBezTo>
                  <a:pt x="8697146" y="-15114"/>
                  <a:pt x="9236164" y="22466"/>
                  <a:pt x="9692640" y="0"/>
                </a:cubicBezTo>
                <a:cubicBezTo>
                  <a:pt x="9692735" y="8251"/>
                  <a:pt x="9692514" y="12333"/>
                  <a:pt x="9692640" y="18288"/>
                </a:cubicBezTo>
                <a:cubicBezTo>
                  <a:pt x="9410102" y="47398"/>
                  <a:pt x="9172773" y="7109"/>
                  <a:pt x="9000309" y="18288"/>
                </a:cubicBezTo>
                <a:cubicBezTo>
                  <a:pt x="8827845" y="29467"/>
                  <a:pt x="8713608" y="28372"/>
                  <a:pt x="8501830" y="18288"/>
                </a:cubicBezTo>
                <a:cubicBezTo>
                  <a:pt x="8290052" y="8204"/>
                  <a:pt x="7893416" y="3561"/>
                  <a:pt x="7712572" y="18288"/>
                </a:cubicBezTo>
                <a:cubicBezTo>
                  <a:pt x="7531728" y="33015"/>
                  <a:pt x="7480716" y="17052"/>
                  <a:pt x="7311020" y="18288"/>
                </a:cubicBezTo>
                <a:cubicBezTo>
                  <a:pt x="7141324" y="19524"/>
                  <a:pt x="6962706" y="15975"/>
                  <a:pt x="6618688" y="18288"/>
                </a:cubicBezTo>
                <a:cubicBezTo>
                  <a:pt x="6274670" y="20601"/>
                  <a:pt x="6230664" y="-1692"/>
                  <a:pt x="6120210" y="18288"/>
                </a:cubicBezTo>
                <a:cubicBezTo>
                  <a:pt x="6009756" y="38268"/>
                  <a:pt x="5442516" y="28115"/>
                  <a:pt x="5234026" y="18288"/>
                </a:cubicBezTo>
                <a:cubicBezTo>
                  <a:pt x="5025536" y="8461"/>
                  <a:pt x="4953693" y="18182"/>
                  <a:pt x="4832473" y="18288"/>
                </a:cubicBezTo>
                <a:cubicBezTo>
                  <a:pt x="4711253" y="18394"/>
                  <a:pt x="4414565" y="-11251"/>
                  <a:pt x="4140142" y="18288"/>
                </a:cubicBezTo>
                <a:cubicBezTo>
                  <a:pt x="3865719" y="47827"/>
                  <a:pt x="3819081" y="16772"/>
                  <a:pt x="3738590" y="18288"/>
                </a:cubicBezTo>
                <a:cubicBezTo>
                  <a:pt x="3658099" y="19804"/>
                  <a:pt x="3427576" y="1385"/>
                  <a:pt x="3240111" y="18288"/>
                </a:cubicBezTo>
                <a:cubicBezTo>
                  <a:pt x="3052646" y="35191"/>
                  <a:pt x="2749652" y="-13914"/>
                  <a:pt x="2450853" y="18288"/>
                </a:cubicBezTo>
                <a:cubicBezTo>
                  <a:pt x="2152054" y="50490"/>
                  <a:pt x="1928331" y="61101"/>
                  <a:pt x="1564669" y="18288"/>
                </a:cubicBezTo>
                <a:cubicBezTo>
                  <a:pt x="1201007" y="-24525"/>
                  <a:pt x="1217828" y="-275"/>
                  <a:pt x="1066190" y="18288"/>
                </a:cubicBezTo>
                <a:cubicBezTo>
                  <a:pt x="914552" y="36851"/>
                  <a:pt x="418290" y="-14785"/>
                  <a:pt x="0" y="18288"/>
                </a:cubicBezTo>
                <a:cubicBezTo>
                  <a:pt x="641" y="14236"/>
                  <a:pt x="889" y="755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D7A9988-26C3-F98A-6FB1-B3ED4736D0C0}"/>
              </a:ext>
            </a:extLst>
          </p:cNvPr>
          <p:cNvSpPr txBox="1"/>
          <p:nvPr/>
        </p:nvSpPr>
        <p:spPr>
          <a:xfrm>
            <a:off x="838200" y="2004446"/>
            <a:ext cx="10515600" cy="4853544"/>
          </a:xfrm>
          <a:prstGeom prst="rect">
            <a:avLst/>
          </a:prstGeom>
        </p:spPr>
        <p:txBody>
          <a:bodyPr vert="horz" lIns="91440" tIns="45720" rIns="91440" bIns="45720" numCol="2" rtlCol="0">
            <a:normAutofit fontScale="92500" lnSpcReduction="10000"/>
          </a:bodyPr>
          <a:lstStyle/>
          <a:p>
            <a:r>
              <a:rPr lang="en-ZA" sz="2200" b="1" dirty="0">
                <a:solidFill>
                  <a:schemeClr val="bg1"/>
                </a:solidFill>
                <a:latin typeface="Times New Roman" panose="02020603050405020304" pitchFamily="18" charset="0"/>
                <a:cs typeface="Times New Roman" panose="02020603050405020304" pitchFamily="18" charset="0"/>
              </a:rPr>
              <a:t>Structural Brain Abnormalities:</a:t>
            </a:r>
          </a:p>
          <a:p>
            <a:pPr>
              <a:buFont typeface="Arial" panose="020B0604020202020204" pitchFamily="34" charset="0"/>
              <a:buChar char="•"/>
            </a:pPr>
            <a:r>
              <a:rPr lang="en-ZA" sz="1900" b="1" dirty="0">
                <a:solidFill>
                  <a:schemeClr val="bg1"/>
                </a:solidFill>
                <a:latin typeface="Times New Roman" panose="02020603050405020304" pitchFamily="18" charset="0"/>
                <a:cs typeface="Times New Roman" panose="02020603050405020304" pitchFamily="18" charset="0"/>
              </a:rPr>
              <a:t>Reduction in grey matter</a:t>
            </a:r>
            <a:r>
              <a:rPr lang="en-ZA" sz="1900" dirty="0">
                <a:solidFill>
                  <a:schemeClr val="bg1"/>
                </a:solidFill>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ZA" sz="1700" dirty="0">
                <a:solidFill>
                  <a:schemeClr val="bg1"/>
                </a:solidFill>
                <a:latin typeface="Times New Roman" panose="02020603050405020304" pitchFamily="18" charset="0"/>
                <a:cs typeface="Times New Roman" panose="02020603050405020304" pitchFamily="18" charset="0"/>
              </a:rPr>
              <a:t>Progressive over time.</a:t>
            </a:r>
          </a:p>
          <a:p>
            <a:pPr marL="742950" lvl="1" indent="-285750">
              <a:buFont typeface="Arial" panose="020B0604020202020204" pitchFamily="34" charset="0"/>
              <a:buChar char="•"/>
            </a:pPr>
            <a:r>
              <a:rPr lang="en-ZA" sz="1700" dirty="0">
                <a:solidFill>
                  <a:schemeClr val="bg1"/>
                </a:solidFill>
                <a:latin typeface="Times New Roman" panose="02020603050405020304" pitchFamily="18" charset="0"/>
                <a:cs typeface="Times New Roman" panose="02020603050405020304" pitchFamily="18" charset="0"/>
              </a:rPr>
              <a:t>Noted in </a:t>
            </a:r>
            <a:r>
              <a:rPr lang="en-ZA" sz="1700" b="1" dirty="0">
                <a:solidFill>
                  <a:schemeClr val="bg1"/>
                </a:solidFill>
                <a:latin typeface="Times New Roman" panose="02020603050405020304" pitchFamily="18" charset="0"/>
                <a:cs typeface="Times New Roman" panose="02020603050405020304" pitchFamily="18" charset="0"/>
              </a:rPr>
              <a:t>temporal lobe</a:t>
            </a:r>
            <a:r>
              <a:rPr lang="en-ZA" sz="1700" dirty="0">
                <a:solidFill>
                  <a:schemeClr val="bg1"/>
                </a:solidFill>
                <a:latin typeface="Times New Roman" panose="02020603050405020304" pitchFamily="18" charset="0"/>
                <a:cs typeface="Times New Roman" panose="02020603050405020304" pitchFamily="18" charset="0"/>
              </a:rPr>
              <a:t> (due to antipsychotic meds).</a:t>
            </a:r>
          </a:p>
          <a:p>
            <a:pPr marL="742950" lvl="1" indent="-285750">
              <a:buFont typeface="Arial" panose="020B0604020202020204" pitchFamily="34" charset="0"/>
              <a:buChar char="•"/>
            </a:pPr>
            <a:r>
              <a:rPr lang="en-ZA" sz="1700" dirty="0">
                <a:solidFill>
                  <a:schemeClr val="bg1"/>
                </a:solidFill>
                <a:latin typeface="Times New Roman" panose="02020603050405020304" pitchFamily="18" charset="0"/>
                <a:cs typeface="Times New Roman" panose="02020603050405020304" pitchFamily="18" charset="0"/>
              </a:rPr>
              <a:t>Observed in </a:t>
            </a:r>
            <a:r>
              <a:rPr lang="en-ZA" sz="1700" b="1" dirty="0">
                <a:solidFill>
                  <a:schemeClr val="bg1"/>
                </a:solidFill>
                <a:latin typeface="Times New Roman" panose="02020603050405020304" pitchFamily="18" charset="0"/>
                <a:cs typeface="Times New Roman" panose="02020603050405020304" pitchFamily="18" charset="0"/>
              </a:rPr>
              <a:t>caudate nucleus and thalamus</a:t>
            </a:r>
            <a:r>
              <a:rPr lang="en-ZA" sz="1700" dirty="0">
                <a:solidFill>
                  <a:schemeClr val="bg1"/>
                </a:solidFill>
                <a:latin typeface="Times New Roman" panose="02020603050405020304" pitchFamily="18" charset="0"/>
                <a:cs typeface="Times New Roman" panose="02020603050405020304" pitchFamily="18" charset="0"/>
              </a:rPr>
              <a:t> in patients not on medication.</a:t>
            </a:r>
            <a:br>
              <a:rPr lang="en-ZA" sz="1700" dirty="0">
                <a:solidFill>
                  <a:schemeClr val="bg1"/>
                </a:solidFill>
                <a:latin typeface="Times New Roman" panose="02020603050405020304" pitchFamily="18" charset="0"/>
                <a:cs typeface="Times New Roman" panose="02020603050405020304" pitchFamily="18" charset="0"/>
              </a:rPr>
            </a:br>
            <a:r>
              <a:rPr lang="en-ZA" sz="1700" i="1" dirty="0">
                <a:solidFill>
                  <a:schemeClr val="bg1"/>
                </a:solidFill>
                <a:latin typeface="Times New Roman" panose="02020603050405020304" pitchFamily="18" charset="0"/>
                <a:cs typeface="Times New Roman" panose="02020603050405020304" pitchFamily="18" charset="0"/>
              </a:rPr>
              <a:t>(</a:t>
            </a:r>
            <a:r>
              <a:rPr lang="en-ZA" sz="1700" i="1" dirty="0" err="1">
                <a:solidFill>
                  <a:schemeClr val="bg1"/>
                </a:solidFill>
                <a:latin typeface="Times New Roman" panose="02020603050405020304" pitchFamily="18" charset="0"/>
                <a:cs typeface="Times New Roman" panose="02020603050405020304" pitchFamily="18" charset="0"/>
              </a:rPr>
              <a:t>Fatani</a:t>
            </a:r>
            <a:r>
              <a:rPr lang="en-ZA" sz="1700" i="1" dirty="0">
                <a:solidFill>
                  <a:schemeClr val="bg1"/>
                </a:solidFill>
                <a:latin typeface="Times New Roman" panose="02020603050405020304" pitchFamily="18" charset="0"/>
                <a:cs typeface="Times New Roman" panose="02020603050405020304" pitchFamily="18" charset="0"/>
              </a:rPr>
              <a:t> et al., 2017)</a:t>
            </a:r>
            <a:endParaRPr lang="en-ZA" sz="1700" dirty="0">
              <a:solidFill>
                <a:schemeClr val="bg1"/>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ZA" sz="1900" b="1" dirty="0">
                <a:solidFill>
                  <a:schemeClr val="bg1"/>
                </a:solidFill>
                <a:latin typeface="Times New Roman" panose="02020603050405020304" pitchFamily="18" charset="0"/>
                <a:cs typeface="Times New Roman" panose="02020603050405020304" pitchFamily="18" charset="0"/>
              </a:rPr>
              <a:t>White matter irregularities</a:t>
            </a:r>
            <a:r>
              <a:rPr lang="en-ZA" sz="1900" dirty="0">
                <a:solidFill>
                  <a:schemeClr val="bg1"/>
                </a:solidFill>
                <a:latin typeface="Times New Roman" panose="02020603050405020304" pitchFamily="18" charset="0"/>
                <a:cs typeface="Times New Roman" panose="02020603050405020304" pitchFamily="18" charset="0"/>
              </a:rPr>
              <a:t> </a:t>
            </a:r>
            <a:r>
              <a:rPr lang="en-ZA" sz="1700" dirty="0">
                <a:solidFill>
                  <a:schemeClr val="bg1"/>
                </a:solidFill>
                <a:latin typeface="Times New Roman" panose="02020603050405020304" pitchFamily="18" charset="0"/>
                <a:cs typeface="Times New Roman" panose="02020603050405020304" pitchFamily="18" charset="0"/>
              </a:rPr>
              <a:t>are also associated with schizophrenia.</a:t>
            </a:r>
            <a:br>
              <a:rPr lang="en-ZA" sz="1700" dirty="0">
                <a:solidFill>
                  <a:schemeClr val="bg1"/>
                </a:solidFill>
                <a:latin typeface="Times New Roman" panose="02020603050405020304" pitchFamily="18" charset="0"/>
                <a:cs typeface="Times New Roman" panose="02020603050405020304" pitchFamily="18" charset="0"/>
              </a:rPr>
            </a:br>
            <a:r>
              <a:rPr lang="en-ZA" sz="1700" i="1" dirty="0">
                <a:solidFill>
                  <a:schemeClr val="bg1"/>
                </a:solidFill>
                <a:latin typeface="Times New Roman" panose="02020603050405020304" pitchFamily="18" charset="0"/>
                <a:cs typeface="Times New Roman" panose="02020603050405020304" pitchFamily="18" charset="0"/>
              </a:rPr>
              <a:t>(</a:t>
            </a:r>
            <a:r>
              <a:rPr lang="en-ZA" sz="1700" i="1" dirty="0" err="1">
                <a:solidFill>
                  <a:schemeClr val="bg1"/>
                </a:solidFill>
                <a:latin typeface="Times New Roman" panose="02020603050405020304" pitchFamily="18" charset="0"/>
                <a:cs typeface="Times New Roman" panose="02020603050405020304" pitchFamily="18" charset="0"/>
              </a:rPr>
              <a:t>Fatani</a:t>
            </a:r>
            <a:r>
              <a:rPr lang="en-ZA" sz="1700" i="1" dirty="0">
                <a:solidFill>
                  <a:schemeClr val="bg1"/>
                </a:solidFill>
                <a:latin typeface="Times New Roman" panose="02020603050405020304" pitchFamily="18" charset="0"/>
                <a:cs typeface="Times New Roman" panose="02020603050405020304" pitchFamily="18" charset="0"/>
              </a:rPr>
              <a:t> et al., 2017)</a:t>
            </a:r>
            <a:endParaRPr lang="en-ZA" sz="1700" dirty="0">
              <a:solidFill>
                <a:schemeClr val="bg1"/>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ZA" sz="1700" b="1" dirty="0">
                <a:solidFill>
                  <a:schemeClr val="bg1"/>
                </a:solidFill>
                <a:latin typeface="Times New Roman" panose="02020603050405020304" pitchFamily="18" charset="0"/>
                <a:cs typeface="Times New Roman" panose="02020603050405020304" pitchFamily="18" charset="0"/>
              </a:rPr>
              <a:t>Prefrontal cortex</a:t>
            </a:r>
            <a:r>
              <a:rPr lang="en-ZA" sz="1700" dirty="0">
                <a:solidFill>
                  <a:schemeClr val="bg1"/>
                </a:solidFill>
                <a:latin typeface="Times New Roman" panose="02020603050405020304" pitchFamily="18" charset="0"/>
                <a:cs typeface="Times New Roman" panose="02020603050405020304" pitchFamily="18" charset="0"/>
              </a:rPr>
              <a:t> is strongly linked to </a:t>
            </a:r>
            <a:r>
              <a:rPr lang="en-ZA" sz="1700" b="1" dirty="0">
                <a:solidFill>
                  <a:schemeClr val="bg1"/>
                </a:solidFill>
                <a:latin typeface="Times New Roman" panose="02020603050405020304" pitchFamily="18" charset="0"/>
                <a:cs typeface="Times New Roman" panose="02020603050405020304" pitchFamily="18" charset="0"/>
              </a:rPr>
              <a:t>cognitive dysfunction</a:t>
            </a:r>
            <a:r>
              <a:rPr lang="en-ZA" sz="1700" dirty="0">
                <a:solidFill>
                  <a:schemeClr val="bg1"/>
                </a:solidFill>
                <a:latin typeface="Times New Roman" panose="02020603050405020304" pitchFamily="18" charset="0"/>
                <a:cs typeface="Times New Roman" panose="02020603050405020304" pitchFamily="18" charset="0"/>
              </a:rPr>
              <a:t>.</a:t>
            </a:r>
            <a:br>
              <a:rPr lang="en-ZA" sz="1700" dirty="0">
                <a:solidFill>
                  <a:schemeClr val="bg1"/>
                </a:solidFill>
                <a:latin typeface="Times New Roman" panose="02020603050405020304" pitchFamily="18" charset="0"/>
                <a:cs typeface="Times New Roman" panose="02020603050405020304" pitchFamily="18" charset="0"/>
              </a:rPr>
            </a:br>
            <a:r>
              <a:rPr lang="en-ZA" sz="1700" i="1" dirty="0">
                <a:solidFill>
                  <a:schemeClr val="bg1"/>
                </a:solidFill>
                <a:latin typeface="Times New Roman" panose="02020603050405020304" pitchFamily="18" charset="0"/>
                <a:cs typeface="Times New Roman" panose="02020603050405020304" pitchFamily="18" charset="0"/>
              </a:rPr>
              <a:t>(</a:t>
            </a:r>
            <a:r>
              <a:rPr lang="en-ZA" sz="1700" i="1" dirty="0" err="1">
                <a:solidFill>
                  <a:schemeClr val="bg1"/>
                </a:solidFill>
                <a:latin typeface="Times New Roman" panose="02020603050405020304" pitchFamily="18" charset="0"/>
                <a:cs typeface="Times New Roman" panose="02020603050405020304" pitchFamily="18" charset="0"/>
              </a:rPr>
              <a:t>Fatani</a:t>
            </a:r>
            <a:r>
              <a:rPr lang="en-ZA" sz="1700" i="1" dirty="0">
                <a:solidFill>
                  <a:schemeClr val="bg1"/>
                </a:solidFill>
                <a:latin typeface="Times New Roman" panose="02020603050405020304" pitchFamily="18" charset="0"/>
                <a:cs typeface="Times New Roman" panose="02020603050405020304" pitchFamily="18" charset="0"/>
              </a:rPr>
              <a:t> et al., 2017)</a:t>
            </a:r>
          </a:p>
          <a:p>
            <a:pPr>
              <a:buFont typeface="Arial" panose="020B0604020202020204" pitchFamily="34" charset="0"/>
              <a:buChar char="•"/>
            </a:pPr>
            <a:endParaRPr lang="en-ZA" sz="1700" i="1" dirty="0">
              <a:solidFill>
                <a:schemeClr val="bg1"/>
              </a:solidFill>
              <a:latin typeface="Times New Roman" panose="02020603050405020304" pitchFamily="18" charset="0"/>
              <a:cs typeface="Times New Roman" panose="02020603050405020304" pitchFamily="18" charset="0"/>
            </a:endParaRPr>
          </a:p>
          <a:p>
            <a:r>
              <a:rPr lang="en-ZA" sz="2200" b="1" dirty="0">
                <a:solidFill>
                  <a:schemeClr val="bg1"/>
                </a:solidFill>
                <a:latin typeface="Times New Roman" panose="02020603050405020304" pitchFamily="18" charset="0"/>
                <a:cs typeface="Times New Roman" panose="02020603050405020304" pitchFamily="18" charset="0"/>
              </a:rPr>
              <a:t>Dopamine Neurotransmission:</a:t>
            </a:r>
          </a:p>
          <a:p>
            <a:pPr>
              <a:buFont typeface="Arial" panose="020B0604020202020204" pitchFamily="34" charset="0"/>
              <a:buChar char="•"/>
            </a:pPr>
            <a:r>
              <a:rPr lang="en-ZA" sz="1700" b="1" dirty="0">
                <a:solidFill>
                  <a:schemeClr val="bg1"/>
                </a:solidFill>
                <a:latin typeface="Times New Roman" panose="02020603050405020304" pitchFamily="18" charset="0"/>
                <a:cs typeface="Times New Roman" panose="02020603050405020304" pitchFamily="18" charset="0"/>
              </a:rPr>
              <a:t>Hyperactivity in mesolimbic pathway</a:t>
            </a:r>
            <a:r>
              <a:rPr lang="en-ZA" sz="1700" dirty="0">
                <a:solidFill>
                  <a:schemeClr val="bg1"/>
                </a:solidFill>
                <a:latin typeface="Times New Roman" panose="02020603050405020304" pitchFamily="18" charset="0"/>
                <a:cs typeface="Times New Roman" panose="02020603050405020304" pitchFamily="18" charset="0"/>
              </a:rPr>
              <a:t> → </a:t>
            </a:r>
            <a:r>
              <a:rPr lang="en-ZA" sz="1700" b="1" dirty="0">
                <a:solidFill>
                  <a:schemeClr val="bg1"/>
                </a:solidFill>
                <a:latin typeface="Times New Roman" panose="02020603050405020304" pitchFamily="18" charset="0"/>
                <a:cs typeface="Times New Roman" panose="02020603050405020304" pitchFamily="18" charset="0"/>
              </a:rPr>
              <a:t>Positive symptoms</a:t>
            </a:r>
            <a:r>
              <a:rPr lang="en-ZA" sz="1700" dirty="0">
                <a:solidFill>
                  <a:schemeClr val="bg1"/>
                </a:solidFill>
                <a:latin typeface="Times New Roman" panose="02020603050405020304" pitchFamily="18" charset="0"/>
                <a:cs typeface="Times New Roman" panose="02020603050405020304" pitchFamily="18" charset="0"/>
              </a:rPr>
              <a:t> (delusions, hallucinations).</a:t>
            </a:r>
            <a:br>
              <a:rPr lang="en-ZA" sz="1700" dirty="0">
                <a:solidFill>
                  <a:schemeClr val="bg1"/>
                </a:solidFill>
                <a:latin typeface="Times New Roman" panose="02020603050405020304" pitchFamily="18" charset="0"/>
                <a:cs typeface="Times New Roman" panose="02020603050405020304" pitchFamily="18" charset="0"/>
              </a:rPr>
            </a:br>
            <a:r>
              <a:rPr lang="en-ZA" sz="1700" i="1" dirty="0">
                <a:solidFill>
                  <a:schemeClr val="bg1"/>
                </a:solidFill>
                <a:latin typeface="Times New Roman" panose="02020603050405020304" pitchFamily="18" charset="0"/>
                <a:cs typeface="Times New Roman" panose="02020603050405020304" pitchFamily="18" charset="0"/>
              </a:rPr>
              <a:t>(</a:t>
            </a:r>
            <a:r>
              <a:rPr lang="en-ZA" sz="1700" i="1" dirty="0" err="1">
                <a:solidFill>
                  <a:schemeClr val="bg1"/>
                </a:solidFill>
                <a:latin typeface="Times New Roman" panose="02020603050405020304" pitchFamily="18" charset="0"/>
                <a:cs typeface="Times New Roman" panose="02020603050405020304" pitchFamily="18" charset="0"/>
              </a:rPr>
              <a:t>Fatani</a:t>
            </a:r>
            <a:r>
              <a:rPr lang="en-ZA" sz="1700" i="1" dirty="0">
                <a:solidFill>
                  <a:schemeClr val="bg1"/>
                </a:solidFill>
                <a:latin typeface="Times New Roman" panose="02020603050405020304" pitchFamily="18" charset="0"/>
                <a:cs typeface="Times New Roman" panose="02020603050405020304" pitchFamily="18" charset="0"/>
              </a:rPr>
              <a:t> et al., 2017)</a:t>
            </a:r>
          </a:p>
          <a:p>
            <a:pPr>
              <a:buFont typeface="Arial" panose="020B0604020202020204" pitchFamily="34" charset="0"/>
              <a:buChar char="•"/>
            </a:pPr>
            <a:endParaRPr lang="en-ZA" sz="1700" dirty="0">
              <a:solidFill>
                <a:schemeClr val="bg1"/>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ZA" sz="1700" b="1" dirty="0">
                <a:solidFill>
                  <a:schemeClr val="bg1"/>
                </a:solidFill>
                <a:latin typeface="Times New Roman" panose="02020603050405020304" pitchFamily="18" charset="0"/>
                <a:cs typeface="Times New Roman" panose="02020603050405020304" pitchFamily="18" charset="0"/>
              </a:rPr>
              <a:t>Hypoactivity in </a:t>
            </a:r>
            <a:r>
              <a:rPr lang="en-ZA" sz="1700" b="1" dirty="0" err="1">
                <a:solidFill>
                  <a:schemeClr val="bg1"/>
                </a:solidFill>
                <a:latin typeface="Times New Roman" panose="02020603050405020304" pitchFamily="18" charset="0"/>
                <a:cs typeface="Times New Roman" panose="02020603050405020304" pitchFamily="18" charset="0"/>
              </a:rPr>
              <a:t>mesocortical</a:t>
            </a:r>
            <a:r>
              <a:rPr lang="en-ZA" sz="1700" b="1" dirty="0">
                <a:solidFill>
                  <a:schemeClr val="bg1"/>
                </a:solidFill>
                <a:latin typeface="Times New Roman" panose="02020603050405020304" pitchFamily="18" charset="0"/>
                <a:cs typeface="Times New Roman" panose="02020603050405020304" pitchFamily="18" charset="0"/>
              </a:rPr>
              <a:t> pathway</a:t>
            </a:r>
            <a:r>
              <a:rPr lang="en-ZA" sz="1700" dirty="0">
                <a:solidFill>
                  <a:schemeClr val="bg1"/>
                </a:solidFill>
                <a:latin typeface="Times New Roman" panose="02020603050405020304" pitchFamily="18" charset="0"/>
                <a:cs typeface="Times New Roman" panose="02020603050405020304" pitchFamily="18" charset="0"/>
              </a:rPr>
              <a:t> → </a:t>
            </a:r>
            <a:r>
              <a:rPr lang="en-ZA" sz="1700" b="1" dirty="0">
                <a:solidFill>
                  <a:schemeClr val="bg1"/>
                </a:solidFill>
                <a:latin typeface="Times New Roman" panose="02020603050405020304" pitchFamily="18" charset="0"/>
                <a:cs typeface="Times New Roman" panose="02020603050405020304" pitchFamily="18" charset="0"/>
              </a:rPr>
              <a:t>Negative symptoms</a:t>
            </a:r>
            <a:r>
              <a:rPr lang="en-ZA" sz="1700" dirty="0">
                <a:solidFill>
                  <a:schemeClr val="bg1"/>
                </a:solidFill>
                <a:latin typeface="Times New Roman" panose="02020603050405020304" pitchFamily="18" charset="0"/>
                <a:cs typeface="Times New Roman" panose="02020603050405020304" pitchFamily="18" charset="0"/>
              </a:rPr>
              <a:t> (e.g., social withdrawal) and </a:t>
            </a:r>
            <a:r>
              <a:rPr lang="en-ZA" sz="1700" b="1" dirty="0">
                <a:solidFill>
                  <a:schemeClr val="bg1"/>
                </a:solidFill>
                <a:latin typeface="Times New Roman" panose="02020603050405020304" pitchFamily="18" charset="0"/>
                <a:cs typeface="Times New Roman" panose="02020603050405020304" pitchFamily="18" charset="0"/>
              </a:rPr>
              <a:t>cognitive impairment</a:t>
            </a:r>
            <a:r>
              <a:rPr lang="en-ZA" sz="1700" dirty="0">
                <a:solidFill>
                  <a:schemeClr val="bg1"/>
                </a:solidFill>
                <a:latin typeface="Times New Roman" panose="02020603050405020304" pitchFamily="18" charset="0"/>
                <a:cs typeface="Times New Roman" panose="02020603050405020304" pitchFamily="18" charset="0"/>
              </a:rPr>
              <a:t>.</a:t>
            </a:r>
            <a:br>
              <a:rPr lang="en-ZA" sz="1700" dirty="0">
                <a:solidFill>
                  <a:schemeClr val="bg1"/>
                </a:solidFill>
                <a:latin typeface="Times New Roman" panose="02020603050405020304" pitchFamily="18" charset="0"/>
                <a:cs typeface="Times New Roman" panose="02020603050405020304" pitchFamily="18" charset="0"/>
              </a:rPr>
            </a:br>
            <a:r>
              <a:rPr lang="en-ZA" sz="1700" i="1" dirty="0">
                <a:solidFill>
                  <a:schemeClr val="bg1"/>
                </a:solidFill>
                <a:latin typeface="Times New Roman" panose="02020603050405020304" pitchFamily="18" charset="0"/>
                <a:cs typeface="Times New Roman" panose="02020603050405020304" pitchFamily="18" charset="0"/>
              </a:rPr>
              <a:t>(</a:t>
            </a:r>
            <a:r>
              <a:rPr lang="en-ZA" sz="1700" i="1" dirty="0" err="1">
                <a:solidFill>
                  <a:schemeClr val="bg1"/>
                </a:solidFill>
                <a:latin typeface="Times New Roman" panose="02020603050405020304" pitchFamily="18" charset="0"/>
                <a:cs typeface="Times New Roman" panose="02020603050405020304" pitchFamily="18" charset="0"/>
              </a:rPr>
              <a:t>Fatani</a:t>
            </a:r>
            <a:r>
              <a:rPr lang="en-ZA" sz="1700" i="1" dirty="0">
                <a:solidFill>
                  <a:schemeClr val="bg1"/>
                </a:solidFill>
                <a:latin typeface="Times New Roman" panose="02020603050405020304" pitchFamily="18" charset="0"/>
                <a:cs typeface="Times New Roman" panose="02020603050405020304" pitchFamily="18" charset="0"/>
              </a:rPr>
              <a:t> et al., 2017)</a:t>
            </a:r>
            <a:endParaRPr lang="en-ZA" sz="1700" dirty="0">
              <a:solidFill>
                <a:schemeClr val="bg1"/>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ZA" sz="1700" b="1" dirty="0">
                <a:solidFill>
                  <a:schemeClr val="bg1"/>
                </a:solidFill>
                <a:latin typeface="Times New Roman" panose="02020603050405020304" pitchFamily="18" charset="0"/>
                <a:cs typeface="Times New Roman" panose="02020603050405020304" pitchFamily="18" charset="0"/>
              </a:rPr>
              <a:t>Reduced dopamine in nigrostriatal pathway</a:t>
            </a:r>
            <a:r>
              <a:rPr lang="en-ZA" sz="1700" dirty="0">
                <a:solidFill>
                  <a:schemeClr val="bg1"/>
                </a:solidFill>
                <a:latin typeface="Times New Roman" panose="02020603050405020304" pitchFamily="18" charset="0"/>
                <a:cs typeface="Times New Roman" panose="02020603050405020304" pitchFamily="18" charset="0"/>
              </a:rPr>
              <a:t> (from substantia nigra to caudate nucleus):</a:t>
            </a:r>
          </a:p>
          <a:p>
            <a:pPr marL="742950" lvl="1" indent="-285750">
              <a:buFont typeface="Arial" panose="020B0604020202020204" pitchFamily="34" charset="0"/>
              <a:buChar char="•"/>
            </a:pPr>
            <a:r>
              <a:rPr lang="en-ZA" sz="1700" dirty="0">
                <a:solidFill>
                  <a:schemeClr val="bg1"/>
                </a:solidFill>
                <a:latin typeface="Times New Roman" panose="02020603050405020304" pitchFamily="18" charset="0"/>
                <a:cs typeface="Times New Roman" panose="02020603050405020304" pitchFamily="18" charset="0"/>
              </a:rPr>
              <a:t>Affects the </a:t>
            </a:r>
            <a:r>
              <a:rPr lang="en-ZA" sz="1700" b="1" dirty="0">
                <a:solidFill>
                  <a:schemeClr val="bg1"/>
                </a:solidFill>
                <a:latin typeface="Times New Roman" panose="02020603050405020304" pitchFamily="18" charset="0"/>
                <a:cs typeface="Times New Roman" panose="02020603050405020304" pitchFamily="18" charset="0"/>
              </a:rPr>
              <a:t>extrapyramidal system</a:t>
            </a:r>
            <a:r>
              <a:rPr lang="en-ZA" sz="1700" dirty="0">
                <a:solidFill>
                  <a:schemeClr val="bg1"/>
                </a:solidFill>
                <a:latin typeface="Times New Roman" panose="02020603050405020304" pitchFamily="18" charset="0"/>
                <a:cs typeface="Times New Roman" panose="02020603050405020304" pitchFamily="18" charset="0"/>
              </a:rPr>
              <a:t>, causing </a:t>
            </a:r>
            <a:r>
              <a:rPr lang="en-ZA" sz="1700" b="1" dirty="0">
                <a:solidFill>
                  <a:schemeClr val="bg1"/>
                </a:solidFill>
                <a:latin typeface="Times New Roman" panose="02020603050405020304" pitchFamily="18" charset="0"/>
                <a:cs typeface="Times New Roman" panose="02020603050405020304" pitchFamily="18" charset="0"/>
              </a:rPr>
              <a:t>motor symptoms</a:t>
            </a:r>
            <a:r>
              <a:rPr lang="en-ZA" sz="1700" dirty="0">
                <a:solidFill>
                  <a:schemeClr val="bg1"/>
                </a:solidFill>
                <a:latin typeface="Times New Roman" panose="02020603050405020304" pitchFamily="18" charset="0"/>
                <a:cs typeface="Times New Roman" panose="02020603050405020304" pitchFamily="18" charset="0"/>
              </a:rPr>
              <a:t>.</a:t>
            </a:r>
            <a:br>
              <a:rPr lang="en-ZA" sz="1700" dirty="0">
                <a:solidFill>
                  <a:schemeClr val="bg1"/>
                </a:solidFill>
                <a:latin typeface="Times New Roman" panose="02020603050405020304" pitchFamily="18" charset="0"/>
                <a:cs typeface="Times New Roman" panose="02020603050405020304" pitchFamily="18" charset="0"/>
              </a:rPr>
            </a:br>
            <a:r>
              <a:rPr lang="en-ZA" sz="1700" i="1" dirty="0">
                <a:solidFill>
                  <a:schemeClr val="bg1"/>
                </a:solidFill>
                <a:latin typeface="Times New Roman" panose="02020603050405020304" pitchFamily="18" charset="0"/>
                <a:cs typeface="Times New Roman" panose="02020603050405020304" pitchFamily="18" charset="0"/>
              </a:rPr>
              <a:t>(</a:t>
            </a:r>
            <a:r>
              <a:rPr lang="en-ZA" sz="1700" i="1" dirty="0" err="1">
                <a:solidFill>
                  <a:schemeClr val="bg1"/>
                </a:solidFill>
                <a:latin typeface="Times New Roman" panose="02020603050405020304" pitchFamily="18" charset="0"/>
                <a:cs typeface="Times New Roman" panose="02020603050405020304" pitchFamily="18" charset="0"/>
              </a:rPr>
              <a:t>Fatani</a:t>
            </a:r>
            <a:r>
              <a:rPr lang="en-ZA" sz="1700" i="1" dirty="0">
                <a:solidFill>
                  <a:schemeClr val="bg1"/>
                </a:solidFill>
                <a:latin typeface="Times New Roman" panose="02020603050405020304" pitchFamily="18" charset="0"/>
                <a:cs typeface="Times New Roman" panose="02020603050405020304" pitchFamily="18" charset="0"/>
              </a:rPr>
              <a:t> et al., 2017)</a:t>
            </a:r>
          </a:p>
          <a:p>
            <a:pPr marL="742950" lvl="1" indent="-285750">
              <a:buFont typeface="Arial" panose="020B0604020202020204" pitchFamily="34" charset="0"/>
              <a:buChar char="•"/>
            </a:pPr>
            <a:endParaRPr lang="en-ZA" sz="1700" dirty="0">
              <a:solidFill>
                <a:schemeClr val="bg1"/>
              </a:solidFill>
              <a:latin typeface="Times New Roman" panose="02020603050405020304" pitchFamily="18" charset="0"/>
              <a:cs typeface="Times New Roman" panose="02020603050405020304" pitchFamily="18" charset="0"/>
            </a:endParaRPr>
          </a:p>
          <a:p>
            <a:r>
              <a:rPr lang="en-ZA" sz="2200" b="1" dirty="0">
                <a:solidFill>
                  <a:schemeClr val="bg1"/>
                </a:solidFill>
                <a:latin typeface="Times New Roman" panose="02020603050405020304" pitchFamily="18" charset="0"/>
                <a:cs typeface="Times New Roman" panose="02020603050405020304" pitchFamily="18" charset="0"/>
              </a:rPr>
              <a:t>Glutamate Dysfunction:</a:t>
            </a:r>
          </a:p>
          <a:p>
            <a:pPr>
              <a:buFont typeface="Arial" panose="020B0604020202020204" pitchFamily="34" charset="0"/>
              <a:buChar char="•"/>
            </a:pPr>
            <a:r>
              <a:rPr lang="en-ZA" sz="1700" dirty="0">
                <a:solidFill>
                  <a:schemeClr val="bg1"/>
                </a:solidFill>
                <a:latin typeface="Times New Roman" panose="02020603050405020304" pitchFamily="18" charset="0"/>
                <a:cs typeface="Times New Roman" panose="02020603050405020304" pitchFamily="18" charset="0"/>
              </a:rPr>
              <a:t>Affects </a:t>
            </a:r>
            <a:r>
              <a:rPr lang="en-ZA" sz="1700" b="1" dirty="0">
                <a:solidFill>
                  <a:schemeClr val="bg1"/>
                </a:solidFill>
                <a:latin typeface="Times New Roman" panose="02020603050405020304" pitchFamily="18" charset="0"/>
                <a:cs typeface="Times New Roman" panose="02020603050405020304" pitchFamily="18" charset="0"/>
              </a:rPr>
              <a:t>interneurons</a:t>
            </a:r>
            <a:r>
              <a:rPr lang="en-ZA" sz="1700" dirty="0">
                <a:solidFill>
                  <a:schemeClr val="bg1"/>
                </a:solidFill>
                <a:latin typeface="Times New Roman" panose="02020603050405020304" pitchFamily="18" charset="0"/>
                <a:cs typeface="Times New Roman" panose="02020603050405020304" pitchFamily="18" charset="0"/>
              </a:rPr>
              <a:t> in </a:t>
            </a:r>
            <a:r>
              <a:rPr lang="en-ZA" sz="1700" b="1" dirty="0">
                <a:solidFill>
                  <a:schemeClr val="bg1"/>
                </a:solidFill>
                <a:latin typeface="Times New Roman" panose="02020603050405020304" pitchFamily="18" charset="0"/>
                <a:cs typeface="Times New Roman" panose="02020603050405020304" pitchFamily="18" charset="0"/>
              </a:rPr>
              <a:t>cerebral cortex</a:t>
            </a:r>
            <a:r>
              <a:rPr lang="en-ZA" sz="1700" dirty="0">
                <a:solidFill>
                  <a:schemeClr val="bg1"/>
                </a:solidFill>
                <a:latin typeface="Times New Roman" panose="02020603050405020304" pitchFamily="18" charset="0"/>
                <a:cs typeface="Times New Roman" panose="02020603050405020304" pitchFamily="18" charset="0"/>
              </a:rPr>
              <a:t> and </a:t>
            </a:r>
            <a:r>
              <a:rPr lang="en-ZA" sz="1700" b="1" dirty="0">
                <a:solidFill>
                  <a:schemeClr val="bg1"/>
                </a:solidFill>
                <a:latin typeface="Times New Roman" panose="02020603050405020304" pitchFamily="18" charset="0"/>
                <a:cs typeface="Times New Roman" panose="02020603050405020304" pitchFamily="18" charset="0"/>
              </a:rPr>
              <a:t>hippocampus</a:t>
            </a:r>
            <a:r>
              <a:rPr lang="en-ZA" sz="1700" dirty="0">
                <a:solidFill>
                  <a:schemeClr val="bg1"/>
                </a:solidFill>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ZA" sz="1700" dirty="0">
                <a:solidFill>
                  <a:schemeClr val="bg1"/>
                </a:solidFill>
                <a:latin typeface="Times New Roman" panose="02020603050405020304" pitchFamily="18" charset="0"/>
                <a:cs typeface="Times New Roman" panose="02020603050405020304" pitchFamily="18" charset="0"/>
              </a:rPr>
              <a:t>Leads to </a:t>
            </a:r>
            <a:r>
              <a:rPr lang="en-ZA" sz="1700" b="1" dirty="0">
                <a:solidFill>
                  <a:schemeClr val="bg1"/>
                </a:solidFill>
                <a:latin typeface="Times New Roman" panose="02020603050405020304" pitchFamily="18" charset="0"/>
                <a:cs typeface="Times New Roman" panose="02020603050405020304" pitchFamily="18" charset="0"/>
              </a:rPr>
              <a:t>synchronous firing of pyramidal neurons</a:t>
            </a:r>
            <a:r>
              <a:rPr lang="en-ZA" sz="1700" dirty="0">
                <a:solidFill>
                  <a:schemeClr val="bg1"/>
                </a:solidFill>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ZA" sz="1700" dirty="0">
                <a:solidFill>
                  <a:schemeClr val="bg1"/>
                </a:solidFill>
                <a:latin typeface="Times New Roman" panose="02020603050405020304" pitchFamily="18" charset="0"/>
                <a:cs typeface="Times New Roman" panose="02020603050405020304" pitchFamily="18" charset="0"/>
              </a:rPr>
              <a:t>Causes abnormal </a:t>
            </a:r>
            <a:r>
              <a:rPr lang="en-ZA" sz="1700" b="1" dirty="0">
                <a:solidFill>
                  <a:schemeClr val="bg1"/>
                </a:solidFill>
                <a:latin typeface="Times New Roman" panose="02020603050405020304" pitchFamily="18" charset="0"/>
                <a:cs typeface="Times New Roman" panose="02020603050405020304" pitchFamily="18" charset="0"/>
              </a:rPr>
              <a:t>gamma brain wave activity</a:t>
            </a:r>
            <a:r>
              <a:rPr lang="en-ZA" sz="1700" dirty="0">
                <a:solidFill>
                  <a:schemeClr val="bg1"/>
                </a:solidFill>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ZA" sz="1700" dirty="0">
                <a:solidFill>
                  <a:schemeClr val="bg1"/>
                </a:solidFill>
                <a:latin typeface="Times New Roman" panose="02020603050405020304" pitchFamily="18" charset="0"/>
                <a:cs typeface="Times New Roman" panose="02020603050405020304" pitchFamily="18" charset="0"/>
              </a:rPr>
              <a:t>Results in </a:t>
            </a:r>
            <a:r>
              <a:rPr lang="en-ZA" sz="1700" b="1" dirty="0">
                <a:solidFill>
                  <a:schemeClr val="bg1"/>
                </a:solidFill>
                <a:latin typeface="Times New Roman" panose="02020603050405020304" pitchFamily="18" charset="0"/>
                <a:cs typeface="Times New Roman" panose="02020603050405020304" pitchFamily="18" charset="0"/>
              </a:rPr>
              <a:t>cognitive deficits</a:t>
            </a:r>
            <a:r>
              <a:rPr lang="en-ZA" sz="1700" dirty="0">
                <a:solidFill>
                  <a:schemeClr val="bg1"/>
                </a:solidFill>
                <a:latin typeface="Times New Roman" panose="02020603050405020304" pitchFamily="18" charset="0"/>
                <a:cs typeface="Times New Roman" panose="02020603050405020304" pitchFamily="18" charset="0"/>
              </a:rPr>
              <a:t>.</a:t>
            </a:r>
            <a:br>
              <a:rPr lang="en-ZA" sz="1700" dirty="0">
                <a:solidFill>
                  <a:schemeClr val="bg1"/>
                </a:solidFill>
                <a:latin typeface="Times New Roman" panose="02020603050405020304" pitchFamily="18" charset="0"/>
                <a:cs typeface="Times New Roman" panose="02020603050405020304" pitchFamily="18" charset="0"/>
              </a:rPr>
            </a:br>
            <a:r>
              <a:rPr lang="en-ZA" sz="1700" i="1" dirty="0">
                <a:solidFill>
                  <a:schemeClr val="bg1"/>
                </a:solidFill>
                <a:latin typeface="Times New Roman" panose="02020603050405020304" pitchFamily="18" charset="0"/>
                <a:cs typeface="Times New Roman" panose="02020603050405020304" pitchFamily="18" charset="0"/>
              </a:rPr>
              <a:t>(</a:t>
            </a:r>
            <a:r>
              <a:rPr lang="en-ZA" sz="1700" i="1" dirty="0" err="1">
                <a:solidFill>
                  <a:schemeClr val="bg1"/>
                </a:solidFill>
                <a:latin typeface="Times New Roman" panose="02020603050405020304" pitchFamily="18" charset="0"/>
                <a:cs typeface="Times New Roman" panose="02020603050405020304" pitchFamily="18" charset="0"/>
              </a:rPr>
              <a:t>Fatani</a:t>
            </a:r>
            <a:r>
              <a:rPr lang="en-ZA" sz="1700" i="1" dirty="0">
                <a:solidFill>
                  <a:schemeClr val="bg1"/>
                </a:solidFill>
                <a:latin typeface="Times New Roman" panose="02020603050405020304" pitchFamily="18" charset="0"/>
                <a:cs typeface="Times New Roman" panose="02020603050405020304" pitchFamily="18" charset="0"/>
              </a:rPr>
              <a:t> et al., 2017</a:t>
            </a:r>
            <a:endParaRPr lang="en-ZA" sz="1700" dirty="0">
              <a:solidFill>
                <a:schemeClr val="bg1"/>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ZA" sz="1600" dirty="0">
              <a:solidFill>
                <a:schemeClr val="bg1"/>
              </a:solidFill>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endParaRPr lang="en-US" sz="1500" dirty="0">
              <a:solidFill>
                <a:schemeClr val="bg1"/>
              </a:solidFill>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endParaRPr lang="en-US" sz="1500" dirty="0">
              <a:solidFill>
                <a:schemeClr val="bg1"/>
              </a:solidFill>
            </a:endParaRPr>
          </a:p>
        </p:txBody>
      </p:sp>
    </p:spTree>
    <p:extLst>
      <p:ext uri="{BB962C8B-B14F-4D97-AF65-F5344CB8AC3E}">
        <p14:creationId xmlns:p14="http://schemas.microsoft.com/office/powerpoint/2010/main" val="1392130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1A9F7B4E-B03D-4F64-BE33-00D074458D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0975C4C8-A9CC-A747-9C72-F87F9722BCE0}"/>
              </a:ext>
            </a:extLst>
          </p:cNvPr>
          <p:cNvPicPr>
            <a:picLocks noChangeAspect="1"/>
          </p:cNvPicPr>
          <p:nvPr/>
        </p:nvPicPr>
        <p:blipFill>
          <a:blip r:embed="rId2">
            <a:alphaModFix amt="40000"/>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4894" b="10837"/>
          <a:stretch/>
        </p:blipFill>
        <p:spPr>
          <a:xfrm>
            <a:off x="20" y="10"/>
            <a:ext cx="12191979" cy="6857990"/>
          </a:xfrm>
          <a:prstGeom prst="rect">
            <a:avLst/>
          </a:prstGeom>
        </p:spPr>
      </p:pic>
      <p:sp>
        <p:nvSpPr>
          <p:cNvPr id="4" name="TextBox 3">
            <a:extLst>
              <a:ext uri="{FF2B5EF4-FFF2-40B4-BE49-F238E27FC236}">
                <a16:creationId xmlns:a16="http://schemas.microsoft.com/office/drawing/2014/main" id="{176B7FC4-6E86-7E48-E668-063D9F467FF9}"/>
              </a:ext>
            </a:extLst>
          </p:cNvPr>
          <p:cNvSpPr txBox="1"/>
          <p:nvPr/>
        </p:nvSpPr>
        <p:spPr>
          <a:xfrm>
            <a:off x="838200" y="365125"/>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5400" b="1" dirty="0">
                <a:solidFill>
                  <a:schemeClr val="bg1"/>
                </a:solidFill>
                <a:latin typeface="Times New Roman" panose="02020603050405020304" pitchFamily="18" charset="0"/>
                <a:ea typeface="+mj-ea"/>
                <a:cs typeface="Times New Roman" panose="02020603050405020304" pitchFamily="18" charset="0"/>
              </a:rPr>
              <a:t>SIGNS AND SYMPTOMS  </a:t>
            </a:r>
          </a:p>
        </p:txBody>
      </p:sp>
      <p:sp>
        <p:nvSpPr>
          <p:cNvPr id="18" name="sketchy line">
            <a:extLst>
              <a:ext uri="{FF2B5EF4-FFF2-40B4-BE49-F238E27FC236}">
                <a16:creationId xmlns:a16="http://schemas.microsoft.com/office/drawing/2014/main" id="{7E2BE7F7-CA89-4002-ACCE-A478AEA24F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4399" y="1681544"/>
            <a:ext cx="9692640" cy="18288"/>
          </a:xfrm>
          <a:custGeom>
            <a:avLst/>
            <a:gdLst>
              <a:gd name="connsiteX0" fmla="*/ 0 w 9692640"/>
              <a:gd name="connsiteY0" fmla="*/ 0 h 18288"/>
              <a:gd name="connsiteX1" fmla="*/ 401552 w 9692640"/>
              <a:gd name="connsiteY1" fmla="*/ 0 h 18288"/>
              <a:gd name="connsiteX2" fmla="*/ 996957 w 9692640"/>
              <a:gd name="connsiteY2" fmla="*/ 0 h 18288"/>
              <a:gd name="connsiteX3" fmla="*/ 1398509 w 9692640"/>
              <a:gd name="connsiteY3" fmla="*/ 0 h 18288"/>
              <a:gd name="connsiteX4" fmla="*/ 2090841 w 9692640"/>
              <a:gd name="connsiteY4" fmla="*/ 0 h 18288"/>
              <a:gd name="connsiteX5" fmla="*/ 2686246 w 9692640"/>
              <a:gd name="connsiteY5" fmla="*/ 0 h 18288"/>
              <a:gd name="connsiteX6" fmla="*/ 3475504 w 9692640"/>
              <a:gd name="connsiteY6" fmla="*/ 0 h 18288"/>
              <a:gd name="connsiteX7" fmla="*/ 4361688 w 9692640"/>
              <a:gd name="connsiteY7" fmla="*/ 0 h 18288"/>
              <a:gd name="connsiteX8" fmla="*/ 5054019 w 9692640"/>
              <a:gd name="connsiteY8" fmla="*/ 0 h 18288"/>
              <a:gd name="connsiteX9" fmla="*/ 5940204 w 9692640"/>
              <a:gd name="connsiteY9" fmla="*/ 0 h 18288"/>
              <a:gd name="connsiteX10" fmla="*/ 6632535 w 9692640"/>
              <a:gd name="connsiteY10" fmla="*/ 0 h 18288"/>
              <a:gd name="connsiteX11" fmla="*/ 7034087 w 9692640"/>
              <a:gd name="connsiteY11" fmla="*/ 0 h 18288"/>
              <a:gd name="connsiteX12" fmla="*/ 7532566 w 9692640"/>
              <a:gd name="connsiteY12" fmla="*/ 0 h 18288"/>
              <a:gd name="connsiteX13" fmla="*/ 8418750 w 9692640"/>
              <a:gd name="connsiteY13" fmla="*/ 0 h 18288"/>
              <a:gd name="connsiteX14" fmla="*/ 9692640 w 9692640"/>
              <a:gd name="connsiteY14" fmla="*/ 0 h 18288"/>
              <a:gd name="connsiteX15" fmla="*/ 9692640 w 9692640"/>
              <a:gd name="connsiteY15" fmla="*/ 18288 h 18288"/>
              <a:gd name="connsiteX16" fmla="*/ 9000309 w 9692640"/>
              <a:gd name="connsiteY16" fmla="*/ 18288 h 18288"/>
              <a:gd name="connsiteX17" fmla="*/ 8307977 w 9692640"/>
              <a:gd name="connsiteY17" fmla="*/ 18288 h 18288"/>
              <a:gd name="connsiteX18" fmla="*/ 7712572 w 9692640"/>
              <a:gd name="connsiteY18" fmla="*/ 18288 h 18288"/>
              <a:gd name="connsiteX19" fmla="*/ 7214093 w 9692640"/>
              <a:gd name="connsiteY19" fmla="*/ 18288 h 18288"/>
              <a:gd name="connsiteX20" fmla="*/ 6327909 w 9692640"/>
              <a:gd name="connsiteY20" fmla="*/ 18288 h 18288"/>
              <a:gd name="connsiteX21" fmla="*/ 5635578 w 9692640"/>
              <a:gd name="connsiteY21" fmla="*/ 18288 h 18288"/>
              <a:gd name="connsiteX22" fmla="*/ 4846320 w 9692640"/>
              <a:gd name="connsiteY22" fmla="*/ 18288 h 18288"/>
              <a:gd name="connsiteX23" fmla="*/ 4444768 w 9692640"/>
              <a:gd name="connsiteY23" fmla="*/ 18288 h 18288"/>
              <a:gd name="connsiteX24" fmla="*/ 3946289 w 9692640"/>
              <a:gd name="connsiteY24" fmla="*/ 18288 h 18288"/>
              <a:gd name="connsiteX25" fmla="*/ 3253958 w 9692640"/>
              <a:gd name="connsiteY25" fmla="*/ 18288 h 18288"/>
              <a:gd name="connsiteX26" fmla="*/ 2464700 w 9692640"/>
              <a:gd name="connsiteY26" fmla="*/ 18288 h 18288"/>
              <a:gd name="connsiteX27" fmla="*/ 2063148 w 9692640"/>
              <a:gd name="connsiteY27" fmla="*/ 18288 h 18288"/>
              <a:gd name="connsiteX28" fmla="*/ 1661595 w 9692640"/>
              <a:gd name="connsiteY28" fmla="*/ 18288 h 18288"/>
              <a:gd name="connsiteX29" fmla="*/ 969264 w 9692640"/>
              <a:gd name="connsiteY29" fmla="*/ 18288 h 18288"/>
              <a:gd name="connsiteX30" fmla="*/ 0 w 9692640"/>
              <a:gd name="connsiteY30" fmla="*/ 18288 h 18288"/>
              <a:gd name="connsiteX31" fmla="*/ 0 w 9692640"/>
              <a:gd name="connsiteY3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692640" h="18288" fill="none" extrusionOk="0">
                <a:moveTo>
                  <a:pt x="0" y="0"/>
                </a:moveTo>
                <a:cubicBezTo>
                  <a:pt x="142992" y="4732"/>
                  <a:pt x="265909" y="-3365"/>
                  <a:pt x="401552" y="0"/>
                </a:cubicBezTo>
                <a:cubicBezTo>
                  <a:pt x="537195" y="3365"/>
                  <a:pt x="738153" y="6482"/>
                  <a:pt x="996957" y="0"/>
                </a:cubicBezTo>
                <a:cubicBezTo>
                  <a:pt x="1255762" y="-6482"/>
                  <a:pt x="1280511" y="12509"/>
                  <a:pt x="1398509" y="0"/>
                </a:cubicBezTo>
                <a:cubicBezTo>
                  <a:pt x="1516507" y="-12509"/>
                  <a:pt x="1782573" y="-31523"/>
                  <a:pt x="2090841" y="0"/>
                </a:cubicBezTo>
                <a:cubicBezTo>
                  <a:pt x="2399109" y="31523"/>
                  <a:pt x="2488380" y="26286"/>
                  <a:pt x="2686246" y="0"/>
                </a:cubicBezTo>
                <a:cubicBezTo>
                  <a:pt x="2884112" y="-26286"/>
                  <a:pt x="3186024" y="-14734"/>
                  <a:pt x="3475504" y="0"/>
                </a:cubicBezTo>
                <a:cubicBezTo>
                  <a:pt x="3764984" y="14734"/>
                  <a:pt x="4053017" y="43292"/>
                  <a:pt x="4361688" y="0"/>
                </a:cubicBezTo>
                <a:cubicBezTo>
                  <a:pt x="4670359" y="-43292"/>
                  <a:pt x="4736164" y="-729"/>
                  <a:pt x="5054019" y="0"/>
                </a:cubicBezTo>
                <a:cubicBezTo>
                  <a:pt x="5371874" y="729"/>
                  <a:pt x="5543528" y="-22963"/>
                  <a:pt x="5940204" y="0"/>
                </a:cubicBezTo>
                <a:cubicBezTo>
                  <a:pt x="6336881" y="22963"/>
                  <a:pt x="6423838" y="6469"/>
                  <a:pt x="6632535" y="0"/>
                </a:cubicBezTo>
                <a:cubicBezTo>
                  <a:pt x="6841232" y="-6469"/>
                  <a:pt x="6852819" y="17036"/>
                  <a:pt x="7034087" y="0"/>
                </a:cubicBezTo>
                <a:cubicBezTo>
                  <a:pt x="7215355" y="-17036"/>
                  <a:pt x="7313136" y="11151"/>
                  <a:pt x="7532566" y="0"/>
                </a:cubicBezTo>
                <a:cubicBezTo>
                  <a:pt x="7751996" y="-11151"/>
                  <a:pt x="8015001" y="25614"/>
                  <a:pt x="8418750" y="0"/>
                </a:cubicBezTo>
                <a:cubicBezTo>
                  <a:pt x="8822499" y="-25614"/>
                  <a:pt x="9163239" y="48603"/>
                  <a:pt x="9692640" y="0"/>
                </a:cubicBezTo>
                <a:cubicBezTo>
                  <a:pt x="9691955" y="4437"/>
                  <a:pt x="9693170" y="10717"/>
                  <a:pt x="9692640" y="18288"/>
                </a:cubicBezTo>
                <a:cubicBezTo>
                  <a:pt x="9545125" y="42172"/>
                  <a:pt x="9164259" y="6706"/>
                  <a:pt x="9000309" y="18288"/>
                </a:cubicBezTo>
                <a:cubicBezTo>
                  <a:pt x="8836359" y="29870"/>
                  <a:pt x="8521035" y="-14108"/>
                  <a:pt x="8307977" y="18288"/>
                </a:cubicBezTo>
                <a:cubicBezTo>
                  <a:pt x="8094919" y="50684"/>
                  <a:pt x="7881757" y="11235"/>
                  <a:pt x="7712572" y="18288"/>
                </a:cubicBezTo>
                <a:cubicBezTo>
                  <a:pt x="7543387" y="25341"/>
                  <a:pt x="7358861" y="20625"/>
                  <a:pt x="7214093" y="18288"/>
                </a:cubicBezTo>
                <a:cubicBezTo>
                  <a:pt x="7069325" y="15951"/>
                  <a:pt x="6523705" y="52160"/>
                  <a:pt x="6327909" y="18288"/>
                </a:cubicBezTo>
                <a:cubicBezTo>
                  <a:pt x="6132113" y="-15584"/>
                  <a:pt x="5923847" y="21204"/>
                  <a:pt x="5635578" y="18288"/>
                </a:cubicBezTo>
                <a:cubicBezTo>
                  <a:pt x="5347309" y="15372"/>
                  <a:pt x="5114749" y="50642"/>
                  <a:pt x="4846320" y="18288"/>
                </a:cubicBezTo>
                <a:cubicBezTo>
                  <a:pt x="4577891" y="-14066"/>
                  <a:pt x="4576701" y="1487"/>
                  <a:pt x="4444768" y="18288"/>
                </a:cubicBezTo>
                <a:cubicBezTo>
                  <a:pt x="4312835" y="35089"/>
                  <a:pt x="4112575" y="15158"/>
                  <a:pt x="3946289" y="18288"/>
                </a:cubicBezTo>
                <a:cubicBezTo>
                  <a:pt x="3780003" y="21418"/>
                  <a:pt x="3396009" y="18797"/>
                  <a:pt x="3253958" y="18288"/>
                </a:cubicBezTo>
                <a:cubicBezTo>
                  <a:pt x="3111907" y="17779"/>
                  <a:pt x="2760272" y="57223"/>
                  <a:pt x="2464700" y="18288"/>
                </a:cubicBezTo>
                <a:cubicBezTo>
                  <a:pt x="2169128" y="-20647"/>
                  <a:pt x="2232262" y="7960"/>
                  <a:pt x="2063148" y="18288"/>
                </a:cubicBezTo>
                <a:cubicBezTo>
                  <a:pt x="1894034" y="28616"/>
                  <a:pt x="1799338" y="3019"/>
                  <a:pt x="1661595" y="18288"/>
                </a:cubicBezTo>
                <a:cubicBezTo>
                  <a:pt x="1523852" y="33557"/>
                  <a:pt x="1113928" y="-4352"/>
                  <a:pt x="969264" y="18288"/>
                </a:cubicBezTo>
                <a:cubicBezTo>
                  <a:pt x="824600" y="40928"/>
                  <a:pt x="356149" y="-3128"/>
                  <a:pt x="0" y="18288"/>
                </a:cubicBezTo>
                <a:cubicBezTo>
                  <a:pt x="-540" y="12521"/>
                  <a:pt x="894" y="7749"/>
                  <a:pt x="0" y="0"/>
                </a:cubicBezTo>
                <a:close/>
              </a:path>
              <a:path w="9692640" h="18288" stroke="0" extrusionOk="0">
                <a:moveTo>
                  <a:pt x="0" y="0"/>
                </a:moveTo>
                <a:cubicBezTo>
                  <a:pt x="162642" y="3864"/>
                  <a:pt x="346119" y="-18364"/>
                  <a:pt x="498479" y="0"/>
                </a:cubicBezTo>
                <a:cubicBezTo>
                  <a:pt x="650839" y="18364"/>
                  <a:pt x="712065" y="-9389"/>
                  <a:pt x="900031" y="0"/>
                </a:cubicBezTo>
                <a:cubicBezTo>
                  <a:pt x="1087997" y="9389"/>
                  <a:pt x="1177291" y="3685"/>
                  <a:pt x="1398509" y="0"/>
                </a:cubicBezTo>
                <a:cubicBezTo>
                  <a:pt x="1619727" y="-3685"/>
                  <a:pt x="1874008" y="-8897"/>
                  <a:pt x="2090841" y="0"/>
                </a:cubicBezTo>
                <a:cubicBezTo>
                  <a:pt x="2307674" y="8897"/>
                  <a:pt x="2573432" y="-313"/>
                  <a:pt x="2880099" y="0"/>
                </a:cubicBezTo>
                <a:cubicBezTo>
                  <a:pt x="3186766" y="313"/>
                  <a:pt x="3422577" y="10664"/>
                  <a:pt x="3766283" y="0"/>
                </a:cubicBezTo>
                <a:cubicBezTo>
                  <a:pt x="4109989" y="-10664"/>
                  <a:pt x="4342683" y="-32873"/>
                  <a:pt x="4652467" y="0"/>
                </a:cubicBezTo>
                <a:cubicBezTo>
                  <a:pt x="4962251" y="32873"/>
                  <a:pt x="5122120" y="29155"/>
                  <a:pt x="5247872" y="0"/>
                </a:cubicBezTo>
                <a:cubicBezTo>
                  <a:pt x="5373625" y="-29155"/>
                  <a:pt x="5749491" y="1706"/>
                  <a:pt x="6037130" y="0"/>
                </a:cubicBezTo>
                <a:cubicBezTo>
                  <a:pt x="6324769" y="-1706"/>
                  <a:pt x="6531407" y="1172"/>
                  <a:pt x="6729461" y="0"/>
                </a:cubicBezTo>
                <a:cubicBezTo>
                  <a:pt x="6927515" y="-1172"/>
                  <a:pt x="7096794" y="-1520"/>
                  <a:pt x="7324867" y="0"/>
                </a:cubicBezTo>
                <a:cubicBezTo>
                  <a:pt x="7552940" y="1520"/>
                  <a:pt x="7878827" y="-17110"/>
                  <a:pt x="8114124" y="0"/>
                </a:cubicBezTo>
                <a:cubicBezTo>
                  <a:pt x="8349421" y="17110"/>
                  <a:pt x="8334208" y="15114"/>
                  <a:pt x="8515677" y="0"/>
                </a:cubicBezTo>
                <a:cubicBezTo>
                  <a:pt x="8697146" y="-15114"/>
                  <a:pt x="9236164" y="22466"/>
                  <a:pt x="9692640" y="0"/>
                </a:cubicBezTo>
                <a:cubicBezTo>
                  <a:pt x="9692735" y="8251"/>
                  <a:pt x="9692514" y="12333"/>
                  <a:pt x="9692640" y="18288"/>
                </a:cubicBezTo>
                <a:cubicBezTo>
                  <a:pt x="9410102" y="47398"/>
                  <a:pt x="9172773" y="7109"/>
                  <a:pt x="9000309" y="18288"/>
                </a:cubicBezTo>
                <a:cubicBezTo>
                  <a:pt x="8827845" y="29467"/>
                  <a:pt x="8713608" y="28372"/>
                  <a:pt x="8501830" y="18288"/>
                </a:cubicBezTo>
                <a:cubicBezTo>
                  <a:pt x="8290052" y="8204"/>
                  <a:pt x="7893416" y="3561"/>
                  <a:pt x="7712572" y="18288"/>
                </a:cubicBezTo>
                <a:cubicBezTo>
                  <a:pt x="7531728" y="33015"/>
                  <a:pt x="7480716" y="17052"/>
                  <a:pt x="7311020" y="18288"/>
                </a:cubicBezTo>
                <a:cubicBezTo>
                  <a:pt x="7141324" y="19524"/>
                  <a:pt x="6962706" y="15975"/>
                  <a:pt x="6618688" y="18288"/>
                </a:cubicBezTo>
                <a:cubicBezTo>
                  <a:pt x="6274670" y="20601"/>
                  <a:pt x="6230664" y="-1692"/>
                  <a:pt x="6120210" y="18288"/>
                </a:cubicBezTo>
                <a:cubicBezTo>
                  <a:pt x="6009756" y="38268"/>
                  <a:pt x="5442516" y="28115"/>
                  <a:pt x="5234026" y="18288"/>
                </a:cubicBezTo>
                <a:cubicBezTo>
                  <a:pt x="5025536" y="8461"/>
                  <a:pt x="4953693" y="18182"/>
                  <a:pt x="4832473" y="18288"/>
                </a:cubicBezTo>
                <a:cubicBezTo>
                  <a:pt x="4711253" y="18394"/>
                  <a:pt x="4414565" y="-11251"/>
                  <a:pt x="4140142" y="18288"/>
                </a:cubicBezTo>
                <a:cubicBezTo>
                  <a:pt x="3865719" y="47827"/>
                  <a:pt x="3819081" y="16772"/>
                  <a:pt x="3738590" y="18288"/>
                </a:cubicBezTo>
                <a:cubicBezTo>
                  <a:pt x="3658099" y="19804"/>
                  <a:pt x="3427576" y="1385"/>
                  <a:pt x="3240111" y="18288"/>
                </a:cubicBezTo>
                <a:cubicBezTo>
                  <a:pt x="3052646" y="35191"/>
                  <a:pt x="2749652" y="-13914"/>
                  <a:pt x="2450853" y="18288"/>
                </a:cubicBezTo>
                <a:cubicBezTo>
                  <a:pt x="2152054" y="50490"/>
                  <a:pt x="1928331" y="61101"/>
                  <a:pt x="1564669" y="18288"/>
                </a:cubicBezTo>
                <a:cubicBezTo>
                  <a:pt x="1201007" y="-24525"/>
                  <a:pt x="1217828" y="-275"/>
                  <a:pt x="1066190" y="18288"/>
                </a:cubicBezTo>
                <a:cubicBezTo>
                  <a:pt x="914552" y="36851"/>
                  <a:pt x="418290" y="-14785"/>
                  <a:pt x="0" y="18288"/>
                </a:cubicBezTo>
                <a:cubicBezTo>
                  <a:pt x="641" y="14236"/>
                  <a:pt x="889" y="755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D7A9988-26C3-F98A-6FB1-B3ED4736D0C0}"/>
              </a:ext>
            </a:extLst>
          </p:cNvPr>
          <p:cNvSpPr txBox="1"/>
          <p:nvPr/>
        </p:nvSpPr>
        <p:spPr>
          <a:xfrm>
            <a:off x="838200" y="2004446"/>
            <a:ext cx="10515600" cy="4176897"/>
          </a:xfrm>
          <a:prstGeom prst="rect">
            <a:avLst/>
          </a:prstGeom>
        </p:spPr>
        <p:txBody>
          <a:bodyPr vert="horz" lIns="91440" tIns="45720" rIns="91440" bIns="45720" numCol="2" rtlCol="0">
            <a:normAutofit/>
          </a:bodyPr>
          <a:lstStyle/>
          <a:p>
            <a:pPr>
              <a:lnSpc>
                <a:spcPct val="107000"/>
              </a:lnSpc>
              <a:spcAft>
                <a:spcPts val="800"/>
              </a:spcAft>
            </a:pPr>
            <a:r>
              <a:rPr lang="en-ZA" sz="18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Negative symptoms:</a:t>
            </a:r>
          </a:p>
          <a:p>
            <a:pPr marL="342900" lvl="0" indent="-342900">
              <a:lnSpc>
                <a:spcPct val="107000"/>
              </a:lnSpc>
              <a:buFont typeface="Symbol" panose="05050102010706020507" pitchFamily="18" charset="2"/>
              <a:buChar char=""/>
            </a:pPr>
            <a:r>
              <a:rPr lang="en-ZA" sz="18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Abnormal behaviour</a:t>
            </a:r>
          </a:p>
          <a:p>
            <a:pPr marL="342900" lvl="0" indent="-342900">
              <a:lnSpc>
                <a:spcPct val="107000"/>
              </a:lnSpc>
              <a:buFont typeface="Symbol" panose="05050102010706020507" pitchFamily="18" charset="2"/>
              <a:buChar char=""/>
            </a:pPr>
            <a:r>
              <a:rPr lang="en-ZA" sz="18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Social withdrawal </a:t>
            </a:r>
          </a:p>
          <a:p>
            <a:pPr marL="342900" lvl="0" indent="-342900">
              <a:lnSpc>
                <a:spcPct val="107000"/>
              </a:lnSpc>
              <a:buFont typeface="Symbol" panose="05050102010706020507" pitchFamily="18" charset="2"/>
              <a:buChar char=""/>
            </a:pPr>
            <a:r>
              <a:rPr lang="en-ZA" sz="18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Lack of interest in pleasurable and productive activities</a:t>
            </a:r>
          </a:p>
          <a:p>
            <a:pPr marL="342900" lvl="0" indent="-342900">
              <a:lnSpc>
                <a:spcPct val="107000"/>
              </a:lnSpc>
              <a:buFont typeface="Symbol" panose="05050102010706020507" pitchFamily="18" charset="2"/>
              <a:buChar char=""/>
            </a:pPr>
            <a:r>
              <a:rPr lang="en-ZA" sz="18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Depression</a:t>
            </a:r>
          </a:p>
          <a:p>
            <a:pPr marL="342900" lvl="0" indent="-342900">
              <a:lnSpc>
                <a:spcPct val="107000"/>
              </a:lnSpc>
              <a:buFont typeface="Symbol" panose="05050102010706020507" pitchFamily="18" charset="2"/>
              <a:buChar char=""/>
            </a:pPr>
            <a:r>
              <a:rPr lang="en-ZA" sz="18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Dementia</a:t>
            </a:r>
          </a:p>
          <a:p>
            <a:pPr marL="342900" lvl="0" indent="-342900">
              <a:lnSpc>
                <a:spcPct val="107000"/>
              </a:lnSpc>
              <a:buFont typeface="Symbol" panose="05050102010706020507" pitchFamily="18" charset="2"/>
              <a:buChar char=""/>
            </a:pPr>
            <a:r>
              <a:rPr lang="en-ZA" sz="18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Post traumatic stress disorder(PTSD) </a:t>
            </a:r>
          </a:p>
          <a:p>
            <a:pPr marL="342900" lvl="0" indent="-342900">
              <a:lnSpc>
                <a:spcPct val="107000"/>
              </a:lnSpc>
              <a:buFont typeface="Symbol" panose="05050102010706020507" pitchFamily="18" charset="2"/>
              <a:buChar char=""/>
            </a:pPr>
            <a:r>
              <a:rPr lang="en-ZA" sz="18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Anxiety</a:t>
            </a:r>
          </a:p>
          <a:p>
            <a:pPr marL="342900" lvl="0" indent="-342900">
              <a:lnSpc>
                <a:spcPct val="107000"/>
              </a:lnSpc>
              <a:spcAft>
                <a:spcPts val="800"/>
              </a:spcAft>
              <a:buFont typeface="Symbol" panose="05050102010706020507" pitchFamily="18" charset="2"/>
              <a:buChar char=""/>
            </a:pPr>
            <a:r>
              <a:rPr lang="en-ZA" sz="18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Obsessive compulsive disorder(OCD) </a:t>
            </a:r>
          </a:p>
          <a:p>
            <a:pPr>
              <a:lnSpc>
                <a:spcPct val="107000"/>
              </a:lnSpc>
              <a:spcAft>
                <a:spcPts val="800"/>
              </a:spcAft>
            </a:pPr>
            <a:endParaRPr lang="en-ZA" sz="1800" kern="1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ZA" kern="100" dirty="0">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ZA" sz="18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Positive symptoms:</a:t>
            </a:r>
          </a:p>
          <a:p>
            <a:pPr marL="342900" lvl="0" indent="-342900">
              <a:lnSpc>
                <a:spcPct val="107000"/>
              </a:lnSpc>
              <a:buFont typeface="Symbol" panose="05050102010706020507" pitchFamily="18" charset="2"/>
              <a:buChar char=""/>
            </a:pPr>
            <a:r>
              <a:rPr lang="en-ZA" sz="18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Delusions</a:t>
            </a:r>
          </a:p>
          <a:p>
            <a:pPr marL="342900" lvl="0" indent="-342900">
              <a:lnSpc>
                <a:spcPct val="107000"/>
              </a:lnSpc>
              <a:buFont typeface="Symbol" panose="05050102010706020507" pitchFamily="18" charset="2"/>
              <a:buChar char=""/>
            </a:pPr>
            <a:r>
              <a:rPr lang="en-ZA" sz="18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Hallucinations (visual and auditory)</a:t>
            </a:r>
          </a:p>
          <a:p>
            <a:pPr marL="342900" lvl="0" indent="-342900">
              <a:lnSpc>
                <a:spcPct val="107000"/>
              </a:lnSpc>
              <a:buFont typeface="Symbol" panose="05050102010706020507" pitchFamily="18" charset="2"/>
              <a:buChar char=""/>
            </a:pPr>
            <a:r>
              <a:rPr lang="en-ZA" sz="18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Disorganized behaviour </a:t>
            </a:r>
          </a:p>
          <a:p>
            <a:pPr marL="342900" lvl="0" indent="-342900">
              <a:lnSpc>
                <a:spcPct val="107000"/>
              </a:lnSpc>
              <a:spcAft>
                <a:spcPts val="800"/>
              </a:spcAft>
              <a:buFont typeface="Symbol" panose="05050102010706020507" pitchFamily="18" charset="2"/>
              <a:buChar char=""/>
            </a:pPr>
            <a:r>
              <a:rPr lang="en-ZA" sz="18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Unusual beliefs</a:t>
            </a:r>
          </a:p>
          <a:p>
            <a:pPr indent="-228600">
              <a:lnSpc>
                <a:spcPct val="90000"/>
              </a:lnSpc>
              <a:spcAft>
                <a:spcPts val="600"/>
              </a:spcAft>
              <a:buFont typeface="Arial" panose="020B0604020202020204" pitchFamily="34" charset="0"/>
              <a:buChar char="•"/>
            </a:pPr>
            <a:endParaRPr lang="en-US" sz="1500" dirty="0">
              <a:solidFill>
                <a:schemeClr val="bg1"/>
              </a:solidFill>
            </a:endParaRPr>
          </a:p>
        </p:txBody>
      </p:sp>
    </p:spTree>
    <p:extLst>
      <p:ext uri="{BB962C8B-B14F-4D97-AF65-F5344CB8AC3E}">
        <p14:creationId xmlns:p14="http://schemas.microsoft.com/office/powerpoint/2010/main" val="6200395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1A9F7B4E-B03D-4F64-BE33-00D074458D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0975C4C8-A9CC-A747-9C72-F87F9722BCE0}"/>
              </a:ext>
            </a:extLst>
          </p:cNvPr>
          <p:cNvPicPr>
            <a:picLocks noChangeAspect="1"/>
          </p:cNvPicPr>
          <p:nvPr/>
        </p:nvPicPr>
        <p:blipFill>
          <a:blip r:embed="rId2">
            <a:alphaModFix amt="40000"/>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4894" b="10837"/>
          <a:stretch/>
        </p:blipFill>
        <p:spPr>
          <a:xfrm>
            <a:off x="20" y="10"/>
            <a:ext cx="12191979" cy="6857990"/>
          </a:xfrm>
          <a:prstGeom prst="rect">
            <a:avLst/>
          </a:prstGeom>
        </p:spPr>
      </p:pic>
      <p:sp>
        <p:nvSpPr>
          <p:cNvPr id="4" name="TextBox 3">
            <a:extLst>
              <a:ext uri="{FF2B5EF4-FFF2-40B4-BE49-F238E27FC236}">
                <a16:creationId xmlns:a16="http://schemas.microsoft.com/office/drawing/2014/main" id="{176B7FC4-6E86-7E48-E668-063D9F467FF9}"/>
              </a:ext>
            </a:extLst>
          </p:cNvPr>
          <p:cNvSpPr txBox="1"/>
          <p:nvPr/>
        </p:nvSpPr>
        <p:spPr>
          <a:xfrm>
            <a:off x="838200" y="365125"/>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5400" b="1" dirty="0">
                <a:solidFill>
                  <a:schemeClr val="bg1"/>
                </a:solidFill>
                <a:latin typeface="Times New Roman" panose="02020603050405020304" pitchFamily="18" charset="0"/>
                <a:ea typeface="+mj-ea"/>
                <a:cs typeface="Times New Roman" panose="02020603050405020304" pitchFamily="18" charset="0"/>
              </a:rPr>
              <a:t>DIAGNOSIS  </a:t>
            </a:r>
          </a:p>
        </p:txBody>
      </p:sp>
      <p:sp>
        <p:nvSpPr>
          <p:cNvPr id="18" name="sketchy line">
            <a:extLst>
              <a:ext uri="{FF2B5EF4-FFF2-40B4-BE49-F238E27FC236}">
                <a16:creationId xmlns:a16="http://schemas.microsoft.com/office/drawing/2014/main" id="{7E2BE7F7-CA89-4002-ACCE-A478AEA24F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4399" y="1681544"/>
            <a:ext cx="9692640" cy="18288"/>
          </a:xfrm>
          <a:custGeom>
            <a:avLst/>
            <a:gdLst>
              <a:gd name="connsiteX0" fmla="*/ 0 w 9692640"/>
              <a:gd name="connsiteY0" fmla="*/ 0 h 18288"/>
              <a:gd name="connsiteX1" fmla="*/ 401552 w 9692640"/>
              <a:gd name="connsiteY1" fmla="*/ 0 h 18288"/>
              <a:gd name="connsiteX2" fmla="*/ 996957 w 9692640"/>
              <a:gd name="connsiteY2" fmla="*/ 0 h 18288"/>
              <a:gd name="connsiteX3" fmla="*/ 1398509 w 9692640"/>
              <a:gd name="connsiteY3" fmla="*/ 0 h 18288"/>
              <a:gd name="connsiteX4" fmla="*/ 2090841 w 9692640"/>
              <a:gd name="connsiteY4" fmla="*/ 0 h 18288"/>
              <a:gd name="connsiteX5" fmla="*/ 2686246 w 9692640"/>
              <a:gd name="connsiteY5" fmla="*/ 0 h 18288"/>
              <a:gd name="connsiteX6" fmla="*/ 3475504 w 9692640"/>
              <a:gd name="connsiteY6" fmla="*/ 0 h 18288"/>
              <a:gd name="connsiteX7" fmla="*/ 4361688 w 9692640"/>
              <a:gd name="connsiteY7" fmla="*/ 0 h 18288"/>
              <a:gd name="connsiteX8" fmla="*/ 5054019 w 9692640"/>
              <a:gd name="connsiteY8" fmla="*/ 0 h 18288"/>
              <a:gd name="connsiteX9" fmla="*/ 5940204 w 9692640"/>
              <a:gd name="connsiteY9" fmla="*/ 0 h 18288"/>
              <a:gd name="connsiteX10" fmla="*/ 6632535 w 9692640"/>
              <a:gd name="connsiteY10" fmla="*/ 0 h 18288"/>
              <a:gd name="connsiteX11" fmla="*/ 7034087 w 9692640"/>
              <a:gd name="connsiteY11" fmla="*/ 0 h 18288"/>
              <a:gd name="connsiteX12" fmla="*/ 7532566 w 9692640"/>
              <a:gd name="connsiteY12" fmla="*/ 0 h 18288"/>
              <a:gd name="connsiteX13" fmla="*/ 8418750 w 9692640"/>
              <a:gd name="connsiteY13" fmla="*/ 0 h 18288"/>
              <a:gd name="connsiteX14" fmla="*/ 9692640 w 9692640"/>
              <a:gd name="connsiteY14" fmla="*/ 0 h 18288"/>
              <a:gd name="connsiteX15" fmla="*/ 9692640 w 9692640"/>
              <a:gd name="connsiteY15" fmla="*/ 18288 h 18288"/>
              <a:gd name="connsiteX16" fmla="*/ 9000309 w 9692640"/>
              <a:gd name="connsiteY16" fmla="*/ 18288 h 18288"/>
              <a:gd name="connsiteX17" fmla="*/ 8307977 w 9692640"/>
              <a:gd name="connsiteY17" fmla="*/ 18288 h 18288"/>
              <a:gd name="connsiteX18" fmla="*/ 7712572 w 9692640"/>
              <a:gd name="connsiteY18" fmla="*/ 18288 h 18288"/>
              <a:gd name="connsiteX19" fmla="*/ 7214093 w 9692640"/>
              <a:gd name="connsiteY19" fmla="*/ 18288 h 18288"/>
              <a:gd name="connsiteX20" fmla="*/ 6327909 w 9692640"/>
              <a:gd name="connsiteY20" fmla="*/ 18288 h 18288"/>
              <a:gd name="connsiteX21" fmla="*/ 5635578 w 9692640"/>
              <a:gd name="connsiteY21" fmla="*/ 18288 h 18288"/>
              <a:gd name="connsiteX22" fmla="*/ 4846320 w 9692640"/>
              <a:gd name="connsiteY22" fmla="*/ 18288 h 18288"/>
              <a:gd name="connsiteX23" fmla="*/ 4444768 w 9692640"/>
              <a:gd name="connsiteY23" fmla="*/ 18288 h 18288"/>
              <a:gd name="connsiteX24" fmla="*/ 3946289 w 9692640"/>
              <a:gd name="connsiteY24" fmla="*/ 18288 h 18288"/>
              <a:gd name="connsiteX25" fmla="*/ 3253958 w 9692640"/>
              <a:gd name="connsiteY25" fmla="*/ 18288 h 18288"/>
              <a:gd name="connsiteX26" fmla="*/ 2464700 w 9692640"/>
              <a:gd name="connsiteY26" fmla="*/ 18288 h 18288"/>
              <a:gd name="connsiteX27" fmla="*/ 2063148 w 9692640"/>
              <a:gd name="connsiteY27" fmla="*/ 18288 h 18288"/>
              <a:gd name="connsiteX28" fmla="*/ 1661595 w 9692640"/>
              <a:gd name="connsiteY28" fmla="*/ 18288 h 18288"/>
              <a:gd name="connsiteX29" fmla="*/ 969264 w 9692640"/>
              <a:gd name="connsiteY29" fmla="*/ 18288 h 18288"/>
              <a:gd name="connsiteX30" fmla="*/ 0 w 9692640"/>
              <a:gd name="connsiteY30" fmla="*/ 18288 h 18288"/>
              <a:gd name="connsiteX31" fmla="*/ 0 w 9692640"/>
              <a:gd name="connsiteY3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692640" h="18288" fill="none" extrusionOk="0">
                <a:moveTo>
                  <a:pt x="0" y="0"/>
                </a:moveTo>
                <a:cubicBezTo>
                  <a:pt x="142992" y="4732"/>
                  <a:pt x="265909" y="-3365"/>
                  <a:pt x="401552" y="0"/>
                </a:cubicBezTo>
                <a:cubicBezTo>
                  <a:pt x="537195" y="3365"/>
                  <a:pt x="738153" y="6482"/>
                  <a:pt x="996957" y="0"/>
                </a:cubicBezTo>
                <a:cubicBezTo>
                  <a:pt x="1255762" y="-6482"/>
                  <a:pt x="1280511" y="12509"/>
                  <a:pt x="1398509" y="0"/>
                </a:cubicBezTo>
                <a:cubicBezTo>
                  <a:pt x="1516507" y="-12509"/>
                  <a:pt x="1782573" y="-31523"/>
                  <a:pt x="2090841" y="0"/>
                </a:cubicBezTo>
                <a:cubicBezTo>
                  <a:pt x="2399109" y="31523"/>
                  <a:pt x="2488380" y="26286"/>
                  <a:pt x="2686246" y="0"/>
                </a:cubicBezTo>
                <a:cubicBezTo>
                  <a:pt x="2884112" y="-26286"/>
                  <a:pt x="3186024" y="-14734"/>
                  <a:pt x="3475504" y="0"/>
                </a:cubicBezTo>
                <a:cubicBezTo>
                  <a:pt x="3764984" y="14734"/>
                  <a:pt x="4053017" y="43292"/>
                  <a:pt x="4361688" y="0"/>
                </a:cubicBezTo>
                <a:cubicBezTo>
                  <a:pt x="4670359" y="-43292"/>
                  <a:pt x="4736164" y="-729"/>
                  <a:pt x="5054019" y="0"/>
                </a:cubicBezTo>
                <a:cubicBezTo>
                  <a:pt x="5371874" y="729"/>
                  <a:pt x="5543528" y="-22963"/>
                  <a:pt x="5940204" y="0"/>
                </a:cubicBezTo>
                <a:cubicBezTo>
                  <a:pt x="6336881" y="22963"/>
                  <a:pt x="6423838" y="6469"/>
                  <a:pt x="6632535" y="0"/>
                </a:cubicBezTo>
                <a:cubicBezTo>
                  <a:pt x="6841232" y="-6469"/>
                  <a:pt x="6852819" y="17036"/>
                  <a:pt x="7034087" y="0"/>
                </a:cubicBezTo>
                <a:cubicBezTo>
                  <a:pt x="7215355" y="-17036"/>
                  <a:pt x="7313136" y="11151"/>
                  <a:pt x="7532566" y="0"/>
                </a:cubicBezTo>
                <a:cubicBezTo>
                  <a:pt x="7751996" y="-11151"/>
                  <a:pt x="8015001" y="25614"/>
                  <a:pt x="8418750" y="0"/>
                </a:cubicBezTo>
                <a:cubicBezTo>
                  <a:pt x="8822499" y="-25614"/>
                  <a:pt x="9163239" y="48603"/>
                  <a:pt x="9692640" y="0"/>
                </a:cubicBezTo>
                <a:cubicBezTo>
                  <a:pt x="9691955" y="4437"/>
                  <a:pt x="9693170" y="10717"/>
                  <a:pt x="9692640" y="18288"/>
                </a:cubicBezTo>
                <a:cubicBezTo>
                  <a:pt x="9545125" y="42172"/>
                  <a:pt x="9164259" y="6706"/>
                  <a:pt x="9000309" y="18288"/>
                </a:cubicBezTo>
                <a:cubicBezTo>
                  <a:pt x="8836359" y="29870"/>
                  <a:pt x="8521035" y="-14108"/>
                  <a:pt x="8307977" y="18288"/>
                </a:cubicBezTo>
                <a:cubicBezTo>
                  <a:pt x="8094919" y="50684"/>
                  <a:pt x="7881757" y="11235"/>
                  <a:pt x="7712572" y="18288"/>
                </a:cubicBezTo>
                <a:cubicBezTo>
                  <a:pt x="7543387" y="25341"/>
                  <a:pt x="7358861" y="20625"/>
                  <a:pt x="7214093" y="18288"/>
                </a:cubicBezTo>
                <a:cubicBezTo>
                  <a:pt x="7069325" y="15951"/>
                  <a:pt x="6523705" y="52160"/>
                  <a:pt x="6327909" y="18288"/>
                </a:cubicBezTo>
                <a:cubicBezTo>
                  <a:pt x="6132113" y="-15584"/>
                  <a:pt x="5923847" y="21204"/>
                  <a:pt x="5635578" y="18288"/>
                </a:cubicBezTo>
                <a:cubicBezTo>
                  <a:pt x="5347309" y="15372"/>
                  <a:pt x="5114749" y="50642"/>
                  <a:pt x="4846320" y="18288"/>
                </a:cubicBezTo>
                <a:cubicBezTo>
                  <a:pt x="4577891" y="-14066"/>
                  <a:pt x="4576701" y="1487"/>
                  <a:pt x="4444768" y="18288"/>
                </a:cubicBezTo>
                <a:cubicBezTo>
                  <a:pt x="4312835" y="35089"/>
                  <a:pt x="4112575" y="15158"/>
                  <a:pt x="3946289" y="18288"/>
                </a:cubicBezTo>
                <a:cubicBezTo>
                  <a:pt x="3780003" y="21418"/>
                  <a:pt x="3396009" y="18797"/>
                  <a:pt x="3253958" y="18288"/>
                </a:cubicBezTo>
                <a:cubicBezTo>
                  <a:pt x="3111907" y="17779"/>
                  <a:pt x="2760272" y="57223"/>
                  <a:pt x="2464700" y="18288"/>
                </a:cubicBezTo>
                <a:cubicBezTo>
                  <a:pt x="2169128" y="-20647"/>
                  <a:pt x="2232262" y="7960"/>
                  <a:pt x="2063148" y="18288"/>
                </a:cubicBezTo>
                <a:cubicBezTo>
                  <a:pt x="1894034" y="28616"/>
                  <a:pt x="1799338" y="3019"/>
                  <a:pt x="1661595" y="18288"/>
                </a:cubicBezTo>
                <a:cubicBezTo>
                  <a:pt x="1523852" y="33557"/>
                  <a:pt x="1113928" y="-4352"/>
                  <a:pt x="969264" y="18288"/>
                </a:cubicBezTo>
                <a:cubicBezTo>
                  <a:pt x="824600" y="40928"/>
                  <a:pt x="356149" y="-3128"/>
                  <a:pt x="0" y="18288"/>
                </a:cubicBezTo>
                <a:cubicBezTo>
                  <a:pt x="-540" y="12521"/>
                  <a:pt x="894" y="7749"/>
                  <a:pt x="0" y="0"/>
                </a:cubicBezTo>
                <a:close/>
              </a:path>
              <a:path w="9692640" h="18288" stroke="0" extrusionOk="0">
                <a:moveTo>
                  <a:pt x="0" y="0"/>
                </a:moveTo>
                <a:cubicBezTo>
                  <a:pt x="162642" y="3864"/>
                  <a:pt x="346119" y="-18364"/>
                  <a:pt x="498479" y="0"/>
                </a:cubicBezTo>
                <a:cubicBezTo>
                  <a:pt x="650839" y="18364"/>
                  <a:pt x="712065" y="-9389"/>
                  <a:pt x="900031" y="0"/>
                </a:cubicBezTo>
                <a:cubicBezTo>
                  <a:pt x="1087997" y="9389"/>
                  <a:pt x="1177291" y="3685"/>
                  <a:pt x="1398509" y="0"/>
                </a:cubicBezTo>
                <a:cubicBezTo>
                  <a:pt x="1619727" y="-3685"/>
                  <a:pt x="1874008" y="-8897"/>
                  <a:pt x="2090841" y="0"/>
                </a:cubicBezTo>
                <a:cubicBezTo>
                  <a:pt x="2307674" y="8897"/>
                  <a:pt x="2573432" y="-313"/>
                  <a:pt x="2880099" y="0"/>
                </a:cubicBezTo>
                <a:cubicBezTo>
                  <a:pt x="3186766" y="313"/>
                  <a:pt x="3422577" y="10664"/>
                  <a:pt x="3766283" y="0"/>
                </a:cubicBezTo>
                <a:cubicBezTo>
                  <a:pt x="4109989" y="-10664"/>
                  <a:pt x="4342683" y="-32873"/>
                  <a:pt x="4652467" y="0"/>
                </a:cubicBezTo>
                <a:cubicBezTo>
                  <a:pt x="4962251" y="32873"/>
                  <a:pt x="5122120" y="29155"/>
                  <a:pt x="5247872" y="0"/>
                </a:cubicBezTo>
                <a:cubicBezTo>
                  <a:pt x="5373625" y="-29155"/>
                  <a:pt x="5749491" y="1706"/>
                  <a:pt x="6037130" y="0"/>
                </a:cubicBezTo>
                <a:cubicBezTo>
                  <a:pt x="6324769" y="-1706"/>
                  <a:pt x="6531407" y="1172"/>
                  <a:pt x="6729461" y="0"/>
                </a:cubicBezTo>
                <a:cubicBezTo>
                  <a:pt x="6927515" y="-1172"/>
                  <a:pt x="7096794" y="-1520"/>
                  <a:pt x="7324867" y="0"/>
                </a:cubicBezTo>
                <a:cubicBezTo>
                  <a:pt x="7552940" y="1520"/>
                  <a:pt x="7878827" y="-17110"/>
                  <a:pt x="8114124" y="0"/>
                </a:cubicBezTo>
                <a:cubicBezTo>
                  <a:pt x="8349421" y="17110"/>
                  <a:pt x="8334208" y="15114"/>
                  <a:pt x="8515677" y="0"/>
                </a:cubicBezTo>
                <a:cubicBezTo>
                  <a:pt x="8697146" y="-15114"/>
                  <a:pt x="9236164" y="22466"/>
                  <a:pt x="9692640" y="0"/>
                </a:cubicBezTo>
                <a:cubicBezTo>
                  <a:pt x="9692735" y="8251"/>
                  <a:pt x="9692514" y="12333"/>
                  <a:pt x="9692640" y="18288"/>
                </a:cubicBezTo>
                <a:cubicBezTo>
                  <a:pt x="9410102" y="47398"/>
                  <a:pt x="9172773" y="7109"/>
                  <a:pt x="9000309" y="18288"/>
                </a:cubicBezTo>
                <a:cubicBezTo>
                  <a:pt x="8827845" y="29467"/>
                  <a:pt x="8713608" y="28372"/>
                  <a:pt x="8501830" y="18288"/>
                </a:cubicBezTo>
                <a:cubicBezTo>
                  <a:pt x="8290052" y="8204"/>
                  <a:pt x="7893416" y="3561"/>
                  <a:pt x="7712572" y="18288"/>
                </a:cubicBezTo>
                <a:cubicBezTo>
                  <a:pt x="7531728" y="33015"/>
                  <a:pt x="7480716" y="17052"/>
                  <a:pt x="7311020" y="18288"/>
                </a:cubicBezTo>
                <a:cubicBezTo>
                  <a:pt x="7141324" y="19524"/>
                  <a:pt x="6962706" y="15975"/>
                  <a:pt x="6618688" y="18288"/>
                </a:cubicBezTo>
                <a:cubicBezTo>
                  <a:pt x="6274670" y="20601"/>
                  <a:pt x="6230664" y="-1692"/>
                  <a:pt x="6120210" y="18288"/>
                </a:cubicBezTo>
                <a:cubicBezTo>
                  <a:pt x="6009756" y="38268"/>
                  <a:pt x="5442516" y="28115"/>
                  <a:pt x="5234026" y="18288"/>
                </a:cubicBezTo>
                <a:cubicBezTo>
                  <a:pt x="5025536" y="8461"/>
                  <a:pt x="4953693" y="18182"/>
                  <a:pt x="4832473" y="18288"/>
                </a:cubicBezTo>
                <a:cubicBezTo>
                  <a:pt x="4711253" y="18394"/>
                  <a:pt x="4414565" y="-11251"/>
                  <a:pt x="4140142" y="18288"/>
                </a:cubicBezTo>
                <a:cubicBezTo>
                  <a:pt x="3865719" y="47827"/>
                  <a:pt x="3819081" y="16772"/>
                  <a:pt x="3738590" y="18288"/>
                </a:cubicBezTo>
                <a:cubicBezTo>
                  <a:pt x="3658099" y="19804"/>
                  <a:pt x="3427576" y="1385"/>
                  <a:pt x="3240111" y="18288"/>
                </a:cubicBezTo>
                <a:cubicBezTo>
                  <a:pt x="3052646" y="35191"/>
                  <a:pt x="2749652" y="-13914"/>
                  <a:pt x="2450853" y="18288"/>
                </a:cubicBezTo>
                <a:cubicBezTo>
                  <a:pt x="2152054" y="50490"/>
                  <a:pt x="1928331" y="61101"/>
                  <a:pt x="1564669" y="18288"/>
                </a:cubicBezTo>
                <a:cubicBezTo>
                  <a:pt x="1201007" y="-24525"/>
                  <a:pt x="1217828" y="-275"/>
                  <a:pt x="1066190" y="18288"/>
                </a:cubicBezTo>
                <a:cubicBezTo>
                  <a:pt x="914552" y="36851"/>
                  <a:pt x="418290" y="-14785"/>
                  <a:pt x="0" y="18288"/>
                </a:cubicBezTo>
                <a:cubicBezTo>
                  <a:pt x="641" y="14236"/>
                  <a:pt x="889" y="755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D7A9988-26C3-F98A-6FB1-B3ED4736D0C0}"/>
              </a:ext>
            </a:extLst>
          </p:cNvPr>
          <p:cNvSpPr txBox="1"/>
          <p:nvPr/>
        </p:nvSpPr>
        <p:spPr>
          <a:xfrm>
            <a:off x="838200" y="2004446"/>
            <a:ext cx="10515600" cy="4176897"/>
          </a:xfrm>
          <a:prstGeom prst="rect">
            <a:avLst/>
          </a:prstGeom>
        </p:spPr>
        <p:txBody>
          <a:bodyPr vert="horz" lIns="91440" tIns="45720" rIns="91440" bIns="45720" numCol="2" rtlCol="0">
            <a:normAutofit/>
          </a:bodyPr>
          <a:lstStyle/>
          <a:p>
            <a:pPr indent="-228600">
              <a:lnSpc>
                <a:spcPct val="90000"/>
              </a:lnSpc>
              <a:spcAft>
                <a:spcPts val="600"/>
              </a:spcAft>
              <a:buFont typeface="Arial" panose="020B0604020202020204" pitchFamily="34" charset="0"/>
              <a:buChar char="•"/>
            </a:pPr>
            <a:r>
              <a:rPr lang="en-GB" sz="1600" dirty="0">
                <a:solidFill>
                  <a:schemeClr val="bg1"/>
                </a:solidFill>
                <a:latin typeface="Times New Roman" panose="02020603050405020304" pitchFamily="18" charset="0"/>
                <a:cs typeface="Times New Roman" panose="02020603050405020304" pitchFamily="18" charset="0"/>
              </a:rPr>
              <a:t>Diagnosis is made using the </a:t>
            </a:r>
            <a:r>
              <a:rPr lang="en-GB" sz="1600" b="1" dirty="0">
                <a:solidFill>
                  <a:schemeClr val="bg1"/>
                </a:solidFill>
                <a:latin typeface="Times New Roman" panose="02020603050405020304" pitchFamily="18" charset="0"/>
                <a:cs typeface="Times New Roman" panose="02020603050405020304" pitchFamily="18" charset="0"/>
              </a:rPr>
              <a:t>DSM-5</a:t>
            </a:r>
            <a:r>
              <a:rPr lang="en-GB" sz="1600" dirty="0">
                <a:solidFill>
                  <a:schemeClr val="bg1"/>
                </a:solidFill>
                <a:latin typeface="Times New Roman" panose="02020603050405020304" pitchFamily="18" charset="0"/>
                <a:cs typeface="Times New Roman" panose="02020603050405020304" pitchFamily="18" charset="0"/>
              </a:rPr>
              <a:t>.</a:t>
            </a:r>
            <a:br>
              <a:rPr lang="en-GB" sz="1600" dirty="0">
                <a:solidFill>
                  <a:schemeClr val="bg1"/>
                </a:solidFill>
                <a:latin typeface="Times New Roman" panose="02020603050405020304" pitchFamily="18" charset="0"/>
                <a:cs typeface="Times New Roman" panose="02020603050405020304" pitchFamily="18" charset="0"/>
              </a:rPr>
            </a:br>
            <a:r>
              <a:rPr lang="en-GB" sz="1600" i="1" dirty="0">
                <a:solidFill>
                  <a:schemeClr val="bg1"/>
                </a:solidFill>
                <a:latin typeface="Times New Roman" panose="02020603050405020304" pitchFamily="18" charset="0"/>
                <a:cs typeface="Times New Roman" panose="02020603050405020304" pitchFamily="18" charset="0"/>
              </a:rPr>
              <a:t>(</a:t>
            </a:r>
            <a:r>
              <a:rPr lang="en-GB" sz="1600" i="1" dirty="0" err="1">
                <a:solidFill>
                  <a:schemeClr val="bg1"/>
                </a:solidFill>
                <a:latin typeface="Times New Roman" panose="02020603050405020304" pitchFamily="18" charset="0"/>
                <a:cs typeface="Times New Roman" panose="02020603050405020304" pitchFamily="18" charset="0"/>
              </a:rPr>
              <a:t>Fatani</a:t>
            </a:r>
            <a:r>
              <a:rPr lang="en-GB" sz="1600" i="1" dirty="0">
                <a:solidFill>
                  <a:schemeClr val="bg1"/>
                </a:solidFill>
                <a:latin typeface="Times New Roman" panose="02020603050405020304" pitchFamily="18" charset="0"/>
                <a:cs typeface="Times New Roman" panose="02020603050405020304" pitchFamily="18" charset="0"/>
              </a:rPr>
              <a:t> et al., 2017)</a:t>
            </a:r>
          </a:p>
          <a:p>
            <a:pPr>
              <a:lnSpc>
                <a:spcPct val="90000"/>
              </a:lnSpc>
              <a:spcAft>
                <a:spcPts val="600"/>
              </a:spcAft>
            </a:pPr>
            <a:endParaRPr lang="en-GB" sz="1600" i="1" dirty="0">
              <a:solidFill>
                <a:schemeClr val="bg1"/>
              </a:solidFill>
              <a:latin typeface="Times New Roman" panose="02020603050405020304" pitchFamily="18" charset="0"/>
              <a:cs typeface="Times New Roman" panose="02020603050405020304" pitchFamily="18" charset="0"/>
            </a:endParaRPr>
          </a:p>
          <a:p>
            <a:r>
              <a:rPr lang="en-GB" sz="1600" dirty="0">
                <a:solidFill>
                  <a:schemeClr val="bg1"/>
                </a:solidFill>
                <a:latin typeface="Times New Roman" panose="02020603050405020304" pitchFamily="18" charset="0"/>
                <a:cs typeface="Times New Roman" panose="02020603050405020304" pitchFamily="18" charset="0"/>
              </a:rPr>
              <a:t>Requires presence of </a:t>
            </a:r>
            <a:r>
              <a:rPr lang="en-GB" sz="1600" b="1" dirty="0">
                <a:solidFill>
                  <a:schemeClr val="bg1"/>
                </a:solidFill>
                <a:latin typeface="Times New Roman" panose="02020603050405020304" pitchFamily="18" charset="0"/>
                <a:cs typeface="Times New Roman" panose="02020603050405020304" pitchFamily="18" charset="0"/>
              </a:rPr>
              <a:t>2 or more active-phase symptoms</a:t>
            </a:r>
            <a:r>
              <a:rPr lang="en-GB" sz="1600" dirty="0">
                <a:solidFill>
                  <a:schemeClr val="bg1"/>
                </a:solidFill>
                <a:latin typeface="Times New Roman" panose="02020603050405020304" pitchFamily="18" charset="0"/>
                <a:cs typeface="Times New Roman" panose="02020603050405020304" pitchFamily="18" charset="0"/>
              </a:rPr>
              <a:t> for </a:t>
            </a:r>
            <a:r>
              <a:rPr lang="en-GB" sz="1600" b="1" dirty="0">
                <a:solidFill>
                  <a:schemeClr val="bg1"/>
                </a:solidFill>
                <a:latin typeface="Times New Roman" panose="02020603050405020304" pitchFamily="18" charset="0"/>
                <a:cs typeface="Times New Roman" panose="02020603050405020304" pitchFamily="18" charset="0"/>
              </a:rPr>
              <a:t>at least 1 month</a:t>
            </a:r>
            <a:r>
              <a:rPr lang="en-GB" sz="1600" dirty="0">
                <a:solidFill>
                  <a:schemeClr val="bg1"/>
                </a:solidFill>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GB" sz="1600" dirty="0">
                <a:solidFill>
                  <a:schemeClr val="bg1"/>
                </a:solidFill>
                <a:latin typeface="Times New Roman" panose="02020603050405020304" pitchFamily="18" charset="0"/>
                <a:cs typeface="Times New Roman" panose="02020603050405020304" pitchFamily="18" charset="0"/>
              </a:rPr>
              <a:t>Delusions</a:t>
            </a:r>
          </a:p>
          <a:p>
            <a:pPr>
              <a:buFont typeface="Arial" panose="020B0604020202020204" pitchFamily="34" charset="0"/>
              <a:buChar char="•"/>
            </a:pPr>
            <a:r>
              <a:rPr lang="en-GB" sz="1600" dirty="0">
                <a:solidFill>
                  <a:schemeClr val="bg1"/>
                </a:solidFill>
                <a:latin typeface="Times New Roman" panose="02020603050405020304" pitchFamily="18" charset="0"/>
                <a:cs typeface="Times New Roman" panose="02020603050405020304" pitchFamily="18" charset="0"/>
              </a:rPr>
              <a:t>Hallucinations</a:t>
            </a:r>
          </a:p>
          <a:p>
            <a:pPr>
              <a:buFont typeface="Arial" panose="020B0604020202020204" pitchFamily="34" charset="0"/>
              <a:buChar char="•"/>
            </a:pPr>
            <a:r>
              <a:rPr lang="en-GB" sz="1600" dirty="0">
                <a:solidFill>
                  <a:schemeClr val="bg1"/>
                </a:solidFill>
                <a:latin typeface="Times New Roman" panose="02020603050405020304" pitchFamily="18" charset="0"/>
                <a:cs typeface="Times New Roman" panose="02020603050405020304" pitchFamily="18" charset="0"/>
              </a:rPr>
              <a:t>Disorganized speech</a:t>
            </a:r>
          </a:p>
          <a:p>
            <a:pPr>
              <a:buFont typeface="Arial" panose="020B0604020202020204" pitchFamily="34" charset="0"/>
              <a:buChar char="•"/>
            </a:pPr>
            <a:r>
              <a:rPr lang="en-GB" sz="1600" dirty="0">
                <a:solidFill>
                  <a:schemeClr val="bg1"/>
                </a:solidFill>
                <a:latin typeface="Times New Roman" panose="02020603050405020304" pitchFamily="18" charset="0"/>
                <a:cs typeface="Times New Roman" panose="02020603050405020304" pitchFamily="18" charset="0"/>
              </a:rPr>
              <a:t>Catatonic or grossly disorganized </a:t>
            </a:r>
            <a:r>
              <a:rPr lang="en-GB" sz="1600" dirty="0" err="1">
                <a:solidFill>
                  <a:schemeClr val="bg1"/>
                </a:solidFill>
                <a:latin typeface="Times New Roman" panose="02020603050405020304" pitchFamily="18" charset="0"/>
                <a:cs typeface="Times New Roman" panose="02020603050405020304" pitchFamily="18" charset="0"/>
              </a:rPr>
              <a:t>behavior</a:t>
            </a:r>
            <a:br>
              <a:rPr lang="en-GB" sz="1600" dirty="0">
                <a:solidFill>
                  <a:schemeClr val="bg1"/>
                </a:solidFill>
                <a:latin typeface="Times New Roman" panose="02020603050405020304" pitchFamily="18" charset="0"/>
                <a:cs typeface="Times New Roman" panose="02020603050405020304" pitchFamily="18" charset="0"/>
              </a:rPr>
            </a:br>
            <a:r>
              <a:rPr lang="en-GB" sz="1600" i="1" dirty="0">
                <a:solidFill>
                  <a:schemeClr val="bg1"/>
                </a:solidFill>
                <a:latin typeface="Times New Roman" panose="02020603050405020304" pitchFamily="18" charset="0"/>
                <a:cs typeface="Times New Roman" panose="02020603050405020304" pitchFamily="18" charset="0"/>
              </a:rPr>
              <a:t>(</a:t>
            </a:r>
            <a:r>
              <a:rPr lang="en-GB" sz="1600" i="1" dirty="0" err="1">
                <a:solidFill>
                  <a:schemeClr val="bg1"/>
                </a:solidFill>
                <a:latin typeface="Times New Roman" panose="02020603050405020304" pitchFamily="18" charset="0"/>
                <a:cs typeface="Times New Roman" panose="02020603050405020304" pitchFamily="18" charset="0"/>
              </a:rPr>
              <a:t>Fatani</a:t>
            </a:r>
            <a:r>
              <a:rPr lang="en-GB" sz="1600" i="1" dirty="0">
                <a:solidFill>
                  <a:schemeClr val="bg1"/>
                </a:solidFill>
                <a:latin typeface="Times New Roman" panose="02020603050405020304" pitchFamily="18" charset="0"/>
                <a:cs typeface="Times New Roman" panose="02020603050405020304" pitchFamily="18" charset="0"/>
              </a:rPr>
              <a:t> et al., 2017)</a:t>
            </a:r>
          </a:p>
          <a:p>
            <a:pPr>
              <a:buFont typeface="Arial" panose="020B0604020202020204" pitchFamily="34" charset="0"/>
              <a:buChar char="•"/>
            </a:pPr>
            <a:endParaRPr lang="en-GB" sz="1600" dirty="0">
              <a:solidFill>
                <a:schemeClr val="bg1"/>
              </a:solidFill>
              <a:latin typeface="Times New Roman" panose="02020603050405020304" pitchFamily="18" charset="0"/>
              <a:cs typeface="Times New Roman" panose="02020603050405020304" pitchFamily="18" charset="0"/>
            </a:endParaRPr>
          </a:p>
          <a:p>
            <a:r>
              <a:rPr lang="en-GB" sz="1600" b="1" dirty="0">
                <a:solidFill>
                  <a:schemeClr val="bg1"/>
                </a:solidFill>
                <a:latin typeface="Times New Roman" panose="02020603050405020304" pitchFamily="18" charset="0"/>
                <a:cs typeface="Times New Roman" panose="02020603050405020304" pitchFamily="18" charset="0"/>
              </a:rPr>
              <a:t>Functional impairments</a:t>
            </a:r>
            <a:r>
              <a:rPr lang="en-GB" sz="1600" dirty="0">
                <a:solidFill>
                  <a:schemeClr val="bg1"/>
                </a:solidFill>
                <a:latin typeface="Times New Roman" panose="02020603050405020304" pitchFamily="18" charset="0"/>
                <a:cs typeface="Times New Roman" panose="02020603050405020304" pitchFamily="18" charset="0"/>
              </a:rPr>
              <a:t> must be evident:</a:t>
            </a:r>
          </a:p>
          <a:p>
            <a:pPr>
              <a:buFont typeface="Arial" panose="020B0604020202020204" pitchFamily="34" charset="0"/>
              <a:buChar char="•"/>
            </a:pPr>
            <a:r>
              <a:rPr lang="en-GB" sz="1600" dirty="0">
                <a:solidFill>
                  <a:schemeClr val="bg1"/>
                </a:solidFill>
                <a:latin typeface="Times New Roman" panose="02020603050405020304" pitchFamily="18" charset="0"/>
                <a:cs typeface="Times New Roman" panose="02020603050405020304" pitchFamily="18" charset="0"/>
              </a:rPr>
              <a:t>Difficulty functioning at </a:t>
            </a:r>
            <a:r>
              <a:rPr lang="en-GB" sz="1600" b="1" dirty="0">
                <a:solidFill>
                  <a:schemeClr val="bg1"/>
                </a:solidFill>
                <a:latin typeface="Times New Roman" panose="02020603050405020304" pitchFamily="18" charset="0"/>
                <a:cs typeface="Times New Roman" panose="02020603050405020304" pitchFamily="18" charset="0"/>
              </a:rPr>
              <a:t>work or school</a:t>
            </a:r>
            <a:endParaRPr lang="en-GB" sz="1600" dirty="0">
              <a:solidFill>
                <a:schemeClr val="bg1"/>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GB" sz="1600" b="1" dirty="0">
                <a:solidFill>
                  <a:schemeClr val="bg1"/>
                </a:solidFill>
                <a:latin typeface="Times New Roman" panose="02020603050405020304" pitchFamily="18" charset="0"/>
                <a:cs typeface="Times New Roman" panose="02020603050405020304" pitchFamily="18" charset="0"/>
              </a:rPr>
              <a:t>Poor interpersonal relationships</a:t>
            </a:r>
            <a:endParaRPr lang="en-GB" sz="1600" dirty="0">
              <a:solidFill>
                <a:schemeClr val="bg1"/>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GB" sz="1600" dirty="0">
                <a:solidFill>
                  <a:schemeClr val="bg1"/>
                </a:solidFill>
                <a:latin typeface="Times New Roman" panose="02020603050405020304" pitchFamily="18" charset="0"/>
                <a:cs typeface="Times New Roman" panose="02020603050405020304" pitchFamily="18" charset="0"/>
              </a:rPr>
              <a:t>Inability to </a:t>
            </a:r>
            <a:r>
              <a:rPr lang="en-GB" sz="1600" b="1" dirty="0">
                <a:solidFill>
                  <a:schemeClr val="bg1"/>
                </a:solidFill>
                <a:latin typeface="Times New Roman" panose="02020603050405020304" pitchFamily="18" charset="0"/>
                <a:cs typeface="Times New Roman" panose="02020603050405020304" pitchFamily="18" charset="0"/>
              </a:rPr>
              <a:t>maintain self-care</a:t>
            </a:r>
          </a:p>
          <a:p>
            <a:pPr>
              <a:buFont typeface="Arial" panose="020B0604020202020204" pitchFamily="34" charset="0"/>
              <a:buChar char="•"/>
            </a:pPr>
            <a:br>
              <a:rPr lang="en-GB" sz="1600" dirty="0">
                <a:solidFill>
                  <a:schemeClr val="bg1"/>
                </a:solidFill>
                <a:latin typeface="Times New Roman" panose="02020603050405020304" pitchFamily="18" charset="0"/>
                <a:cs typeface="Times New Roman" panose="02020603050405020304" pitchFamily="18" charset="0"/>
              </a:rPr>
            </a:br>
            <a:r>
              <a:rPr lang="en-GB" sz="1600" i="1" dirty="0">
                <a:solidFill>
                  <a:schemeClr val="bg1"/>
                </a:solidFill>
                <a:latin typeface="Times New Roman" panose="02020603050405020304" pitchFamily="18" charset="0"/>
                <a:cs typeface="Times New Roman" panose="02020603050405020304" pitchFamily="18" charset="0"/>
              </a:rPr>
              <a:t>(</a:t>
            </a:r>
            <a:r>
              <a:rPr lang="en-GB" sz="1600" i="1" dirty="0" err="1">
                <a:solidFill>
                  <a:schemeClr val="bg1"/>
                </a:solidFill>
                <a:latin typeface="Times New Roman" panose="02020603050405020304" pitchFamily="18" charset="0"/>
                <a:cs typeface="Times New Roman" panose="02020603050405020304" pitchFamily="18" charset="0"/>
              </a:rPr>
              <a:t>Fatani</a:t>
            </a:r>
            <a:r>
              <a:rPr lang="en-GB" sz="1600" i="1" dirty="0">
                <a:solidFill>
                  <a:schemeClr val="bg1"/>
                </a:solidFill>
                <a:latin typeface="Times New Roman" panose="02020603050405020304" pitchFamily="18" charset="0"/>
                <a:cs typeface="Times New Roman" panose="02020603050405020304" pitchFamily="18" charset="0"/>
              </a:rPr>
              <a:t> et al., 2017</a:t>
            </a:r>
            <a:endParaRPr lang="en-GB" sz="1600" dirty="0">
              <a:solidFill>
                <a:schemeClr val="bg1"/>
              </a:solidFill>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r>
              <a:rPr lang="en-GB" sz="1600" dirty="0">
                <a:solidFill>
                  <a:schemeClr val="bg1"/>
                </a:solidFill>
                <a:latin typeface="Times New Roman" panose="02020603050405020304" pitchFamily="18" charset="0"/>
                <a:cs typeface="Times New Roman" panose="02020603050405020304" pitchFamily="18" charset="0"/>
              </a:rPr>
              <a:t>Symptoms must </a:t>
            </a:r>
            <a:r>
              <a:rPr lang="en-GB" sz="1600" b="1" dirty="0">
                <a:solidFill>
                  <a:schemeClr val="bg1"/>
                </a:solidFill>
                <a:latin typeface="Times New Roman" panose="02020603050405020304" pitchFamily="18" charset="0"/>
                <a:cs typeface="Times New Roman" panose="02020603050405020304" pitchFamily="18" charset="0"/>
              </a:rPr>
              <a:t>persist for 6 months</a:t>
            </a:r>
            <a:r>
              <a:rPr lang="en-GB" sz="1600" dirty="0">
                <a:solidFill>
                  <a:schemeClr val="bg1"/>
                </a:solidFill>
                <a:latin typeface="Times New Roman" panose="02020603050405020304" pitchFamily="18" charset="0"/>
                <a:cs typeface="Times New Roman" panose="02020603050405020304" pitchFamily="18" charset="0"/>
              </a:rPr>
              <a:t>, including at least 1 month of active-phase symptoms.</a:t>
            </a:r>
            <a:br>
              <a:rPr lang="en-GB" sz="1600" dirty="0">
                <a:solidFill>
                  <a:schemeClr val="bg1"/>
                </a:solidFill>
                <a:latin typeface="Times New Roman" panose="02020603050405020304" pitchFamily="18" charset="0"/>
                <a:cs typeface="Times New Roman" panose="02020603050405020304" pitchFamily="18" charset="0"/>
              </a:rPr>
            </a:br>
            <a:r>
              <a:rPr lang="en-GB" sz="1600" i="1" dirty="0">
                <a:solidFill>
                  <a:schemeClr val="bg1"/>
                </a:solidFill>
                <a:latin typeface="Times New Roman" panose="02020603050405020304" pitchFamily="18" charset="0"/>
                <a:cs typeface="Times New Roman" panose="02020603050405020304" pitchFamily="18" charset="0"/>
              </a:rPr>
              <a:t>(</a:t>
            </a:r>
            <a:r>
              <a:rPr lang="en-GB" sz="1600" i="1" dirty="0" err="1">
                <a:solidFill>
                  <a:schemeClr val="bg1"/>
                </a:solidFill>
                <a:latin typeface="Times New Roman" panose="02020603050405020304" pitchFamily="18" charset="0"/>
                <a:cs typeface="Times New Roman" panose="02020603050405020304" pitchFamily="18" charset="0"/>
              </a:rPr>
              <a:t>Fatani</a:t>
            </a:r>
            <a:r>
              <a:rPr lang="en-GB" sz="1600" i="1" dirty="0">
                <a:solidFill>
                  <a:schemeClr val="bg1"/>
                </a:solidFill>
                <a:latin typeface="Times New Roman" panose="02020603050405020304" pitchFamily="18" charset="0"/>
                <a:cs typeface="Times New Roman" panose="02020603050405020304" pitchFamily="18" charset="0"/>
              </a:rPr>
              <a:t> et al., 2017)</a:t>
            </a:r>
          </a:p>
          <a:p>
            <a:pPr indent="-228600">
              <a:lnSpc>
                <a:spcPct val="90000"/>
              </a:lnSpc>
              <a:spcAft>
                <a:spcPts val="600"/>
              </a:spcAft>
              <a:buFont typeface="Arial" panose="020B0604020202020204" pitchFamily="34" charset="0"/>
              <a:buChar char="•"/>
            </a:pPr>
            <a:endParaRPr lang="en-GB" sz="1600" i="1" dirty="0">
              <a:solidFill>
                <a:schemeClr val="bg1"/>
              </a:solidFill>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r>
              <a:rPr lang="en-GB" sz="1600" b="1" dirty="0">
                <a:solidFill>
                  <a:schemeClr val="bg1"/>
                </a:solidFill>
                <a:latin typeface="Times New Roman" panose="02020603050405020304" pitchFamily="18" charset="0"/>
                <a:cs typeface="Times New Roman" panose="02020603050405020304" pitchFamily="18" charset="0"/>
              </a:rPr>
              <a:t>Other psychiatric disorders must be ruled out</a:t>
            </a:r>
            <a:r>
              <a:rPr lang="en-GB" sz="1600" dirty="0">
                <a:solidFill>
                  <a:schemeClr val="bg1"/>
                </a:solidFill>
                <a:latin typeface="Times New Roman" panose="02020603050405020304" pitchFamily="18" charset="0"/>
                <a:cs typeface="Times New Roman" panose="02020603050405020304" pitchFamily="18" charset="0"/>
              </a:rPr>
              <a:t> before confirming the diagnosis.</a:t>
            </a:r>
            <a:br>
              <a:rPr lang="en-GB" sz="1600" dirty="0">
                <a:solidFill>
                  <a:schemeClr val="bg1"/>
                </a:solidFill>
                <a:latin typeface="Times New Roman" panose="02020603050405020304" pitchFamily="18" charset="0"/>
                <a:cs typeface="Times New Roman" panose="02020603050405020304" pitchFamily="18" charset="0"/>
              </a:rPr>
            </a:br>
            <a:r>
              <a:rPr lang="en-GB" sz="1600" i="1" dirty="0">
                <a:solidFill>
                  <a:schemeClr val="bg1"/>
                </a:solidFill>
                <a:latin typeface="Times New Roman" panose="02020603050405020304" pitchFamily="18" charset="0"/>
                <a:cs typeface="Times New Roman" panose="02020603050405020304" pitchFamily="18" charset="0"/>
              </a:rPr>
              <a:t>(</a:t>
            </a:r>
            <a:r>
              <a:rPr lang="en-GB" sz="1600" i="1" dirty="0" err="1">
                <a:solidFill>
                  <a:schemeClr val="bg1"/>
                </a:solidFill>
                <a:latin typeface="Times New Roman" panose="02020603050405020304" pitchFamily="18" charset="0"/>
                <a:cs typeface="Times New Roman" panose="02020603050405020304" pitchFamily="18" charset="0"/>
              </a:rPr>
              <a:t>Fatani</a:t>
            </a:r>
            <a:r>
              <a:rPr lang="en-GB" sz="1600" i="1" dirty="0">
                <a:solidFill>
                  <a:schemeClr val="bg1"/>
                </a:solidFill>
                <a:latin typeface="Times New Roman" panose="02020603050405020304" pitchFamily="18" charset="0"/>
                <a:cs typeface="Times New Roman" panose="02020603050405020304" pitchFamily="18" charset="0"/>
              </a:rPr>
              <a:t> et al., 2017)</a:t>
            </a:r>
          </a:p>
          <a:p>
            <a:pPr indent="-228600">
              <a:lnSpc>
                <a:spcPct val="90000"/>
              </a:lnSpc>
              <a:spcAft>
                <a:spcPts val="600"/>
              </a:spcAft>
              <a:buFont typeface="Arial" panose="020B0604020202020204" pitchFamily="34" charset="0"/>
              <a:buChar char="•"/>
            </a:pPr>
            <a:endParaRPr lang="en-US" sz="1500" dirty="0">
              <a:solidFill>
                <a:schemeClr val="bg1"/>
              </a:solidFill>
            </a:endParaRPr>
          </a:p>
        </p:txBody>
      </p:sp>
    </p:spTree>
    <p:extLst>
      <p:ext uri="{BB962C8B-B14F-4D97-AF65-F5344CB8AC3E}">
        <p14:creationId xmlns:p14="http://schemas.microsoft.com/office/powerpoint/2010/main" val="1827482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E71F0E74-F81D-9B2A-BE12-22847ED1F4DC}"/>
              </a:ext>
            </a:extLst>
          </p:cNvPr>
          <p:cNvPicPr>
            <a:picLocks noChangeAspect="1"/>
          </p:cNvPicPr>
          <p:nvPr/>
        </p:nvPicPr>
        <p:blipFill>
          <a:blip r:embed="rId2">
            <a:alphaModFix amt="35000"/>
          </a:blip>
          <a:srcRect/>
          <a:stretch/>
        </p:blipFill>
        <p:spPr>
          <a:xfrm>
            <a:off x="22653" y="10"/>
            <a:ext cx="12191980" cy="6857990"/>
          </a:xfrm>
          <a:prstGeom prst="rect">
            <a:avLst/>
          </a:prstGeom>
        </p:spPr>
      </p:pic>
      <p:sp>
        <p:nvSpPr>
          <p:cNvPr id="3" name="TextBox 2">
            <a:extLst>
              <a:ext uri="{FF2B5EF4-FFF2-40B4-BE49-F238E27FC236}">
                <a16:creationId xmlns:a16="http://schemas.microsoft.com/office/drawing/2014/main" id="{0802EBF8-519F-929F-74E0-8D7FFB00903C}"/>
              </a:ext>
            </a:extLst>
          </p:cNvPr>
          <p:cNvSpPr txBox="1"/>
          <p:nvPr/>
        </p:nvSpPr>
        <p:spPr>
          <a:xfrm>
            <a:off x="613117" y="-221578"/>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b="1" dirty="0">
                <a:solidFill>
                  <a:srgbClr val="FFFFFF"/>
                </a:solidFill>
                <a:latin typeface="Times New Roman" panose="02020603050405020304" pitchFamily="18" charset="0"/>
                <a:ea typeface="+mj-ea"/>
                <a:cs typeface="Times New Roman" panose="02020603050405020304" pitchFamily="18" charset="0"/>
              </a:rPr>
              <a:t>MEMANTINE</a:t>
            </a:r>
          </a:p>
        </p:txBody>
      </p:sp>
      <p:sp>
        <p:nvSpPr>
          <p:cNvPr id="4" name="TextBox 3">
            <a:extLst>
              <a:ext uri="{FF2B5EF4-FFF2-40B4-BE49-F238E27FC236}">
                <a16:creationId xmlns:a16="http://schemas.microsoft.com/office/drawing/2014/main" id="{C9B1657B-4DE4-2104-6DCF-CB9E64B8043D}"/>
              </a:ext>
            </a:extLst>
          </p:cNvPr>
          <p:cNvSpPr txBox="1"/>
          <p:nvPr/>
        </p:nvSpPr>
        <p:spPr>
          <a:xfrm>
            <a:off x="613117" y="1473933"/>
            <a:ext cx="10515600" cy="4351338"/>
          </a:xfrm>
          <a:prstGeom prst="rect">
            <a:avLst/>
          </a:prstGeom>
        </p:spPr>
        <p:txBody>
          <a:bodyPr vert="horz" lIns="91440" tIns="45720" rIns="91440" bIns="45720" rtlCol="0">
            <a:normAutofit/>
          </a:bodyPr>
          <a:lstStyle/>
          <a:p>
            <a:pPr>
              <a:lnSpc>
                <a:spcPct val="90000"/>
              </a:lnSpc>
              <a:spcAft>
                <a:spcPts val="600"/>
              </a:spcAft>
            </a:pPr>
            <a:endParaRPr lang="en-US" dirty="0">
              <a:solidFill>
                <a:srgbClr val="FFFFFF"/>
              </a:solidFill>
            </a:endParaRPr>
          </a:p>
        </p:txBody>
      </p:sp>
      <p:graphicFrame>
        <p:nvGraphicFramePr>
          <p:cNvPr id="5" name="Table 5">
            <a:extLst>
              <a:ext uri="{FF2B5EF4-FFF2-40B4-BE49-F238E27FC236}">
                <a16:creationId xmlns:a16="http://schemas.microsoft.com/office/drawing/2014/main" id="{22F1417C-93D2-54C0-22D8-858C40B1BC4F}"/>
              </a:ext>
            </a:extLst>
          </p:cNvPr>
          <p:cNvGraphicFramePr>
            <a:graphicFrameLocks noGrp="1"/>
          </p:cNvGraphicFramePr>
          <p:nvPr>
            <p:extLst>
              <p:ext uri="{D42A27DB-BD31-4B8C-83A1-F6EECF244321}">
                <p14:modId xmlns:p14="http://schemas.microsoft.com/office/powerpoint/2010/main" val="612445410"/>
              </p:ext>
            </p:extLst>
          </p:nvPr>
        </p:nvGraphicFramePr>
        <p:xfrm>
          <a:off x="613117" y="885621"/>
          <a:ext cx="9704590" cy="5871164"/>
        </p:xfrm>
        <a:graphic>
          <a:graphicData uri="http://schemas.openxmlformats.org/drawingml/2006/table">
            <a:tbl>
              <a:tblPr firstRow="1" bandRow="1">
                <a:tableStyleId>{5940675A-B579-460E-94D1-54222C63F5DA}</a:tableStyleId>
              </a:tblPr>
              <a:tblGrid>
                <a:gridCol w="4852295">
                  <a:extLst>
                    <a:ext uri="{9D8B030D-6E8A-4147-A177-3AD203B41FA5}">
                      <a16:colId xmlns:a16="http://schemas.microsoft.com/office/drawing/2014/main" val="4253320993"/>
                    </a:ext>
                  </a:extLst>
                </a:gridCol>
                <a:gridCol w="4852295">
                  <a:extLst>
                    <a:ext uri="{9D8B030D-6E8A-4147-A177-3AD203B41FA5}">
                      <a16:colId xmlns:a16="http://schemas.microsoft.com/office/drawing/2014/main" val="3896844280"/>
                    </a:ext>
                  </a:extLst>
                </a:gridCol>
              </a:tblGrid>
              <a:tr h="1088467">
                <a:tc>
                  <a:txBody>
                    <a:bodyPr/>
                    <a:lstStyle/>
                    <a:p>
                      <a:endParaRPr lang="en-ZA" sz="11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FFFFFF"/>
                          </a:solidFill>
                          <a:effectLst/>
                        </a:rPr>
                        <a:t>A primary aliphatic amine, a 3,5-dimethyl derivative of 1-aminodamantane.(PubChem-memantine) A N-methyl-D-</a:t>
                      </a:r>
                      <a:r>
                        <a:rPr lang="en-US" sz="1100" dirty="0" err="1">
                          <a:solidFill>
                            <a:srgbClr val="FFFFFF"/>
                          </a:solidFill>
                          <a:effectLst/>
                        </a:rPr>
                        <a:t>asparatate</a:t>
                      </a:r>
                      <a:r>
                        <a:rPr lang="en-US" sz="1100" dirty="0">
                          <a:solidFill>
                            <a:srgbClr val="FFFFFF"/>
                          </a:solidFill>
                          <a:effectLst/>
                        </a:rPr>
                        <a:t>(NMDA) receptor antagonist which binds to the NMDA receptor cation channels.( PubChem-memantine) Its roles included being a dopaminergic agent, a neuroprotective agent and an antidepressant.( PubChem-memantine) It additional blocks the effects of glutamate.( PubChem-memantine)  </a:t>
                      </a:r>
                    </a:p>
                    <a:p>
                      <a:endParaRPr lang="en-ZA"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87694457"/>
                  </a:ext>
                </a:extLst>
              </a:tr>
              <a:tr h="476204">
                <a:tc>
                  <a:txBody>
                    <a:bodyPr/>
                    <a:lstStyle/>
                    <a:p>
                      <a:r>
                        <a:rPr lang="en-ZA" sz="1100" b="1" dirty="0"/>
                        <a:t>CHEMISTRY</a:t>
                      </a:r>
                      <a:r>
                        <a:rPr lang="en-ZA" sz="1100" dirty="0"/>
                        <a:t> </a:t>
                      </a:r>
                      <a:endParaRPr lang="en-ZA" sz="1100" dirty="0">
                        <a:latin typeface="Times New Roman" panose="02020603050405020304" pitchFamily="18" charset="0"/>
                        <a:cs typeface="Times New Roman" panose="02020603050405020304" pitchFamily="18" charset="0"/>
                      </a:endParaRPr>
                    </a:p>
                  </a:txBody>
                  <a:tcPr/>
                </a:tc>
                <a:tc>
                  <a:txBody>
                    <a:bodyPr/>
                    <a:lstStyle/>
                    <a:p>
                      <a:r>
                        <a:rPr lang="en-ZA" sz="1100" kern="1200" dirty="0">
                          <a:solidFill>
                            <a:schemeClr val="tx1"/>
                          </a:solidFill>
                          <a:effectLst/>
                        </a:rPr>
                        <a:t>Primary aliphatic amine, a 3,5-dimethyl derivative of 1-aminodamantane.( PubChem-memantine)</a:t>
                      </a:r>
                    </a:p>
                    <a:p>
                      <a:r>
                        <a:rPr lang="en-ZA" sz="1100" kern="1200" dirty="0">
                          <a:solidFill>
                            <a:schemeClr val="tx1"/>
                          </a:solidFill>
                          <a:effectLst/>
                        </a:rPr>
                        <a:t>The molecular formula: C12H21N(PubChem-memantine)</a:t>
                      </a:r>
                    </a:p>
                    <a:p>
                      <a:endParaRPr lang="en-ZA"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56533185"/>
                  </a:ext>
                </a:extLst>
              </a:tr>
              <a:tr h="47620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100" b="1" dirty="0"/>
                        <a:t>PHARMACOLOGICAL CLASS</a:t>
                      </a:r>
                    </a:p>
                    <a:p>
                      <a:endParaRPr lang="en-ZA" sz="1100" b="1"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100" kern="1200" dirty="0">
                          <a:solidFill>
                            <a:schemeClr val="tx1"/>
                          </a:solidFill>
                          <a:effectLst/>
                        </a:rPr>
                        <a:t>NMDA antagonist </a:t>
                      </a:r>
                    </a:p>
                    <a:p>
                      <a:endParaRPr lang="en-ZA"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67356837"/>
                  </a:ext>
                </a:extLst>
              </a:tr>
              <a:tr h="476204">
                <a:tc>
                  <a:txBody>
                    <a:bodyPr/>
                    <a:lstStyle/>
                    <a:p>
                      <a:r>
                        <a:rPr lang="en-ZA" sz="1100" b="1" dirty="0"/>
                        <a:t>PHYSIOCHEMICAL AND BIOPHARMACEUTICAL PROPERTIES</a:t>
                      </a:r>
                      <a:endParaRPr lang="en-ZA" sz="1100" b="1" dirty="0">
                        <a:latin typeface="Times New Roman" panose="02020603050405020304" pitchFamily="18" charset="0"/>
                        <a:cs typeface="Times New Roman" panose="02020603050405020304" pitchFamily="18" charset="0"/>
                      </a:endParaRPr>
                    </a:p>
                  </a:txBody>
                  <a:tcPr/>
                </a:tc>
                <a:tc>
                  <a:txBody>
                    <a:bodyPr/>
                    <a:lstStyle/>
                    <a:p>
                      <a:r>
                        <a:rPr lang="en-ZA" sz="1100" dirty="0"/>
                        <a:t>Molecular weight- 197,30g/mol</a:t>
                      </a:r>
                    </a:p>
                    <a:p>
                      <a:r>
                        <a:rPr lang="en-ZA" sz="1100" dirty="0"/>
                        <a:t>Solubility- water</a:t>
                      </a:r>
                    </a:p>
                    <a:p>
                      <a:r>
                        <a:rPr lang="en-ZA" sz="1100" dirty="0"/>
                        <a:t>Melting point-  </a:t>
                      </a:r>
                      <a:r>
                        <a:rPr lang="en-ZA" sz="1100" kern="1200" dirty="0">
                          <a:solidFill>
                            <a:schemeClr val="tx1"/>
                          </a:solidFill>
                          <a:effectLst/>
                        </a:rPr>
                        <a:t>290˚-295˚  C</a:t>
                      </a:r>
                    </a:p>
                    <a:p>
                      <a:r>
                        <a:rPr lang="en-ZA" sz="1100" kern="1200" dirty="0" err="1">
                          <a:solidFill>
                            <a:schemeClr val="tx1"/>
                          </a:solidFill>
                          <a:effectLst/>
                        </a:rPr>
                        <a:t>LogP</a:t>
                      </a:r>
                      <a:r>
                        <a:rPr lang="en-ZA" sz="1100" kern="1200" dirty="0">
                          <a:solidFill>
                            <a:schemeClr val="tx1"/>
                          </a:solidFill>
                          <a:effectLst/>
                        </a:rPr>
                        <a:t>- 3,28</a:t>
                      </a:r>
                    </a:p>
                    <a:p>
                      <a:r>
                        <a:rPr lang="en-ZA" sz="1100" kern="1200" dirty="0" err="1">
                          <a:solidFill>
                            <a:schemeClr val="tx1"/>
                          </a:solidFill>
                          <a:effectLst/>
                        </a:rPr>
                        <a:t>pKa</a:t>
                      </a:r>
                      <a:r>
                        <a:rPr lang="en-ZA" sz="1100" kern="1200" dirty="0">
                          <a:solidFill>
                            <a:schemeClr val="tx1"/>
                          </a:solidFill>
                          <a:effectLst/>
                        </a:rPr>
                        <a:t>- 10,27</a:t>
                      </a:r>
                      <a:endParaRPr lang="en-ZA"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6058750"/>
                  </a:ext>
                </a:extLst>
              </a:tr>
              <a:tr h="476204">
                <a:tc>
                  <a:txBody>
                    <a:bodyPr/>
                    <a:lstStyle/>
                    <a:p>
                      <a:r>
                        <a:rPr lang="en-ZA" sz="1100" b="1" dirty="0"/>
                        <a:t>STABILITY AND DEGRADATION REACTIONS </a:t>
                      </a:r>
                      <a:endParaRPr lang="en-ZA" sz="1100" b="1" dirty="0">
                        <a:latin typeface="Times New Roman" panose="02020603050405020304" pitchFamily="18" charset="0"/>
                        <a:cs typeface="Times New Roman" panose="02020603050405020304" pitchFamily="18" charset="0"/>
                      </a:endParaRPr>
                    </a:p>
                  </a:txBody>
                  <a:tcPr/>
                </a:tc>
                <a:tc>
                  <a:txBody>
                    <a:bodyPr/>
                    <a:lstStyle/>
                    <a:p>
                      <a:r>
                        <a:rPr lang="en-ZA" sz="1100" kern="1200" dirty="0">
                          <a:solidFill>
                            <a:schemeClr val="tx1"/>
                          </a:solidFill>
                          <a:effectLst/>
                        </a:rPr>
                        <a:t>Storage Conditions: Airtight packaging, in dry ventilated area,( PubChem-memantine) at room temperature of 20˚ to 25˚ C.( Kuns, B., et al 2024)</a:t>
                      </a:r>
                    </a:p>
                    <a:p>
                      <a:r>
                        <a:rPr lang="en-ZA" sz="1100" kern="1200" dirty="0">
                          <a:solidFill>
                            <a:schemeClr val="tx1"/>
                          </a:solidFill>
                          <a:effectLst/>
                        </a:rPr>
                        <a:t> </a:t>
                      </a:r>
                    </a:p>
                    <a:p>
                      <a:r>
                        <a:rPr lang="en-ZA" sz="1100" kern="1200" dirty="0">
                          <a:solidFill>
                            <a:schemeClr val="tx1"/>
                          </a:solidFill>
                          <a:effectLst/>
                        </a:rPr>
                        <a:t>Incompatible materials: Strong oxidizing agents </a:t>
                      </a:r>
                    </a:p>
                    <a:p>
                      <a:r>
                        <a:rPr lang="en-ZA" sz="1100" kern="1200" dirty="0">
                          <a:solidFill>
                            <a:schemeClr val="tx1"/>
                          </a:solidFill>
                          <a:effectLst/>
                        </a:rPr>
                        <a:t> </a:t>
                      </a:r>
                    </a:p>
                    <a:p>
                      <a:r>
                        <a:rPr lang="en-ZA" sz="1100" kern="1200" dirty="0">
                          <a:solidFill>
                            <a:schemeClr val="tx1"/>
                          </a:solidFill>
                          <a:effectLst/>
                        </a:rPr>
                        <a:t>Memantine is degraded by the use of photo-based advanced oxidation processes.( </a:t>
                      </a:r>
                      <a:r>
                        <a:rPr lang="en-ZA" sz="1100" kern="1200" dirty="0" err="1">
                          <a:solidFill>
                            <a:schemeClr val="tx1"/>
                          </a:solidFill>
                          <a:effectLst/>
                        </a:rPr>
                        <a:t>Papac</a:t>
                      </a:r>
                      <a:r>
                        <a:rPr lang="en-ZA" sz="1100" kern="1200" dirty="0">
                          <a:solidFill>
                            <a:schemeClr val="tx1"/>
                          </a:solidFill>
                          <a:effectLst/>
                        </a:rPr>
                        <a:t>, J., et al 2023) Memantine is a </a:t>
                      </a:r>
                      <a:r>
                        <a:rPr lang="en-ZA" sz="1100" kern="1200" dirty="0" err="1">
                          <a:solidFill>
                            <a:schemeClr val="tx1"/>
                          </a:solidFill>
                          <a:effectLst/>
                        </a:rPr>
                        <a:t>bioaccumalative</a:t>
                      </a:r>
                      <a:r>
                        <a:rPr lang="en-ZA" sz="1100" kern="1200" dirty="0">
                          <a:solidFill>
                            <a:schemeClr val="tx1"/>
                          </a:solidFill>
                          <a:effectLst/>
                        </a:rPr>
                        <a:t> drug which can cause harm to the environment.( </a:t>
                      </a:r>
                      <a:r>
                        <a:rPr lang="en-ZA" sz="1100" kern="1200" dirty="0" err="1">
                          <a:solidFill>
                            <a:schemeClr val="tx1"/>
                          </a:solidFill>
                          <a:effectLst/>
                        </a:rPr>
                        <a:t>Papac</a:t>
                      </a:r>
                      <a:r>
                        <a:rPr lang="en-ZA" sz="1100" kern="1200" dirty="0">
                          <a:solidFill>
                            <a:schemeClr val="tx1"/>
                          </a:solidFill>
                          <a:effectLst/>
                        </a:rPr>
                        <a:t>, J., et al 2023) The use of memantine over time will increase due to an expected increase in prevalence in the coming years.( </a:t>
                      </a:r>
                      <a:r>
                        <a:rPr lang="en-ZA" sz="1100" kern="1200" dirty="0" err="1">
                          <a:solidFill>
                            <a:schemeClr val="tx1"/>
                          </a:solidFill>
                          <a:effectLst/>
                        </a:rPr>
                        <a:t>Papac</a:t>
                      </a:r>
                      <a:r>
                        <a:rPr lang="en-ZA" sz="1100" kern="1200" dirty="0">
                          <a:solidFill>
                            <a:schemeClr val="tx1"/>
                          </a:solidFill>
                          <a:effectLst/>
                        </a:rPr>
                        <a:t>, J., et al 2023) Total degradation of memantine is observed within 3.5 minutes by UV-C/H2O2 process, with the pH of 5.1[H2O2]=15.21mM.( </a:t>
                      </a:r>
                      <a:r>
                        <a:rPr lang="en-ZA" sz="1100" kern="1200" dirty="0" err="1">
                          <a:solidFill>
                            <a:schemeClr val="tx1"/>
                          </a:solidFill>
                          <a:effectLst/>
                        </a:rPr>
                        <a:t>Papac</a:t>
                      </a:r>
                      <a:r>
                        <a:rPr lang="en-ZA" sz="1100" kern="1200" dirty="0">
                          <a:solidFill>
                            <a:schemeClr val="tx1"/>
                          </a:solidFill>
                          <a:effectLst/>
                        </a:rPr>
                        <a:t>, J., et al 2023) The process of degradation by UV-A/TiO2 takes much longer(90 min) however, memantine degradation is complete.( </a:t>
                      </a:r>
                      <a:r>
                        <a:rPr lang="en-ZA" sz="1100" kern="1200" dirty="0" err="1">
                          <a:solidFill>
                            <a:schemeClr val="tx1"/>
                          </a:solidFill>
                          <a:effectLst/>
                        </a:rPr>
                        <a:t>Papac</a:t>
                      </a:r>
                      <a:r>
                        <a:rPr lang="en-ZA" sz="1100" kern="1200" dirty="0">
                          <a:solidFill>
                            <a:schemeClr val="tx1"/>
                          </a:solidFill>
                          <a:effectLst/>
                        </a:rPr>
                        <a:t>, J., et al 2023)</a:t>
                      </a:r>
                    </a:p>
                    <a:p>
                      <a:endParaRPr lang="en-ZA"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54732309"/>
                  </a:ext>
                </a:extLst>
              </a:tr>
            </a:tbl>
          </a:graphicData>
        </a:graphic>
      </p:graphicFrame>
    </p:spTree>
    <p:extLst>
      <p:ext uri="{BB962C8B-B14F-4D97-AF65-F5344CB8AC3E}">
        <p14:creationId xmlns:p14="http://schemas.microsoft.com/office/powerpoint/2010/main" val="3868314575"/>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E71F0E74-F81D-9B2A-BE12-22847ED1F4DC}"/>
              </a:ext>
            </a:extLst>
          </p:cNvPr>
          <p:cNvPicPr>
            <a:picLocks noChangeAspect="1"/>
          </p:cNvPicPr>
          <p:nvPr/>
        </p:nvPicPr>
        <p:blipFill>
          <a:blip r:embed="rId2">
            <a:alphaModFix amt="35000"/>
          </a:blip>
          <a:srcRect/>
          <a:stretch/>
        </p:blipFill>
        <p:spPr>
          <a:xfrm>
            <a:off x="22653" y="10"/>
            <a:ext cx="12191980" cy="6857990"/>
          </a:xfrm>
          <a:prstGeom prst="rect">
            <a:avLst/>
          </a:prstGeom>
        </p:spPr>
      </p:pic>
      <p:sp>
        <p:nvSpPr>
          <p:cNvPr id="3" name="TextBox 2">
            <a:extLst>
              <a:ext uri="{FF2B5EF4-FFF2-40B4-BE49-F238E27FC236}">
                <a16:creationId xmlns:a16="http://schemas.microsoft.com/office/drawing/2014/main" id="{0802EBF8-519F-929F-74E0-8D7FFB00903C}"/>
              </a:ext>
            </a:extLst>
          </p:cNvPr>
          <p:cNvSpPr txBox="1"/>
          <p:nvPr/>
        </p:nvSpPr>
        <p:spPr>
          <a:xfrm>
            <a:off x="613117" y="-221578"/>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b="1" dirty="0">
                <a:solidFill>
                  <a:srgbClr val="FFFFFF"/>
                </a:solidFill>
                <a:latin typeface="Times New Roman" panose="02020603050405020304" pitchFamily="18" charset="0"/>
                <a:ea typeface="+mj-ea"/>
                <a:cs typeface="Times New Roman" panose="02020603050405020304" pitchFamily="18" charset="0"/>
              </a:rPr>
              <a:t>MEMANTINE</a:t>
            </a:r>
          </a:p>
        </p:txBody>
      </p:sp>
      <p:sp>
        <p:nvSpPr>
          <p:cNvPr id="4" name="TextBox 3">
            <a:extLst>
              <a:ext uri="{FF2B5EF4-FFF2-40B4-BE49-F238E27FC236}">
                <a16:creationId xmlns:a16="http://schemas.microsoft.com/office/drawing/2014/main" id="{C9B1657B-4DE4-2104-6DCF-CB9E64B8043D}"/>
              </a:ext>
            </a:extLst>
          </p:cNvPr>
          <p:cNvSpPr txBox="1"/>
          <p:nvPr/>
        </p:nvSpPr>
        <p:spPr>
          <a:xfrm>
            <a:off x="613117" y="1473933"/>
            <a:ext cx="10515600" cy="4351338"/>
          </a:xfrm>
          <a:prstGeom prst="rect">
            <a:avLst/>
          </a:prstGeom>
        </p:spPr>
        <p:txBody>
          <a:bodyPr vert="horz" lIns="91440" tIns="45720" rIns="91440" bIns="45720" rtlCol="0">
            <a:normAutofit/>
          </a:bodyPr>
          <a:lstStyle/>
          <a:p>
            <a:pPr>
              <a:lnSpc>
                <a:spcPct val="90000"/>
              </a:lnSpc>
              <a:spcAft>
                <a:spcPts val="600"/>
              </a:spcAft>
            </a:pPr>
            <a:endParaRPr lang="en-US" dirty="0">
              <a:solidFill>
                <a:srgbClr val="FFFFFF"/>
              </a:solidFill>
            </a:endParaRPr>
          </a:p>
        </p:txBody>
      </p:sp>
      <p:graphicFrame>
        <p:nvGraphicFramePr>
          <p:cNvPr id="5" name="Table 5">
            <a:extLst>
              <a:ext uri="{FF2B5EF4-FFF2-40B4-BE49-F238E27FC236}">
                <a16:creationId xmlns:a16="http://schemas.microsoft.com/office/drawing/2014/main" id="{22F1417C-93D2-54C0-22D8-858C40B1BC4F}"/>
              </a:ext>
            </a:extLst>
          </p:cNvPr>
          <p:cNvGraphicFramePr>
            <a:graphicFrameLocks noGrp="1"/>
          </p:cNvGraphicFramePr>
          <p:nvPr>
            <p:extLst>
              <p:ext uri="{D42A27DB-BD31-4B8C-83A1-F6EECF244321}">
                <p14:modId xmlns:p14="http://schemas.microsoft.com/office/powerpoint/2010/main" val="4156761058"/>
              </p:ext>
            </p:extLst>
          </p:nvPr>
        </p:nvGraphicFramePr>
        <p:xfrm>
          <a:off x="205740" y="885621"/>
          <a:ext cx="11963608" cy="5044440"/>
        </p:xfrm>
        <a:graphic>
          <a:graphicData uri="http://schemas.openxmlformats.org/drawingml/2006/table">
            <a:tbl>
              <a:tblPr firstRow="1" bandRow="1">
                <a:tableStyleId>{5940675A-B579-460E-94D1-54222C63F5DA}</a:tableStyleId>
              </a:tblPr>
              <a:tblGrid>
                <a:gridCol w="5981804">
                  <a:extLst>
                    <a:ext uri="{9D8B030D-6E8A-4147-A177-3AD203B41FA5}">
                      <a16:colId xmlns:a16="http://schemas.microsoft.com/office/drawing/2014/main" val="4253320993"/>
                    </a:ext>
                  </a:extLst>
                </a:gridCol>
                <a:gridCol w="5981804">
                  <a:extLst>
                    <a:ext uri="{9D8B030D-6E8A-4147-A177-3AD203B41FA5}">
                      <a16:colId xmlns:a16="http://schemas.microsoft.com/office/drawing/2014/main" val="3896844280"/>
                    </a:ext>
                  </a:extLst>
                </a:gridCol>
              </a:tblGrid>
              <a:tr h="1088467">
                <a:tc>
                  <a:txBody>
                    <a:bodyPr/>
                    <a:lstStyle/>
                    <a:p>
                      <a:r>
                        <a:rPr lang="en-ZA" sz="1100" dirty="0">
                          <a:latin typeface="Times New Roman" panose="02020603050405020304" pitchFamily="18" charset="0"/>
                          <a:cs typeface="Times New Roman" panose="02020603050405020304" pitchFamily="18" charset="0"/>
                        </a:rPr>
                        <a:t>FORMULATION OF DOSAGE AND ROUTINE OF ADMINISTRATION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FFFFFF"/>
                          </a:solidFill>
                          <a:effectLst/>
                          <a:latin typeface="Times New Roman" panose="02020603050405020304" pitchFamily="18" charset="0"/>
                          <a:cs typeface="Times New Roman" panose="02020603050405020304" pitchFamily="18" charset="0"/>
                        </a:rPr>
                        <a:t>Route of administration: Oral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FFFFFF"/>
                          </a:solidFill>
                          <a:effectLst/>
                          <a:latin typeface="Times New Roman" panose="02020603050405020304" pitchFamily="18" charset="0"/>
                          <a:cs typeface="Times New Roman" panose="02020603050405020304" pitchFamily="18" charset="0"/>
                        </a:rPr>
                        <a:t>Solution: 5mL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FFFFFF"/>
                          </a:solidFill>
                          <a:effectLst/>
                          <a:latin typeface="Times New Roman" panose="02020603050405020304" pitchFamily="18" charset="0"/>
                          <a:cs typeface="Times New Roman" panose="02020603050405020304" pitchFamily="18" charset="0"/>
                        </a:rPr>
                        <a:t>Film coated tablets: 5mg and 10mg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FFFFFF"/>
                          </a:solidFill>
                          <a:effectLst/>
                          <a:latin typeface="Times New Roman" panose="02020603050405020304" pitchFamily="18" charset="0"/>
                          <a:cs typeface="Times New Roman" panose="02020603050405020304" pitchFamily="18" charset="0"/>
                        </a:rPr>
                        <a:t>Generic name: Namenda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dirty="0">
                        <a:solidFill>
                          <a:srgbClr val="FFFFFF"/>
                        </a:solidFill>
                        <a:effectLst/>
                        <a:latin typeface="Times New Roman" panose="02020603050405020304" pitchFamily="18" charset="0"/>
                        <a:cs typeface="Times New Roman" panose="02020603050405020304" pitchFamily="18" charset="0"/>
                      </a:endParaRPr>
                    </a:p>
                    <a:p>
                      <a:r>
                        <a:rPr lang="en-ZA" sz="1100" kern="1200" dirty="0">
                          <a:solidFill>
                            <a:schemeClr val="tx1"/>
                          </a:solidFill>
                          <a:effectLst/>
                          <a:latin typeface="Times New Roman" panose="02020603050405020304" pitchFamily="18" charset="0"/>
                          <a:ea typeface="+mn-ea"/>
                          <a:cs typeface="Times New Roman" panose="02020603050405020304" pitchFamily="18" charset="0"/>
                        </a:rPr>
                        <a:t>The initial oral tablet dosage begins at 5mg once per day, the target dosage is 20mg once per day.( Kuns, B., et al 2024) In regard to titration, the dosage is increased weekly by 5mg daily.( Kuns, B., et al 2024) Whenever a dosage is missed doubling on the dosage the next day is not advised.( Kuns, B., et al 2024)</a:t>
                      </a:r>
                    </a:p>
                    <a:p>
                      <a:r>
                        <a:rPr lang="en-ZA" sz="1100" kern="1200" dirty="0">
                          <a:solidFill>
                            <a:schemeClr val="tx1"/>
                          </a:solidFill>
                          <a:effectLst/>
                          <a:latin typeface="Times New Roman" panose="02020603050405020304" pitchFamily="18" charset="0"/>
                          <a:ea typeface="+mn-ea"/>
                          <a:cs typeface="Times New Roman" panose="02020603050405020304" pitchFamily="18" charset="0"/>
                        </a:rPr>
                        <a:t>The dosage is given orally in either capsules, tablets or a titrated solution.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ZA"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87694457"/>
                  </a:ext>
                </a:extLst>
              </a:tr>
              <a:tr h="476204">
                <a:tc>
                  <a:txBody>
                    <a:bodyPr/>
                    <a:lstStyle/>
                    <a:p>
                      <a:r>
                        <a:rPr lang="en-ZA" sz="1100" b="1" dirty="0">
                          <a:latin typeface="Times New Roman" panose="02020603050405020304" pitchFamily="18" charset="0"/>
                          <a:cs typeface="Times New Roman" panose="02020603050405020304" pitchFamily="18" charset="0"/>
                        </a:rPr>
                        <a:t>KINETICS </a:t>
                      </a:r>
                      <a:endParaRPr lang="en-ZA" sz="1100" dirty="0">
                        <a:latin typeface="Times New Roman" panose="02020603050405020304" pitchFamily="18" charset="0"/>
                        <a:cs typeface="Times New Roman" panose="02020603050405020304" pitchFamily="18" charset="0"/>
                      </a:endParaRPr>
                    </a:p>
                  </a:txBody>
                  <a:tcPr/>
                </a:tc>
                <a:tc>
                  <a:txBody>
                    <a:bodyPr/>
                    <a:lstStyle/>
                    <a:p>
                      <a:pPr lvl="0"/>
                      <a:r>
                        <a:rPr lang="en-ZA" sz="1100" kern="1200" dirty="0">
                          <a:solidFill>
                            <a:schemeClr val="tx1"/>
                          </a:solidFill>
                          <a:effectLst/>
                          <a:latin typeface="Times New Roman" panose="02020603050405020304" pitchFamily="18" charset="0"/>
                          <a:ea typeface="+mn-ea"/>
                          <a:cs typeface="Times New Roman" panose="02020603050405020304" pitchFamily="18" charset="0"/>
                        </a:rPr>
                        <a:t>ABSORPTION: Memantine’s concentration peaks roughly around 3-7 hours post oral intake.( PubChem-memantine) When administered at normal therapeutic doses it shows linear pharmacokinetics. Can be taken with or without food. (PubChem-memantine)</a:t>
                      </a:r>
                    </a:p>
                    <a:p>
                      <a:r>
                        <a:rPr lang="en-ZA" sz="1100" kern="1200" dirty="0">
                          <a:solidFill>
                            <a:schemeClr val="tx1"/>
                          </a:solidFill>
                          <a:effectLst/>
                          <a:latin typeface="Times New Roman" panose="02020603050405020304" pitchFamily="18" charset="0"/>
                          <a:ea typeface="+mn-ea"/>
                          <a:cs typeface="Times New Roman" panose="02020603050405020304" pitchFamily="18" charset="0"/>
                        </a:rPr>
                        <a:t> </a:t>
                      </a:r>
                    </a:p>
                    <a:p>
                      <a:pPr lvl="0"/>
                      <a:r>
                        <a:rPr lang="en-ZA" sz="1100" kern="1200" dirty="0">
                          <a:solidFill>
                            <a:schemeClr val="tx1"/>
                          </a:solidFill>
                          <a:effectLst/>
                          <a:latin typeface="Times New Roman" panose="02020603050405020304" pitchFamily="18" charset="0"/>
                          <a:ea typeface="+mn-ea"/>
                          <a:cs typeface="Times New Roman" panose="02020603050405020304" pitchFamily="18" charset="0"/>
                        </a:rPr>
                        <a:t>ROUTE OF ELIMINATION: Memantine is excreted via the urine, approx. 48% of the drug is excreted in the urine in its original from.( PubChem-memantine) the remaining 52% is metabolized to N-glucuronide conjugate, 6-hydroxyl memantine and 1-nitroso-deminated memantine.( PubChem-memantine) The elimination half-life is 60- 80 hours.( Kuns, B., et al 2024)</a:t>
                      </a:r>
                    </a:p>
                    <a:p>
                      <a:r>
                        <a:rPr lang="en-ZA" sz="1100" kern="1200" dirty="0">
                          <a:solidFill>
                            <a:schemeClr val="tx1"/>
                          </a:solidFill>
                          <a:effectLst/>
                          <a:latin typeface="Times New Roman" panose="02020603050405020304" pitchFamily="18" charset="0"/>
                          <a:ea typeface="+mn-ea"/>
                          <a:cs typeface="Times New Roman" panose="02020603050405020304" pitchFamily="18" charset="0"/>
                        </a:rPr>
                        <a:t> </a:t>
                      </a:r>
                    </a:p>
                    <a:p>
                      <a:pPr lvl="0"/>
                      <a:r>
                        <a:rPr lang="en-ZA" sz="1100" kern="1200" dirty="0">
                          <a:solidFill>
                            <a:schemeClr val="tx1"/>
                          </a:solidFill>
                          <a:effectLst/>
                          <a:latin typeface="Times New Roman" panose="02020603050405020304" pitchFamily="18" charset="0"/>
                          <a:ea typeface="+mn-ea"/>
                          <a:cs typeface="Times New Roman" panose="02020603050405020304" pitchFamily="18" charset="0"/>
                        </a:rPr>
                        <a:t>VOLUME OF DISTRIBUTION: 9-11L/kg.( PubChem-memantine) The binding of memantine to plasma is at 45%.( Kuns, B., et al 2024)</a:t>
                      </a:r>
                    </a:p>
                    <a:p>
                      <a:r>
                        <a:rPr lang="en-ZA" sz="1100" kern="1200" dirty="0">
                          <a:solidFill>
                            <a:schemeClr val="tx1"/>
                          </a:solidFill>
                          <a:effectLst/>
                          <a:latin typeface="Times New Roman" panose="02020603050405020304" pitchFamily="18" charset="0"/>
                          <a:ea typeface="+mn-ea"/>
                          <a:cs typeface="Times New Roman" panose="02020603050405020304" pitchFamily="18" charset="0"/>
                        </a:rPr>
                        <a:t> </a:t>
                      </a:r>
                    </a:p>
                    <a:p>
                      <a:pPr lvl="0"/>
                      <a:r>
                        <a:rPr lang="en-ZA" sz="1100" kern="1200" dirty="0">
                          <a:solidFill>
                            <a:schemeClr val="tx1"/>
                          </a:solidFill>
                          <a:effectLst/>
                          <a:latin typeface="Times New Roman" panose="02020603050405020304" pitchFamily="18" charset="0"/>
                          <a:ea typeface="+mn-ea"/>
                          <a:cs typeface="Times New Roman" panose="02020603050405020304" pitchFamily="18" charset="0"/>
                        </a:rPr>
                        <a:t>CLEARANCE: Tubular secretion in the kidneys.( PubChem-memantine)</a:t>
                      </a:r>
                    </a:p>
                    <a:p>
                      <a:r>
                        <a:rPr lang="en-ZA" sz="1100" kern="1200" dirty="0">
                          <a:solidFill>
                            <a:schemeClr val="tx1"/>
                          </a:solidFill>
                          <a:effectLst/>
                          <a:latin typeface="Times New Roman" panose="02020603050405020304" pitchFamily="18" charset="0"/>
                          <a:ea typeface="+mn-ea"/>
                          <a:cs typeface="Times New Roman" panose="02020603050405020304" pitchFamily="18" charset="0"/>
                        </a:rPr>
                        <a:t> </a:t>
                      </a:r>
                    </a:p>
                    <a:p>
                      <a:r>
                        <a:rPr lang="en-ZA" sz="1100" kern="1200" dirty="0">
                          <a:solidFill>
                            <a:schemeClr val="tx1"/>
                          </a:solidFill>
                          <a:effectLst/>
                          <a:latin typeface="Times New Roman" panose="02020603050405020304" pitchFamily="18" charset="0"/>
                          <a:ea typeface="+mn-ea"/>
                          <a:cs typeface="Times New Roman" panose="02020603050405020304" pitchFamily="18" charset="0"/>
                        </a:rPr>
                        <a:t>METABOLISM: Memantine(48%) is metabolised in the liver by the hepatic enzyme CYP450.( PubChem-memantine) The remaining to N-glucuronide conjugate, 6-hydroxyl memantine and 1-nitroso-deminated memantine that has been converted to metabolites acts as a receptor antagonist.( PubChem-memantine</a:t>
                      </a:r>
                      <a:endParaRPr lang="en-ZA"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56533185"/>
                  </a:ext>
                </a:extLst>
              </a:tr>
            </a:tbl>
          </a:graphicData>
        </a:graphic>
      </p:graphicFrame>
    </p:spTree>
    <p:extLst>
      <p:ext uri="{BB962C8B-B14F-4D97-AF65-F5344CB8AC3E}">
        <p14:creationId xmlns:p14="http://schemas.microsoft.com/office/powerpoint/2010/main" val="815296024"/>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E71F0E74-F81D-9B2A-BE12-22847ED1F4DC}"/>
              </a:ext>
            </a:extLst>
          </p:cNvPr>
          <p:cNvPicPr>
            <a:picLocks noChangeAspect="1"/>
          </p:cNvPicPr>
          <p:nvPr/>
        </p:nvPicPr>
        <p:blipFill>
          <a:blip r:embed="rId2">
            <a:alphaModFix amt="35000"/>
          </a:blip>
          <a:srcRect/>
          <a:stretch/>
        </p:blipFill>
        <p:spPr>
          <a:xfrm>
            <a:off x="22653" y="10"/>
            <a:ext cx="12191980" cy="6857990"/>
          </a:xfrm>
          <a:prstGeom prst="rect">
            <a:avLst/>
          </a:prstGeom>
        </p:spPr>
      </p:pic>
      <p:sp>
        <p:nvSpPr>
          <p:cNvPr id="3" name="TextBox 2">
            <a:extLst>
              <a:ext uri="{FF2B5EF4-FFF2-40B4-BE49-F238E27FC236}">
                <a16:creationId xmlns:a16="http://schemas.microsoft.com/office/drawing/2014/main" id="{0802EBF8-519F-929F-74E0-8D7FFB00903C}"/>
              </a:ext>
            </a:extLst>
          </p:cNvPr>
          <p:cNvSpPr txBox="1"/>
          <p:nvPr/>
        </p:nvSpPr>
        <p:spPr>
          <a:xfrm>
            <a:off x="613117" y="-221578"/>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b="1" dirty="0">
                <a:solidFill>
                  <a:srgbClr val="FFFFFF"/>
                </a:solidFill>
                <a:latin typeface="Times New Roman" panose="02020603050405020304" pitchFamily="18" charset="0"/>
                <a:ea typeface="+mj-ea"/>
                <a:cs typeface="Times New Roman" panose="02020603050405020304" pitchFamily="18" charset="0"/>
              </a:rPr>
              <a:t>MEMANTINE</a:t>
            </a:r>
          </a:p>
        </p:txBody>
      </p:sp>
      <p:sp>
        <p:nvSpPr>
          <p:cNvPr id="4" name="TextBox 3">
            <a:extLst>
              <a:ext uri="{FF2B5EF4-FFF2-40B4-BE49-F238E27FC236}">
                <a16:creationId xmlns:a16="http://schemas.microsoft.com/office/drawing/2014/main" id="{C9B1657B-4DE4-2104-6DCF-CB9E64B8043D}"/>
              </a:ext>
            </a:extLst>
          </p:cNvPr>
          <p:cNvSpPr txBox="1"/>
          <p:nvPr/>
        </p:nvSpPr>
        <p:spPr>
          <a:xfrm>
            <a:off x="613117" y="1473933"/>
            <a:ext cx="10515600" cy="4351338"/>
          </a:xfrm>
          <a:prstGeom prst="rect">
            <a:avLst/>
          </a:prstGeom>
        </p:spPr>
        <p:txBody>
          <a:bodyPr vert="horz" lIns="91440" tIns="45720" rIns="91440" bIns="45720" rtlCol="0">
            <a:normAutofit/>
          </a:bodyPr>
          <a:lstStyle/>
          <a:p>
            <a:pPr>
              <a:lnSpc>
                <a:spcPct val="90000"/>
              </a:lnSpc>
              <a:spcAft>
                <a:spcPts val="600"/>
              </a:spcAft>
            </a:pPr>
            <a:endParaRPr lang="en-US" dirty="0">
              <a:solidFill>
                <a:srgbClr val="FFFFFF"/>
              </a:solidFill>
            </a:endParaRPr>
          </a:p>
        </p:txBody>
      </p:sp>
      <p:graphicFrame>
        <p:nvGraphicFramePr>
          <p:cNvPr id="5" name="Table 5">
            <a:extLst>
              <a:ext uri="{FF2B5EF4-FFF2-40B4-BE49-F238E27FC236}">
                <a16:creationId xmlns:a16="http://schemas.microsoft.com/office/drawing/2014/main" id="{22F1417C-93D2-54C0-22D8-858C40B1BC4F}"/>
              </a:ext>
            </a:extLst>
          </p:cNvPr>
          <p:cNvGraphicFramePr>
            <a:graphicFrameLocks noGrp="1"/>
          </p:cNvGraphicFramePr>
          <p:nvPr>
            <p:extLst>
              <p:ext uri="{D42A27DB-BD31-4B8C-83A1-F6EECF244321}">
                <p14:modId xmlns:p14="http://schemas.microsoft.com/office/powerpoint/2010/main" val="134976794"/>
              </p:ext>
            </p:extLst>
          </p:nvPr>
        </p:nvGraphicFramePr>
        <p:xfrm>
          <a:off x="22653" y="792102"/>
          <a:ext cx="11963608" cy="6035040"/>
        </p:xfrm>
        <a:graphic>
          <a:graphicData uri="http://schemas.openxmlformats.org/drawingml/2006/table">
            <a:tbl>
              <a:tblPr firstRow="1" bandRow="1">
                <a:tableStyleId>{5940675A-B579-460E-94D1-54222C63F5DA}</a:tableStyleId>
              </a:tblPr>
              <a:tblGrid>
                <a:gridCol w="6263847">
                  <a:extLst>
                    <a:ext uri="{9D8B030D-6E8A-4147-A177-3AD203B41FA5}">
                      <a16:colId xmlns:a16="http://schemas.microsoft.com/office/drawing/2014/main" val="4253320993"/>
                    </a:ext>
                  </a:extLst>
                </a:gridCol>
                <a:gridCol w="5699761">
                  <a:extLst>
                    <a:ext uri="{9D8B030D-6E8A-4147-A177-3AD203B41FA5}">
                      <a16:colId xmlns:a16="http://schemas.microsoft.com/office/drawing/2014/main" val="3896844280"/>
                    </a:ext>
                  </a:extLst>
                </a:gridCol>
              </a:tblGrid>
              <a:tr h="1088467">
                <a:tc>
                  <a:txBody>
                    <a:bodyPr/>
                    <a:lstStyle/>
                    <a:p>
                      <a:r>
                        <a:rPr lang="en-ZA" sz="1200" dirty="0">
                          <a:latin typeface="Times New Roman" panose="02020603050405020304" pitchFamily="18" charset="0"/>
                          <a:cs typeface="Times New Roman" panose="02020603050405020304" pitchFamily="18" charset="0"/>
                        </a:rPr>
                        <a:t>MECHANISM OF ACTION </a:t>
                      </a:r>
                    </a:p>
                  </a:txBody>
                  <a:tcPr/>
                </a:tc>
                <a:tc>
                  <a:txBody>
                    <a:bodyPr/>
                    <a:lstStyle/>
                    <a:p>
                      <a:r>
                        <a:rPr lang="en-ZA" sz="1200" kern="1200" dirty="0">
                          <a:solidFill>
                            <a:schemeClr val="tx1"/>
                          </a:solidFill>
                          <a:effectLst/>
                          <a:latin typeface="Times New Roman" panose="02020603050405020304" pitchFamily="18" charset="0"/>
                          <a:ea typeface="+mn-ea"/>
                          <a:cs typeface="Times New Roman" panose="02020603050405020304" pitchFamily="18" charset="0"/>
                        </a:rPr>
                        <a:t>Memantine is an NMDA receptor antagonist, which prevents the functions of glutamate on the receptors in the central nervous system.( PubChem-memantine) This prevents the persistent activation of NMDA receptors, which cause the excessive release of glutamate, which induces neuronal degradation.( PubChem-memantine) Memantine also inhibits the nicotinic acetylcholine receptors. Additionally, it prevents the calcium elevation, which reduces AD symptoms and dementia.( PubChem-memantine)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ZA"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87694457"/>
                  </a:ext>
                </a:extLst>
              </a:tr>
              <a:tr h="47620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200" dirty="0">
                          <a:latin typeface="Times New Roman" panose="02020603050405020304" pitchFamily="18" charset="0"/>
                          <a:cs typeface="Times New Roman" panose="02020603050405020304" pitchFamily="18" charset="0"/>
                        </a:rPr>
                        <a:t>THERAPEUTIC USES/INDICATIONS </a:t>
                      </a:r>
                    </a:p>
                    <a:p>
                      <a:endParaRPr lang="en-ZA" sz="1200" dirty="0">
                        <a:latin typeface="Times New Roman" panose="02020603050405020304" pitchFamily="18" charset="0"/>
                        <a:cs typeface="Times New Roman" panose="02020603050405020304" pitchFamily="18" charset="0"/>
                      </a:endParaRPr>
                    </a:p>
                  </a:txBody>
                  <a:tcPr/>
                </a:tc>
                <a:tc>
                  <a:txBody>
                    <a:bodyPr/>
                    <a:lstStyle/>
                    <a:p>
                      <a:pPr lvl="0"/>
                      <a:r>
                        <a:rPr lang="en-ZA" sz="1200" kern="1200" dirty="0">
                          <a:solidFill>
                            <a:schemeClr val="tx1"/>
                          </a:solidFill>
                          <a:effectLst/>
                          <a:latin typeface="Times New Roman" panose="02020603050405020304" pitchFamily="18" charset="0"/>
                          <a:ea typeface="+mn-ea"/>
                          <a:cs typeface="Times New Roman" panose="02020603050405020304" pitchFamily="18" charset="0"/>
                        </a:rPr>
                        <a:t>Dementia</a:t>
                      </a:r>
                    </a:p>
                    <a:p>
                      <a:pPr lvl="0"/>
                      <a:r>
                        <a:rPr lang="en-ZA" sz="1200" kern="1200" dirty="0">
                          <a:solidFill>
                            <a:schemeClr val="tx1"/>
                          </a:solidFill>
                          <a:effectLst/>
                          <a:latin typeface="Times New Roman" panose="02020603050405020304" pitchFamily="18" charset="0"/>
                          <a:ea typeface="+mn-ea"/>
                          <a:cs typeface="Times New Roman" panose="02020603050405020304" pitchFamily="18" charset="0"/>
                        </a:rPr>
                        <a:t>Anti-Parkinson Agent</a:t>
                      </a:r>
                    </a:p>
                    <a:p>
                      <a:pPr lvl="0"/>
                      <a:r>
                        <a:rPr lang="en-ZA" sz="1200" kern="1200" dirty="0">
                          <a:solidFill>
                            <a:schemeClr val="tx1"/>
                          </a:solidFill>
                          <a:effectLst/>
                          <a:latin typeface="Times New Roman" panose="02020603050405020304" pitchFamily="18" charset="0"/>
                          <a:ea typeface="+mn-ea"/>
                          <a:cs typeface="Times New Roman" panose="02020603050405020304" pitchFamily="18" charset="0"/>
                        </a:rPr>
                        <a:t>Dopamine Agent</a:t>
                      </a:r>
                    </a:p>
                    <a:p>
                      <a:pPr lvl="0"/>
                      <a:r>
                        <a:rPr lang="en-ZA" sz="1200" kern="1200" dirty="0">
                          <a:solidFill>
                            <a:schemeClr val="tx1"/>
                          </a:solidFill>
                          <a:effectLst/>
                          <a:latin typeface="Times New Roman" panose="02020603050405020304" pitchFamily="18" charset="0"/>
                          <a:ea typeface="+mn-ea"/>
                          <a:cs typeface="Times New Roman" panose="02020603050405020304" pitchFamily="18" charset="0"/>
                        </a:rPr>
                        <a:t>Excitatory Amino Acid Agent</a:t>
                      </a:r>
                    </a:p>
                    <a:p>
                      <a:pPr lvl="0"/>
                      <a:r>
                        <a:rPr lang="en-ZA" sz="1200" kern="1200" dirty="0">
                          <a:solidFill>
                            <a:schemeClr val="tx1"/>
                          </a:solidFill>
                          <a:effectLst/>
                          <a:latin typeface="Times New Roman" panose="02020603050405020304" pitchFamily="18" charset="0"/>
                          <a:ea typeface="+mn-ea"/>
                          <a:cs typeface="Times New Roman" panose="02020603050405020304" pitchFamily="18" charset="0"/>
                        </a:rPr>
                        <a:t>AD</a:t>
                      </a:r>
                      <a:endParaRPr lang="en-ZA"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56533185"/>
                  </a:ext>
                </a:extLst>
              </a:tr>
              <a:tr h="476204">
                <a:tc>
                  <a:txBody>
                    <a:bodyPr/>
                    <a:lstStyle/>
                    <a:p>
                      <a:r>
                        <a:rPr lang="en-ZA" sz="1200" dirty="0">
                          <a:latin typeface="Times New Roman" panose="02020603050405020304" pitchFamily="18" charset="0"/>
                          <a:cs typeface="Times New Roman" panose="02020603050405020304" pitchFamily="18" charset="0"/>
                        </a:rPr>
                        <a:t>CONTRAINDICATIONS </a:t>
                      </a:r>
                    </a:p>
                  </a:txBody>
                  <a:tcPr/>
                </a:tc>
                <a:tc>
                  <a:txBody>
                    <a:bodyPr/>
                    <a:lstStyle/>
                    <a:p>
                      <a:r>
                        <a:rPr lang="en-ZA" sz="1200" kern="1200" dirty="0">
                          <a:solidFill>
                            <a:schemeClr val="tx1"/>
                          </a:solidFill>
                          <a:effectLst/>
                          <a:latin typeface="Times New Roman" panose="02020603050405020304" pitchFamily="18" charset="0"/>
                          <a:ea typeface="+mn-ea"/>
                          <a:cs typeface="Times New Roman" panose="02020603050405020304" pitchFamily="18" charset="0"/>
                        </a:rPr>
                        <a:t>Alcohol(PubChem-memantine)</a:t>
                      </a:r>
                    </a:p>
                    <a:p>
                      <a:r>
                        <a:rPr lang="en-ZA" sz="1200" kern="1200" dirty="0">
                          <a:solidFill>
                            <a:schemeClr val="tx1"/>
                          </a:solidFill>
                          <a:effectLst/>
                          <a:latin typeface="Times New Roman" panose="02020603050405020304" pitchFamily="18" charset="0"/>
                          <a:ea typeface="+mn-ea"/>
                          <a:cs typeface="Times New Roman" panose="02020603050405020304" pitchFamily="18" charset="0"/>
                        </a:rPr>
                        <a:t>Hepatic impairment: The half-life of memantine is elevated by 16% in pts with moderate hepatic impairment.( Kuns, B., et al 2024)</a:t>
                      </a:r>
                    </a:p>
                    <a:p>
                      <a:r>
                        <a:rPr lang="en-ZA" sz="1200" kern="1200" dirty="0">
                          <a:solidFill>
                            <a:schemeClr val="tx1"/>
                          </a:solidFill>
                          <a:effectLst/>
                          <a:latin typeface="Times New Roman" panose="02020603050405020304" pitchFamily="18" charset="0"/>
                          <a:ea typeface="+mn-ea"/>
                          <a:cs typeface="Times New Roman" panose="02020603050405020304" pitchFamily="18" charset="0"/>
                        </a:rPr>
                        <a:t>Renal impairment: The half-life of memantine is elevated by 18%, 41% and 95% in pts with mild, moderate and severe renal impairment, respectively.( Kuns, B., et al 2024) </a:t>
                      </a:r>
                    </a:p>
                    <a:p>
                      <a:pPr lvl="0"/>
                      <a:endParaRPr lang="en-ZA"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64327000"/>
                  </a:ext>
                </a:extLst>
              </a:tr>
              <a:tr h="476204">
                <a:tc>
                  <a:txBody>
                    <a:bodyPr/>
                    <a:lstStyle/>
                    <a:p>
                      <a:r>
                        <a:rPr lang="en-ZA" sz="1200" dirty="0">
                          <a:latin typeface="Times New Roman" panose="02020603050405020304" pitchFamily="18" charset="0"/>
                          <a:cs typeface="Times New Roman" panose="02020603050405020304" pitchFamily="18" charset="0"/>
                        </a:rPr>
                        <a:t>WARNINGS AND SPECIAL PRECAUTIONS </a:t>
                      </a:r>
                    </a:p>
                  </a:txBody>
                  <a:tcPr/>
                </a:tc>
                <a:tc>
                  <a:txBody>
                    <a:bodyPr/>
                    <a:lstStyle/>
                    <a:p>
                      <a:r>
                        <a:rPr lang="en-ZA" sz="1200" kern="1200" dirty="0">
                          <a:solidFill>
                            <a:schemeClr val="tx1"/>
                          </a:solidFill>
                          <a:effectLst/>
                          <a:latin typeface="Times New Roman" panose="02020603050405020304" pitchFamily="18" charset="0"/>
                          <a:ea typeface="+mn-ea"/>
                          <a:cs typeface="Times New Roman" panose="02020603050405020304" pitchFamily="18" charset="0"/>
                        </a:rPr>
                        <a:t>Genitourinary conditions</a:t>
                      </a:r>
                    </a:p>
                    <a:p>
                      <a:r>
                        <a:rPr lang="en-ZA" sz="1200" kern="1200" dirty="0">
                          <a:solidFill>
                            <a:schemeClr val="tx1"/>
                          </a:solidFill>
                          <a:effectLst/>
                          <a:latin typeface="Times New Roman" panose="02020603050405020304" pitchFamily="18" charset="0"/>
                          <a:ea typeface="+mn-ea"/>
                          <a:cs typeface="Times New Roman" panose="02020603050405020304" pitchFamily="18" charset="0"/>
                        </a:rPr>
                        <a:t>Cardiovascular disease</a:t>
                      </a:r>
                    </a:p>
                    <a:p>
                      <a:r>
                        <a:rPr lang="en-ZA" sz="1200" kern="1200" dirty="0">
                          <a:solidFill>
                            <a:schemeClr val="tx1"/>
                          </a:solidFill>
                          <a:effectLst/>
                          <a:latin typeface="Times New Roman" panose="02020603050405020304" pitchFamily="18" charset="0"/>
                          <a:ea typeface="+mn-ea"/>
                          <a:cs typeface="Times New Roman" panose="02020603050405020304" pitchFamily="18" charset="0"/>
                        </a:rPr>
                        <a:t>Hepatic impairment</a:t>
                      </a:r>
                    </a:p>
                    <a:p>
                      <a:pPr lvl="0"/>
                      <a:endParaRPr lang="en-ZA"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35866206"/>
                  </a:ext>
                </a:extLst>
              </a:tr>
              <a:tr h="476204">
                <a:tc>
                  <a:txBody>
                    <a:bodyPr/>
                    <a:lstStyle/>
                    <a:p>
                      <a:r>
                        <a:rPr lang="en-ZA" sz="1200" dirty="0">
                          <a:latin typeface="Times New Roman" panose="02020603050405020304" pitchFamily="18" charset="0"/>
                          <a:cs typeface="Times New Roman" panose="02020603050405020304" pitchFamily="18" charset="0"/>
                        </a:rPr>
                        <a:t>INTERACTIONS </a:t>
                      </a:r>
                    </a:p>
                  </a:txBody>
                  <a:tcPr/>
                </a:tc>
                <a:tc>
                  <a:txBody>
                    <a:bodyPr/>
                    <a:lstStyle/>
                    <a:p>
                      <a:r>
                        <a:rPr lang="en-ZA" sz="1200" kern="1200" dirty="0">
                          <a:solidFill>
                            <a:schemeClr val="tx1"/>
                          </a:solidFill>
                          <a:effectLst/>
                          <a:latin typeface="Times New Roman" panose="02020603050405020304" pitchFamily="18" charset="0"/>
                          <a:ea typeface="+mn-ea"/>
                          <a:cs typeface="Times New Roman" panose="02020603050405020304" pitchFamily="18" charset="0"/>
                        </a:rPr>
                        <a:t>The co-ingestion of memantine with anti-diabetic medication results in agitation, coma, low platelet count, elevated serum uric acid, and serum phosphatase.( PubChem-memantine)</a:t>
                      </a:r>
                    </a:p>
                    <a:p>
                      <a:r>
                        <a:rPr lang="en-ZA" sz="1200" kern="1200" dirty="0">
                          <a:solidFill>
                            <a:schemeClr val="tx1"/>
                          </a:solidFill>
                          <a:effectLst/>
                          <a:latin typeface="Times New Roman" panose="02020603050405020304" pitchFamily="18" charset="0"/>
                          <a:ea typeface="+mn-ea"/>
                          <a:cs typeface="Times New Roman" panose="02020603050405020304" pitchFamily="18" charset="0"/>
                        </a:rPr>
                        <a:t>Drugs causing alkaline urine(Kuns, B., et al 2024)</a:t>
                      </a:r>
                    </a:p>
                    <a:p>
                      <a:pPr lvl="0"/>
                      <a:endParaRPr lang="en-ZA"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72372"/>
                  </a:ext>
                </a:extLst>
              </a:tr>
              <a:tr h="476204">
                <a:tc>
                  <a:txBody>
                    <a:bodyPr/>
                    <a:lstStyle/>
                    <a:p>
                      <a:r>
                        <a:rPr lang="en-ZA" sz="1200" dirty="0">
                          <a:latin typeface="Times New Roman" panose="02020603050405020304" pitchFamily="18" charset="0"/>
                          <a:cs typeface="Times New Roman" panose="02020603050405020304" pitchFamily="18" charset="0"/>
                        </a:rPr>
                        <a:t>TOXICITY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200" kern="1200" dirty="0">
                          <a:solidFill>
                            <a:schemeClr val="tx1"/>
                          </a:solidFill>
                          <a:effectLst/>
                          <a:latin typeface="Times New Roman" panose="02020603050405020304" pitchFamily="18" charset="0"/>
                          <a:ea typeface="+mn-ea"/>
                          <a:cs typeface="Times New Roman" panose="02020603050405020304" pitchFamily="18" charset="0"/>
                        </a:rPr>
                        <a:t>Toxicity is observed when a pt ODs, therefore, it is important for physicians to understand the contraindications and interactions of memantine.( Kuns, B., et al 2024)</a:t>
                      </a:r>
                    </a:p>
                    <a:p>
                      <a:pPr lvl="0"/>
                      <a:endParaRPr lang="en-ZA"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90633387"/>
                  </a:ext>
                </a:extLst>
              </a:tr>
            </a:tbl>
          </a:graphicData>
        </a:graphic>
      </p:graphicFrame>
    </p:spTree>
    <p:extLst>
      <p:ext uri="{BB962C8B-B14F-4D97-AF65-F5344CB8AC3E}">
        <p14:creationId xmlns:p14="http://schemas.microsoft.com/office/powerpoint/2010/main" val="3953796531"/>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E71F0E74-F81D-9B2A-BE12-22847ED1F4DC}"/>
              </a:ext>
            </a:extLst>
          </p:cNvPr>
          <p:cNvPicPr>
            <a:picLocks noChangeAspect="1"/>
          </p:cNvPicPr>
          <p:nvPr/>
        </p:nvPicPr>
        <p:blipFill>
          <a:blip r:embed="rId2">
            <a:alphaModFix amt="35000"/>
          </a:blip>
          <a:srcRect/>
          <a:stretch/>
        </p:blipFill>
        <p:spPr>
          <a:xfrm>
            <a:off x="22653" y="10"/>
            <a:ext cx="12191980" cy="6857990"/>
          </a:xfrm>
          <a:prstGeom prst="rect">
            <a:avLst/>
          </a:prstGeom>
        </p:spPr>
      </p:pic>
      <p:sp>
        <p:nvSpPr>
          <p:cNvPr id="3" name="TextBox 2">
            <a:extLst>
              <a:ext uri="{FF2B5EF4-FFF2-40B4-BE49-F238E27FC236}">
                <a16:creationId xmlns:a16="http://schemas.microsoft.com/office/drawing/2014/main" id="{0802EBF8-519F-929F-74E0-8D7FFB00903C}"/>
              </a:ext>
            </a:extLst>
          </p:cNvPr>
          <p:cNvSpPr txBox="1"/>
          <p:nvPr/>
        </p:nvSpPr>
        <p:spPr>
          <a:xfrm>
            <a:off x="613117" y="-221578"/>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b="1" dirty="0">
                <a:solidFill>
                  <a:srgbClr val="FFFFFF"/>
                </a:solidFill>
                <a:latin typeface="Times New Roman" panose="02020603050405020304" pitchFamily="18" charset="0"/>
                <a:ea typeface="+mj-ea"/>
                <a:cs typeface="Times New Roman" panose="02020603050405020304" pitchFamily="18" charset="0"/>
              </a:rPr>
              <a:t>MEMANTINE</a:t>
            </a:r>
          </a:p>
        </p:txBody>
      </p:sp>
      <p:sp>
        <p:nvSpPr>
          <p:cNvPr id="4" name="TextBox 3">
            <a:extLst>
              <a:ext uri="{FF2B5EF4-FFF2-40B4-BE49-F238E27FC236}">
                <a16:creationId xmlns:a16="http://schemas.microsoft.com/office/drawing/2014/main" id="{C9B1657B-4DE4-2104-6DCF-CB9E64B8043D}"/>
              </a:ext>
            </a:extLst>
          </p:cNvPr>
          <p:cNvSpPr txBox="1"/>
          <p:nvPr/>
        </p:nvSpPr>
        <p:spPr>
          <a:xfrm>
            <a:off x="613117" y="1473933"/>
            <a:ext cx="10515600" cy="4351338"/>
          </a:xfrm>
          <a:prstGeom prst="rect">
            <a:avLst/>
          </a:prstGeom>
        </p:spPr>
        <p:txBody>
          <a:bodyPr vert="horz" lIns="91440" tIns="45720" rIns="91440" bIns="45720" rtlCol="0">
            <a:normAutofit/>
          </a:bodyPr>
          <a:lstStyle/>
          <a:p>
            <a:pPr>
              <a:lnSpc>
                <a:spcPct val="90000"/>
              </a:lnSpc>
              <a:spcAft>
                <a:spcPts val="600"/>
              </a:spcAft>
            </a:pPr>
            <a:endParaRPr lang="en-US" dirty="0">
              <a:solidFill>
                <a:srgbClr val="FFFFFF"/>
              </a:solidFill>
            </a:endParaRPr>
          </a:p>
        </p:txBody>
      </p:sp>
      <p:graphicFrame>
        <p:nvGraphicFramePr>
          <p:cNvPr id="5" name="Table 5">
            <a:extLst>
              <a:ext uri="{FF2B5EF4-FFF2-40B4-BE49-F238E27FC236}">
                <a16:creationId xmlns:a16="http://schemas.microsoft.com/office/drawing/2014/main" id="{22F1417C-93D2-54C0-22D8-858C40B1BC4F}"/>
              </a:ext>
            </a:extLst>
          </p:cNvPr>
          <p:cNvGraphicFramePr>
            <a:graphicFrameLocks noGrp="1"/>
          </p:cNvGraphicFramePr>
          <p:nvPr>
            <p:extLst>
              <p:ext uri="{D42A27DB-BD31-4B8C-83A1-F6EECF244321}">
                <p14:modId xmlns:p14="http://schemas.microsoft.com/office/powerpoint/2010/main" val="4201032402"/>
              </p:ext>
            </p:extLst>
          </p:nvPr>
        </p:nvGraphicFramePr>
        <p:xfrm>
          <a:off x="136839" y="1032729"/>
          <a:ext cx="11963608" cy="1088467"/>
        </p:xfrm>
        <a:graphic>
          <a:graphicData uri="http://schemas.openxmlformats.org/drawingml/2006/table">
            <a:tbl>
              <a:tblPr firstRow="1" bandRow="1">
                <a:tableStyleId>{5940675A-B579-460E-94D1-54222C63F5DA}</a:tableStyleId>
              </a:tblPr>
              <a:tblGrid>
                <a:gridCol w="6263847">
                  <a:extLst>
                    <a:ext uri="{9D8B030D-6E8A-4147-A177-3AD203B41FA5}">
                      <a16:colId xmlns:a16="http://schemas.microsoft.com/office/drawing/2014/main" val="4253320993"/>
                    </a:ext>
                  </a:extLst>
                </a:gridCol>
                <a:gridCol w="5699761">
                  <a:extLst>
                    <a:ext uri="{9D8B030D-6E8A-4147-A177-3AD203B41FA5}">
                      <a16:colId xmlns:a16="http://schemas.microsoft.com/office/drawing/2014/main" val="3896844280"/>
                    </a:ext>
                  </a:extLst>
                </a:gridCol>
              </a:tblGrid>
              <a:tr h="1088467">
                <a:tc>
                  <a:txBody>
                    <a:bodyPr/>
                    <a:lstStyle/>
                    <a:p>
                      <a:r>
                        <a:rPr lang="en-ZA" sz="1200" dirty="0">
                          <a:latin typeface="Times New Roman" panose="02020603050405020304" pitchFamily="18" charset="0"/>
                          <a:cs typeface="Times New Roman" panose="02020603050405020304" pitchFamily="18" charset="0"/>
                        </a:rPr>
                        <a:t>SYMPTOMS  AND TREATMENT OF OVERDOSE </a:t>
                      </a:r>
                    </a:p>
                  </a:txBody>
                  <a:tcPr/>
                </a:tc>
                <a:tc>
                  <a:txBody>
                    <a:bodyPr/>
                    <a:lstStyle/>
                    <a:p>
                      <a:r>
                        <a:rPr lang="en-ZA" sz="1200" kern="1200" dirty="0">
                          <a:solidFill>
                            <a:schemeClr val="tx1"/>
                          </a:solidFill>
                          <a:effectLst/>
                          <a:latin typeface="Times New Roman" panose="02020603050405020304" pitchFamily="18" charset="0"/>
                          <a:ea typeface="+mn-ea"/>
                          <a:cs typeface="Times New Roman" panose="02020603050405020304" pitchFamily="18" charset="0"/>
                        </a:rPr>
                        <a:t>Symptoms cause by OD include dizziness, psychosis, hallucinations, emesis, somnolence, lethargy and hypertension.( PubChem-memantine) In the case of an OD the elimination of memantine should eradicated via the urine by acidification.( PubChem-memantine)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ZA"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87694457"/>
                  </a:ext>
                </a:extLst>
              </a:tr>
            </a:tbl>
          </a:graphicData>
        </a:graphic>
      </p:graphicFrame>
      <p:pic>
        <p:nvPicPr>
          <p:cNvPr id="2" name="Picture 1" descr="A structure of a molecule&#10;&#10;Description automatically generated">
            <a:extLst>
              <a:ext uri="{FF2B5EF4-FFF2-40B4-BE49-F238E27FC236}">
                <a16:creationId xmlns:a16="http://schemas.microsoft.com/office/drawing/2014/main" id="{2A605600-EADC-365C-A146-891335E7AA81}"/>
              </a:ext>
            </a:extLst>
          </p:cNvPr>
          <p:cNvPicPr>
            <a:picLocks noChangeAspect="1"/>
          </p:cNvPicPr>
          <p:nvPr/>
        </p:nvPicPr>
        <p:blipFill>
          <a:blip r:embed="rId3"/>
          <a:stretch>
            <a:fillRect/>
          </a:stretch>
        </p:blipFill>
        <p:spPr>
          <a:xfrm>
            <a:off x="3005162" y="2602646"/>
            <a:ext cx="5731510" cy="3222625"/>
          </a:xfrm>
          <a:prstGeom prst="rect">
            <a:avLst/>
          </a:prstGeom>
        </p:spPr>
      </p:pic>
    </p:spTree>
    <p:extLst>
      <p:ext uri="{BB962C8B-B14F-4D97-AF65-F5344CB8AC3E}">
        <p14:creationId xmlns:p14="http://schemas.microsoft.com/office/powerpoint/2010/main" val="1426301246"/>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A5BBD74-5F31-E8DD-F1E3-1EFEFF1B37F9}"/>
              </a:ext>
            </a:extLst>
          </p:cNvPr>
          <p:cNvSpPr/>
          <p:nvPr/>
        </p:nvSpPr>
        <p:spPr>
          <a:xfrm>
            <a:off x="0" y="0"/>
            <a:ext cx="6096000" cy="6858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ZA"/>
          </a:p>
        </p:txBody>
      </p:sp>
      <p:sp>
        <p:nvSpPr>
          <p:cNvPr id="3" name="Rectangle 2">
            <a:extLst>
              <a:ext uri="{FF2B5EF4-FFF2-40B4-BE49-F238E27FC236}">
                <a16:creationId xmlns:a16="http://schemas.microsoft.com/office/drawing/2014/main" id="{3CC7EF70-2866-B42A-7EE9-1426FD59D5EC}"/>
              </a:ext>
            </a:extLst>
          </p:cNvPr>
          <p:cNvSpPr/>
          <p:nvPr/>
        </p:nvSpPr>
        <p:spPr>
          <a:xfrm>
            <a:off x="6096000" y="0"/>
            <a:ext cx="6096000" cy="6858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ZA"/>
          </a:p>
        </p:txBody>
      </p:sp>
      <p:sp>
        <p:nvSpPr>
          <p:cNvPr id="4" name="TextBox 3">
            <a:extLst>
              <a:ext uri="{FF2B5EF4-FFF2-40B4-BE49-F238E27FC236}">
                <a16:creationId xmlns:a16="http://schemas.microsoft.com/office/drawing/2014/main" id="{C74A2CC3-0687-779B-97E1-B62AD6C0A9D9}"/>
              </a:ext>
            </a:extLst>
          </p:cNvPr>
          <p:cNvSpPr txBox="1"/>
          <p:nvPr/>
        </p:nvSpPr>
        <p:spPr>
          <a:xfrm>
            <a:off x="6096000" y="342900"/>
            <a:ext cx="6096000" cy="6049092"/>
          </a:xfrm>
          <a:prstGeom prst="rect">
            <a:avLst/>
          </a:prstGeom>
          <a:noFill/>
        </p:spPr>
        <p:txBody>
          <a:bodyPr wrap="square" rtlCol="0">
            <a:spAutoFit/>
          </a:bodyPr>
          <a:lstStyle/>
          <a:p>
            <a:pPr>
              <a:lnSpc>
                <a:spcPct val="107000"/>
              </a:lnSpc>
              <a:spcAft>
                <a:spcPts val="800"/>
              </a:spcAft>
            </a:pPr>
            <a:r>
              <a:rPr lang="en-ZA" sz="1600" b="1" kern="100" dirty="0">
                <a:effectLst/>
                <a:latin typeface="Times New Roman" panose="02020603050405020304" pitchFamily="18" charset="0"/>
                <a:ea typeface="Calibri" panose="020F0502020204030204" pitchFamily="34" charset="0"/>
                <a:cs typeface="Times New Roman" panose="02020603050405020304" pitchFamily="18" charset="0"/>
              </a:rPr>
              <a:t>ETHICAL AND LEGAL CONSIDERATIONS </a:t>
            </a:r>
            <a:endParaRPr lang="en-ZA"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ZA" sz="1600" kern="100" dirty="0">
                <a:effectLst/>
                <a:latin typeface="Times New Roman" panose="02020603050405020304" pitchFamily="18" charset="0"/>
                <a:ea typeface="Calibri" panose="020F0502020204030204" pitchFamily="34" charset="0"/>
                <a:cs typeface="Times New Roman" panose="02020603050405020304" pitchFamily="18" charset="0"/>
              </a:rPr>
              <a:t>AD is a disorder that affects the pts ability to make decisions regarding their care.(</a:t>
            </a:r>
            <a:r>
              <a:rPr lang="en-ZA" sz="1600" kern="1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ZA" sz="1600" kern="1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Chiong</a:t>
            </a:r>
            <a:r>
              <a:rPr lang="en-ZA" sz="1600" kern="1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W., et al 2021</a:t>
            </a:r>
            <a:r>
              <a:rPr lang="en-ZA" sz="1600" kern="100" dirty="0">
                <a:effectLst/>
                <a:latin typeface="Times New Roman" panose="02020603050405020304" pitchFamily="18" charset="0"/>
                <a:ea typeface="Calibri" panose="020F0502020204030204" pitchFamily="34" charset="0"/>
                <a:cs typeface="Times New Roman" panose="02020603050405020304" pitchFamily="18" charset="0"/>
              </a:rPr>
              <a:t>) This makes it difficult for a practitioner balance medical care and respect for the pts ideals.(</a:t>
            </a:r>
            <a:r>
              <a:rPr lang="en-ZA" sz="1600" kern="1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ZA" sz="1600" kern="1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Chiong</a:t>
            </a:r>
            <a:r>
              <a:rPr lang="en-ZA" sz="1600" kern="1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W., et al 2021</a:t>
            </a:r>
            <a:r>
              <a:rPr lang="en-ZA" sz="1600" kern="100" dirty="0">
                <a:effectLst/>
                <a:latin typeface="Times New Roman" panose="02020603050405020304" pitchFamily="18" charset="0"/>
                <a:ea typeface="Calibri" panose="020F0502020204030204" pitchFamily="34" charset="0"/>
                <a:cs typeface="Times New Roman" panose="02020603050405020304" pitchFamily="18" charset="0"/>
              </a:rPr>
              <a:t>) It is important that the pts autonomy be respected, that the pt is treated just, treated to their benefit and without harm.(</a:t>
            </a:r>
            <a:r>
              <a:rPr lang="en-ZA" sz="1600" kern="1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ZA" sz="1600" kern="1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Chiong</a:t>
            </a:r>
            <a:r>
              <a:rPr lang="en-ZA" sz="1600" kern="1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W., et al 2021</a:t>
            </a:r>
            <a:r>
              <a:rPr lang="en-ZA" sz="1600" kern="100" dirty="0">
                <a:effectLst/>
                <a:latin typeface="Times New Roman" panose="02020603050405020304" pitchFamily="18" charset="0"/>
                <a:ea typeface="Calibri" panose="020F0502020204030204" pitchFamily="34" charset="0"/>
                <a:cs typeface="Times New Roman" panose="02020603050405020304" pitchFamily="18" charset="0"/>
              </a:rPr>
              <a:t>) at the point where the patient is unable to make decisions for themselves their next of kin is involved in order to carry out the pts wishes and appropriate care.(</a:t>
            </a:r>
            <a:r>
              <a:rPr lang="en-ZA" sz="1600" kern="1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ZA" sz="1600" kern="1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Chiong</a:t>
            </a:r>
            <a:r>
              <a:rPr lang="en-ZA" sz="1600" kern="1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W., et al 2021</a:t>
            </a:r>
            <a:r>
              <a:rPr lang="en-ZA" sz="1600" kern="100" dirty="0">
                <a:effectLst/>
                <a:latin typeface="Times New Roman" panose="02020603050405020304" pitchFamily="18" charset="0"/>
                <a:ea typeface="Calibri" panose="020F0502020204030204" pitchFamily="34" charset="0"/>
                <a:cs typeface="Times New Roman" panose="02020603050405020304" pitchFamily="18" charset="0"/>
              </a:rPr>
              <a:t>) Providing the pt with all the information is an imperative step throughout the diagnosis. This ensures autonomy and transparency. </a:t>
            </a:r>
          </a:p>
          <a:p>
            <a:pPr>
              <a:lnSpc>
                <a:spcPct val="107000"/>
              </a:lnSpc>
              <a:spcAft>
                <a:spcPts val="800"/>
              </a:spcAft>
            </a:pPr>
            <a:r>
              <a:rPr lang="en-ZA" sz="1600" kern="100" dirty="0">
                <a:effectLst/>
                <a:latin typeface="Times New Roman" panose="02020603050405020304" pitchFamily="18" charset="0"/>
                <a:ea typeface="Calibri" panose="020F0502020204030204" pitchFamily="34" charset="0"/>
                <a:cs typeface="Times New Roman" panose="02020603050405020304" pitchFamily="18" charset="0"/>
              </a:rPr>
              <a:t>Advance care planning is important while the pt can still make decisions.(</a:t>
            </a:r>
            <a:r>
              <a:rPr lang="en-ZA" sz="1600" kern="1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ZA" sz="1600" kern="1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Chiong</a:t>
            </a:r>
            <a:r>
              <a:rPr lang="en-ZA" sz="1600" kern="1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W., et al 2021</a:t>
            </a:r>
            <a:r>
              <a:rPr lang="en-ZA" sz="1600" kern="100" dirty="0">
                <a:effectLst/>
                <a:latin typeface="Times New Roman" panose="02020603050405020304" pitchFamily="18" charset="0"/>
                <a:ea typeface="Calibri" panose="020F0502020204030204" pitchFamily="34" charset="0"/>
                <a:cs typeface="Times New Roman" panose="02020603050405020304" pitchFamily="18" charset="0"/>
              </a:rPr>
              <a:t>) All the necessary documents are required that confer legal authority to caregivers, family and spouses. (</a:t>
            </a:r>
            <a:r>
              <a:rPr lang="en-ZA" sz="1600" kern="1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Chiong</a:t>
            </a:r>
            <a:r>
              <a:rPr lang="en-ZA" sz="1600" kern="1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W., et al 2021</a:t>
            </a:r>
            <a:r>
              <a:rPr lang="en-ZA" sz="1600" kern="100" dirty="0">
                <a:effectLst/>
                <a:latin typeface="Times New Roman" panose="02020603050405020304" pitchFamily="18" charset="0"/>
                <a:ea typeface="Calibri" panose="020F0502020204030204" pitchFamily="34" charset="0"/>
                <a:cs typeface="Times New Roman" panose="02020603050405020304" pitchFamily="18" charset="0"/>
              </a:rPr>
              <a:t>)</a:t>
            </a:r>
          </a:p>
          <a:p>
            <a:pPr>
              <a:lnSpc>
                <a:spcPct val="107000"/>
              </a:lnSpc>
              <a:spcAft>
                <a:spcPts val="800"/>
              </a:spcAft>
            </a:pPr>
            <a:r>
              <a:rPr lang="en-ZA" sz="1600" kern="100" dirty="0">
                <a:effectLst/>
                <a:latin typeface="Times New Roman" panose="02020603050405020304" pitchFamily="18" charset="0"/>
                <a:ea typeface="Calibri" panose="020F0502020204030204" pitchFamily="34" charset="0"/>
                <a:cs typeface="Times New Roman" panose="02020603050405020304" pitchFamily="18" charset="0"/>
              </a:rPr>
              <a:t>In regard to schizophrenia the fact remains, it is of utmost importance that the pts autonomy be respected, that the pt is treated just, treated to their benefit and without harm. All information should be provided as require and the pt is not to be coerced into clinical trials, especially when they are most vulnerable. </a:t>
            </a:r>
          </a:p>
          <a:p>
            <a:endParaRPr lang="en-ZA" dirty="0"/>
          </a:p>
        </p:txBody>
      </p:sp>
      <p:sp>
        <p:nvSpPr>
          <p:cNvPr id="5" name="TextBox 4">
            <a:extLst>
              <a:ext uri="{FF2B5EF4-FFF2-40B4-BE49-F238E27FC236}">
                <a16:creationId xmlns:a16="http://schemas.microsoft.com/office/drawing/2014/main" id="{2285661F-122E-F67C-F41C-141871352B4F}"/>
              </a:ext>
            </a:extLst>
          </p:cNvPr>
          <p:cNvSpPr txBox="1"/>
          <p:nvPr/>
        </p:nvSpPr>
        <p:spPr>
          <a:xfrm>
            <a:off x="205740" y="342900"/>
            <a:ext cx="6096000" cy="6594434"/>
          </a:xfrm>
          <a:prstGeom prst="rect">
            <a:avLst/>
          </a:prstGeom>
          <a:noFill/>
        </p:spPr>
        <p:txBody>
          <a:bodyPr wrap="square" rtlCol="0">
            <a:spAutoFit/>
          </a:bodyPr>
          <a:lstStyle/>
          <a:p>
            <a:pPr>
              <a:lnSpc>
                <a:spcPct val="107000"/>
              </a:lnSpc>
              <a:spcAft>
                <a:spcPts val="800"/>
              </a:spcAft>
            </a:pPr>
            <a:r>
              <a:rPr lang="en-ZA" sz="1400" b="1"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 ROLE OF THE CLINICAL TECHNOLOGIST- NEUROPHYSIOLOGIST</a:t>
            </a:r>
            <a:endParaRPr lang="en-ZA" sz="14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ZA" sz="14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Neurophysiologists are often involved in the diagnostic process; however, the scope of practice does not expand beyond biomedical measures. </a:t>
            </a:r>
          </a:p>
          <a:p>
            <a:pPr>
              <a:lnSpc>
                <a:spcPct val="107000"/>
              </a:lnSpc>
              <a:spcAft>
                <a:spcPts val="800"/>
              </a:spcAft>
            </a:pPr>
            <a:r>
              <a:rPr lang="en-ZA" sz="14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 diagnostic procedures performed by a neurophysiologist include Electroencephalography(EEG), Electromyography(EMG) and Evoked Potentials.</a:t>
            </a:r>
          </a:p>
          <a:p>
            <a:pPr>
              <a:lnSpc>
                <a:spcPct val="107000"/>
              </a:lnSpc>
              <a:spcAft>
                <a:spcPts val="800"/>
              </a:spcAft>
            </a:pPr>
            <a:r>
              <a:rPr lang="en-ZA" sz="14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An EEG is used to analyse the brain activity in pt in order to find answers to neurological questions. </a:t>
            </a:r>
          </a:p>
          <a:p>
            <a:pPr>
              <a:lnSpc>
                <a:spcPct val="107000"/>
              </a:lnSpc>
              <a:spcAft>
                <a:spcPts val="800"/>
              </a:spcAft>
            </a:pPr>
            <a:r>
              <a:rPr lang="en-ZA" sz="14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 EMG is used to measure muscle activity alongside the Nerve conduction study(NCS), which is used to assess the integrity of the nerves.</a:t>
            </a:r>
          </a:p>
          <a:p>
            <a:pPr>
              <a:lnSpc>
                <a:spcPct val="107000"/>
              </a:lnSpc>
              <a:spcAft>
                <a:spcPts val="800"/>
              </a:spcAft>
            </a:pPr>
            <a:r>
              <a:rPr lang="en-ZA" sz="14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Evoked Potentials assess visual pathways, auditory pathways and the neuronal pathway to the spine. </a:t>
            </a:r>
          </a:p>
          <a:p>
            <a:pPr>
              <a:lnSpc>
                <a:spcPct val="107000"/>
              </a:lnSpc>
              <a:spcAft>
                <a:spcPts val="800"/>
              </a:spcAft>
            </a:pPr>
            <a:r>
              <a:rPr lang="en-ZA" sz="14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Having established to uses of these procedures it can be ascertained that the most relevant procedure would be the EEG. This procedures would be utilized in the proving the presents of the disorders. </a:t>
            </a:r>
          </a:p>
          <a:p>
            <a:pPr>
              <a:lnSpc>
                <a:spcPct val="107000"/>
              </a:lnSpc>
              <a:spcAft>
                <a:spcPts val="800"/>
              </a:spcAft>
            </a:pPr>
            <a:r>
              <a:rPr lang="en-ZA" sz="14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 EEG of an AD pt would show increased slowing and elevated temporal and parietal brain activity. On the other hand, an EEG of a schizophrenic pt also shows generalized slowing. It is important to understand that the EEG is not a primary diagnostic tool, however, a diagnostic tool used hand in hand with physiological and image monitoring and psychological analysis. </a:t>
            </a:r>
          </a:p>
          <a:p>
            <a:pPr>
              <a:lnSpc>
                <a:spcPct val="107000"/>
              </a:lnSpc>
              <a:spcAft>
                <a:spcPts val="800"/>
              </a:spcAft>
            </a:pPr>
            <a:r>
              <a:rPr lang="en-ZA" sz="14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 final diagnosis is compiled by the physician, and the necessary treatment plan is presented to the pt. Persistent testing may be required for the monitoring of the disorder progression.  </a:t>
            </a:r>
          </a:p>
          <a:p>
            <a:endParaRPr lang="en-ZA" dirty="0"/>
          </a:p>
        </p:txBody>
      </p:sp>
    </p:spTree>
    <p:extLst>
      <p:ext uri="{BB962C8B-B14F-4D97-AF65-F5344CB8AC3E}">
        <p14:creationId xmlns:p14="http://schemas.microsoft.com/office/powerpoint/2010/main" val="15029002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DA61AF-6AB7-4BDB-A22D-D301B6A2D853}"/>
              </a:ext>
            </a:extLst>
          </p:cNvPr>
          <p:cNvSpPr/>
          <p:nvPr/>
        </p:nvSpPr>
        <p:spPr>
          <a:xfrm>
            <a:off x="0" y="0"/>
            <a:ext cx="12192000" cy="6858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ZA"/>
          </a:p>
        </p:txBody>
      </p:sp>
      <p:sp>
        <p:nvSpPr>
          <p:cNvPr id="3" name="TextBox 2">
            <a:extLst>
              <a:ext uri="{FF2B5EF4-FFF2-40B4-BE49-F238E27FC236}">
                <a16:creationId xmlns:a16="http://schemas.microsoft.com/office/drawing/2014/main" id="{4744FA52-B975-8627-E123-363F475122D2}"/>
              </a:ext>
            </a:extLst>
          </p:cNvPr>
          <p:cNvSpPr txBox="1"/>
          <p:nvPr/>
        </p:nvSpPr>
        <p:spPr>
          <a:xfrm>
            <a:off x="754380" y="571501"/>
            <a:ext cx="10035540" cy="6084614"/>
          </a:xfrm>
          <a:prstGeom prst="rect">
            <a:avLst/>
          </a:prstGeom>
          <a:noFill/>
        </p:spPr>
        <p:txBody>
          <a:bodyPr wrap="square" rtlCol="0">
            <a:spAutoFit/>
          </a:bodyPr>
          <a:lstStyle/>
          <a:p>
            <a:r>
              <a:rPr lang="en-ZA" dirty="0">
                <a:solidFill>
                  <a:schemeClr val="bg1"/>
                </a:solidFill>
                <a:latin typeface="Times New Roman" panose="02020603050405020304" pitchFamily="18" charset="0"/>
                <a:cs typeface="Times New Roman" panose="02020603050405020304" pitchFamily="18" charset="0"/>
              </a:rPr>
              <a:t>REFERENCES </a:t>
            </a:r>
          </a:p>
          <a:p>
            <a:pPr marL="342900" lvl="0" indent="-342900">
              <a:lnSpc>
                <a:spcPct val="107000"/>
              </a:lnSpc>
              <a:buClr>
                <a:srgbClr val="222222"/>
              </a:buClr>
              <a:buSzPts val="1000"/>
              <a:buFont typeface="Arial" panose="020B0604020202020204" pitchFamily="34" charset="0"/>
              <a:buAutoNum type="arabicPeriod"/>
            </a:pP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Kochunov</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P., </a:t>
            </a: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Zavaliangos-Petropulu</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 </a:t>
            </a: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Jahanshad</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N., Thompson, P.M., Ryan, M.C., </a:t>
            </a: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Chiappelli</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J., Chen, S., Du, X., Hatch, K., Adhikari, B. and Sampath, H., 2021. A white matter connection of schizophrenia and Alzheimer’s disease. </a:t>
            </a:r>
            <a:r>
              <a:rPr lang="en-ZA" sz="1200" i="1"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Schizophrenia bulletin</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ZA" sz="1200" i="1"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47</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(1), pp.197-206.</a:t>
            </a:r>
          </a:p>
          <a:p>
            <a:pPr marL="342900" lvl="0" indent="-342900">
              <a:lnSpc>
                <a:spcPct val="107000"/>
              </a:lnSpc>
              <a:buClr>
                <a:srgbClr val="222222"/>
              </a:buClr>
              <a:buSzPts val="1000"/>
              <a:buFont typeface="Arial" panose="020B0604020202020204" pitchFamily="34" charset="0"/>
              <a:buAutoNum type="arabicPeriod"/>
            </a:pP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Frisoni</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G.B., </a:t>
            </a: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Prestia</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 </a:t>
            </a: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Geroldi</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C., Adorni, A., </a:t>
            </a: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Ghidoni</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R., </a:t>
            </a: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Amicucci</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G., Bonetti, M., </a:t>
            </a: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Soricelli</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 </a:t>
            </a: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Rasser</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P.E., Thompson, P.M. and Giannakopoulos, P., 2011. Alzheimer's CSF markers in older schizophrenia patients. </a:t>
            </a:r>
            <a:r>
              <a:rPr lang="en-ZA" sz="1200" i="1"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International journal of geriatric psychiatry</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ZA" sz="1200" i="1"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26</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(5), pp.640-648.</a:t>
            </a:r>
          </a:p>
          <a:p>
            <a:pPr marL="342900" lvl="0" indent="-342900">
              <a:lnSpc>
                <a:spcPct val="107000"/>
              </a:lnSpc>
              <a:buClr>
                <a:srgbClr val="222222"/>
              </a:buClr>
              <a:buSzPts val="1000"/>
              <a:buFont typeface="Arial" panose="020B0604020202020204" pitchFamily="34" charset="0"/>
              <a:buAutoNum type="arabicPeriod"/>
            </a:pP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White, K.E. and Cummings, J.L., 1996. Schizophrenia and Alzheimer's disease: clinical and pathophysiologic analogies. </a:t>
            </a:r>
            <a:r>
              <a:rPr lang="en-ZA" sz="1200" i="1"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Comprehensive psychiatry</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ZA" sz="1200" i="1"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37</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(White,  and Cummings, 1996), pp.188-195.</a:t>
            </a:r>
          </a:p>
          <a:p>
            <a:pPr marL="342900" lvl="0" indent="-342900">
              <a:lnSpc>
                <a:spcPct val="107000"/>
              </a:lnSpc>
              <a:buClr>
                <a:srgbClr val="222222"/>
              </a:buClr>
              <a:buSzPts val="1000"/>
              <a:buFont typeface="Arial" panose="020B0604020202020204" pitchFamily="34" charset="0"/>
              <a:buAutoNum type="arabicPeriod"/>
            </a:pP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DeMichele</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-Sweet, M.A.A., </a:t>
            </a: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Weamer</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E.A., </a:t>
            </a: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Klei</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L., </a:t>
            </a: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Vrana</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D.T., Hollingshead, D.J., </a:t>
            </a: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Seltman</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H.J., Sims, R., </a:t>
            </a: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Foroud</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T., Hernandez, I., Moreno-Grau, S. and </a:t>
            </a: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Tárraga</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L., 2018. Genetic risk for schizophrenia and psychosis in Alzheimer disease. </a:t>
            </a:r>
            <a:r>
              <a:rPr lang="en-ZA" sz="1200" i="1"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Molecular psychiatry</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ZA" sz="1200" i="1"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23</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(4), pp.963-972.</a:t>
            </a:r>
          </a:p>
          <a:p>
            <a:pPr marL="342900" lvl="0" indent="-342900">
              <a:lnSpc>
                <a:spcPct val="107000"/>
              </a:lnSpc>
              <a:buClr>
                <a:srgbClr val="222222"/>
              </a:buClr>
              <a:buSzPts val="1000"/>
              <a:buFont typeface="Arial" panose="020B0604020202020204" pitchFamily="34" charset="0"/>
              <a:buAutoNum type="arabicPeriod"/>
            </a:pP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Sheppard, O. and Coleman, M., 2020. Alzheimer’s disease: </a:t>
            </a: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etiology</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neuropathology and pathogenesis. </a:t>
            </a:r>
            <a:r>
              <a:rPr lang="en-ZA" sz="1200" i="1"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Exon Publications</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pp.1-21.</a:t>
            </a:r>
          </a:p>
          <a:p>
            <a:pPr marL="342900" lvl="0" indent="-342900">
              <a:lnSpc>
                <a:spcPct val="107000"/>
              </a:lnSpc>
              <a:buClr>
                <a:srgbClr val="222222"/>
              </a:buClr>
              <a:buSzPts val="1000"/>
              <a:buFont typeface="Arial" panose="020B0604020202020204" pitchFamily="34" charset="0"/>
              <a:buAutoNum type="arabicPeriod"/>
            </a:pP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Sochocka</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M., </a:t>
            </a: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Zwolinska</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K. and Leszek, J., 2017. The infectious </a:t>
            </a: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etiology</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of Alzheimer's disease. </a:t>
            </a:r>
            <a:r>
              <a:rPr lang="en-ZA" sz="1200" i="1"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Current neuropharmacology</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ZA" sz="1200" i="1"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15</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(7), pp.996-1009.</a:t>
            </a:r>
          </a:p>
          <a:p>
            <a:pPr marL="342900" lvl="0" indent="-342900">
              <a:lnSpc>
                <a:spcPct val="107000"/>
              </a:lnSpc>
              <a:buClr>
                <a:srgbClr val="222222"/>
              </a:buClr>
              <a:buSzPts val="1000"/>
              <a:buFont typeface="Arial" panose="020B0604020202020204" pitchFamily="34" charset="0"/>
              <a:buAutoNum type="arabicPeriod"/>
            </a:pP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Bature</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F., Guinn, B.A., Pang, D. and Pappas, Y., 2017. Signs and symptoms preceding the diagnosis of Alzheimer’s disease: a systematic scoping review of literature from 1937 to 2016. </a:t>
            </a:r>
            <a:r>
              <a:rPr lang="en-ZA" sz="1200" i="1"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BMJ open</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ZA" sz="1200" i="1"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7</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(8), p.e015746.</a:t>
            </a:r>
          </a:p>
          <a:p>
            <a:pPr marL="342900" lvl="0" indent="-342900">
              <a:lnSpc>
                <a:spcPct val="107000"/>
              </a:lnSpc>
              <a:buClr>
                <a:srgbClr val="222222"/>
              </a:buClr>
              <a:buSzPts val="1000"/>
              <a:buFont typeface="Arial" panose="020B0604020202020204" pitchFamily="34" charset="0"/>
              <a:buAutoNum type="arabicPeriod"/>
            </a:pP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Alzheimer’s Association. </a:t>
            </a:r>
            <a:r>
              <a:rPr lang="en-ZA" sz="1200" u="sng"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https://www.alz.org/alzheimers-dementia/diagnosis#:~:text=To%20diagnose%20Alzheimer's%2C%20physicians%20may,diagnostic%20tests%20and%20brain%20imaging</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Accessed: 05 April 2025</a:t>
            </a:r>
          </a:p>
          <a:p>
            <a:pPr marL="342900" lvl="0" indent="-342900">
              <a:lnSpc>
                <a:spcPct val="107000"/>
              </a:lnSpc>
              <a:buClr>
                <a:srgbClr val="222222"/>
              </a:buClr>
              <a:buSzPts val="1000"/>
              <a:buFont typeface="Arial" panose="020B0604020202020204" pitchFamily="34" charset="0"/>
              <a:buAutoNum type="arabicPeriod"/>
            </a:pP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Fatani</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B.Z., </a:t>
            </a: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Aldawod</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R., </a:t>
            </a: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Alhawaj</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 </a:t>
            </a: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Alsadah</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S., </a:t>
            </a: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Slais</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F.R., </a:t>
            </a: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Alyaseen</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E.N., </a:t>
            </a: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Ghamri</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A.S., Banjar, J. and </a:t>
            </a: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Qassaim</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Y.A., 2017. Schizophrenia: </a:t>
            </a: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etiology</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pathophysiology and management-a review. </a:t>
            </a:r>
            <a:r>
              <a:rPr lang="en-ZA" sz="1200" i="1"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 Egyptian Journal of Hospital Medicine</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ZA" sz="1200" i="1"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69</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(6), pp.2640-2646.</a:t>
            </a:r>
          </a:p>
          <a:p>
            <a:pPr marL="342900" lvl="0" indent="-342900">
              <a:lnSpc>
                <a:spcPct val="107000"/>
              </a:lnSpc>
              <a:buClr>
                <a:srgbClr val="222222"/>
              </a:buClr>
              <a:buSzPts val="1000"/>
              <a:buFont typeface="Arial" panose="020B0604020202020204" pitchFamily="34" charset="0"/>
              <a:buAutoNum type="arabicPeriod"/>
            </a:pP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Jackson, D.D. ed., 1960. </a:t>
            </a:r>
            <a:r>
              <a:rPr lang="en-ZA" sz="1200" i="1"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 </a:t>
            </a:r>
            <a:r>
              <a:rPr lang="en-ZA" sz="1200" i="1"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etiology</a:t>
            </a:r>
            <a:r>
              <a:rPr lang="en-ZA" sz="1200" i="1"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of schizophrenia</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(p. 456). New York: Basic Books.</a:t>
            </a:r>
          </a:p>
          <a:p>
            <a:pPr marL="342900" lvl="0" indent="-342900">
              <a:lnSpc>
                <a:spcPct val="107000"/>
              </a:lnSpc>
              <a:buClr>
                <a:srgbClr val="222222"/>
              </a:buClr>
              <a:buSzPts val="1000"/>
              <a:buFont typeface="Arial" panose="020B0604020202020204" pitchFamily="34" charset="0"/>
              <a:buAutoNum type="arabicPeriod"/>
            </a:pP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Rubeša</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G., </a:t>
            </a: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Gudelj</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L. and </a:t>
            </a: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Kubinska</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N., 2011. </a:t>
            </a: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Etiology</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of schizophrenia and therapeutic options. </a:t>
            </a:r>
            <a:r>
              <a:rPr lang="en-ZA" sz="1200" i="1"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Psychiatria</a:t>
            </a:r>
            <a:r>
              <a:rPr lang="en-ZA" sz="1200" i="1"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ZA" sz="1200" i="1"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Danubina</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ZA" sz="1200" i="1"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23</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(3.), pp.308-315.</a:t>
            </a:r>
          </a:p>
          <a:p>
            <a:pPr marL="342900" lvl="0" indent="-342900">
              <a:lnSpc>
                <a:spcPct val="107000"/>
              </a:lnSpc>
              <a:buClr>
                <a:srgbClr val="222222"/>
              </a:buClr>
              <a:buSzPts val="1000"/>
              <a:buFont typeface="Arial" panose="020B0604020202020204" pitchFamily="34" charset="0"/>
              <a:buAutoNum type="arabicPeriod"/>
            </a:pP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Correll</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C.U. and Schooler, N.R., 2020. Negative symptoms in schizophrenia: a review and clinical guide for recognition, assessment, and treatment. </a:t>
            </a:r>
            <a:r>
              <a:rPr lang="en-ZA" sz="1200" i="1"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Neuropsychiatric disease and treatment</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pp.519-534.</a:t>
            </a:r>
          </a:p>
          <a:p>
            <a:pPr marL="342900" lvl="0" indent="-342900">
              <a:lnSpc>
                <a:spcPct val="107000"/>
              </a:lnSpc>
              <a:buClr>
                <a:srgbClr val="222222"/>
              </a:buClr>
              <a:buSzPts val="1000"/>
              <a:buFont typeface="Arial" panose="020B0604020202020204" pitchFamily="34" charset="0"/>
              <a:buAutoNum type="arabicPeriod"/>
            </a:pP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National </a:t>
            </a: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Center</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for Biotechnology Information (2025). PubChem Compound Summary for CID 4054, Memantine. Retrieved April 6, 2025 from </a:t>
            </a:r>
            <a:r>
              <a:rPr lang="en-ZA" sz="1200" u="sng"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hlinkClick r:id="rId3">
                  <a:extLst>
                    <a:ext uri="{A12FA001-AC4F-418D-AE19-62706E023703}">
                      <ahyp:hlinkClr xmlns:ahyp="http://schemas.microsoft.com/office/drawing/2018/hyperlinkcolor" val="tx"/>
                    </a:ext>
                  </a:extLst>
                </a:hlinkClick>
              </a:rPr>
              <a:t>https://pubchem.ncbi.nlm.nih.gov/compound/Memantine</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p>
          <a:p>
            <a:pPr marL="342900" lvl="0" indent="-342900">
              <a:lnSpc>
                <a:spcPct val="107000"/>
              </a:lnSpc>
              <a:buClr>
                <a:srgbClr val="222222"/>
              </a:buClr>
              <a:buSzPts val="1000"/>
              <a:buFont typeface="Arial" panose="020B0604020202020204" pitchFamily="34" charset="0"/>
              <a:buAutoNum type="arabicPeriod"/>
            </a:pP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Papac</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J., Ballesteros, S.G., </a:t>
            </a: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Tonkovic</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S., </a:t>
            </a: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Kovacic</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M., </a:t>
            </a: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Tomic</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 </a:t>
            </a: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Cvetnić</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M., </a:t>
            </a: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Kusic</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H., </a:t>
            </a: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Senta</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I., </a:t>
            </a: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Terzić</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S., </a:t>
            </a: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Ahel</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M. and Wang, Z., 2023. Degradation of pharmaceutical memantine by photo-based advanced oxidation processes: Kinetics, pathways and environmental aspects. </a:t>
            </a:r>
            <a:r>
              <a:rPr lang="en-ZA" sz="1200" i="1"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Journal of environmental chemical engineering</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ZA" sz="1200" i="1"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11</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 p.109334.</a:t>
            </a:r>
          </a:p>
          <a:p>
            <a:pPr marL="342900" lvl="0" indent="-342900">
              <a:lnSpc>
                <a:spcPct val="107000"/>
              </a:lnSpc>
              <a:spcAft>
                <a:spcPts val="800"/>
              </a:spcAft>
              <a:buClr>
                <a:srgbClr val="222222"/>
              </a:buClr>
              <a:buSzPts val="1000"/>
              <a:buFont typeface="Arial" panose="020B0604020202020204" pitchFamily="34" charset="0"/>
              <a:buAutoNum type="arabicPeriod"/>
            </a:pP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Kuns, B., </a:t>
            </a: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Rosani</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 Patel, P. and Varghese, D., 2024. Memantine. In </a:t>
            </a:r>
            <a:r>
              <a:rPr lang="en-ZA" sz="1200" i="1"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StatPearls</a:t>
            </a:r>
            <a:r>
              <a:rPr lang="en-ZA" sz="1200" i="1"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[Internet]</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ZA" sz="12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StatPearls</a:t>
            </a:r>
            <a:r>
              <a:rPr lang="en-ZA" sz="12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Publishing.</a:t>
            </a:r>
          </a:p>
          <a:p>
            <a:endParaRPr lang="en-ZA"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93513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275</TotalTime>
  <Words>3110</Words>
  <Application>Microsoft Office PowerPoint</Application>
  <PresentationFormat>Widescreen</PresentationFormat>
  <Paragraphs>284</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 Ledwaba</dc:creator>
  <cp:lastModifiedBy>N Ledwaba</cp:lastModifiedBy>
  <cp:revision>4</cp:revision>
  <dcterms:created xsi:type="dcterms:W3CDTF">2025-04-15T01:14:13Z</dcterms:created>
  <dcterms:modified xsi:type="dcterms:W3CDTF">2025-04-16T01:24:07Z</dcterms:modified>
</cp:coreProperties>
</file>